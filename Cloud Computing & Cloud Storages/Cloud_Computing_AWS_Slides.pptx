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4" r:id="rId25"/>
    <p:sldId id="273" r:id="rId24"/>
    <p:sldId id="272" r:id="rId23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6.xml"/><Relationship Id="rId24" Type="http://schemas.openxmlformats.org/officeDocument/2006/relationships/slide" Target="slides/slide15.xml"/><Relationship Id="rId25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 (US$)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0–50 TB</c:v>
                </c:pt>
                <c:pt idx="1">
                  <c:v>50–500 TB</c:v>
                </c:pt>
                <c:pt idx="2">
                  <c:v>&gt;500 TB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1150</c:v>
                </c:pt>
                <c:pt idx="1">
                  <c:v>9900</c:v>
                </c:pt>
                <c:pt idx="2">
                  <c:v>63000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4E4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US$/mês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S3 Standard</c:v>
                </c:pt>
                <c:pt idx="1">
                  <c:v>Standard-IA</c:v>
                </c:pt>
                <c:pt idx="2">
                  <c:v>Glacier Flexible</c:v>
                </c:pt>
                <c:pt idx="3">
                  <c:v>Glacier Deep Archive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74050</c:v>
                </c:pt>
                <c:pt idx="1">
                  <c:v>43750</c:v>
                </c:pt>
                <c:pt idx="2">
                  <c:v>12600</c:v>
                </c:pt>
                <c:pt idx="3">
                  <c:v>3465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4E4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548640"/>
            <a:ext cx="2377440" cy="2377440"/>
          </a:xfrm>
          <a:prstGeom prst="ellipse">
            <a:avLst/>
          </a:prstGeom>
          <a:solidFill>
            <a:srgbClr val="2A3A7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81360" y="1280160"/>
            <a:ext cx="1463040" cy="1463040"/>
          </a:xfrm>
          <a:prstGeom prst="ellipse">
            <a:avLst/>
          </a:prstGeom>
          <a:solidFill>
            <a:srgbClr val="2A3A7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778240" y="1005840"/>
            <a:ext cx="1188720" cy="1188720"/>
          </a:xfrm>
          <a:prstGeom prst="ellipse">
            <a:avLst/>
          </a:prstGeom>
          <a:solidFill>
            <a:srgbClr val="2A3A73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— UFRJ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Computing &amp;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Storages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1148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Caso: Amazon Web Services (AWS)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[Grupo 3 / Grupo 7 — substituir]  ·  [Nomes dos integrantes e DRE]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27048"/>
            <a:ext cx="9875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e Cloud Storage: conceitos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176272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008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148840"/>
            <a:ext cx="9875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serviço (IaaS, PaaS, SaaS, DBaaS, DWaaS)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008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770632"/>
            <a:ext cx="9875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nuvem (pública, privada, híbrida)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341985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40080" y="3419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392424"/>
            <a:ext cx="9875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fundamentais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041648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008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014216"/>
            <a:ext cx="9875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caso: AWS (computação, armazenamento, banco de dados)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466344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4008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636008"/>
            <a:ext cx="9875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custo: base de 3,5 Petabytes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40080" y="5285232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4008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5257800"/>
            <a:ext cx="9875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 e Post-Mortem (uso de IA)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Cloud Computing?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417320"/>
            <a:ext cx="5669280" cy="4754880"/>
          </a:xfrm>
          <a:prstGeom prst="rect">
            <a:avLst/>
          </a:prstGeom>
          <a:solidFill>
            <a:srgbClr val="EAF3F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16002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(NIST)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que permite acesso de rede sob demanda a um conjunto compartilhado de recursos computacionais configuráveis (redes, servidores, armazenamento, aplicações), provisionados rapidamente e com esforço mínimo de gerenciamento.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611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02336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 de serviços de objeto (S3), bloco (EBS), arquivo (EFS), archive e bancos gerenciados. Pode usar Internet ou conectividade privada; semântica e SLA variam.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1463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características essenciais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92240" y="196596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92240" y="196596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Autoatendimento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 demanda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189720" y="196596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189720" y="196596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Amplo acesso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rede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92240" y="30175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492240" y="301752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de recursos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compartilhado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189720" y="30175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9189720" y="301752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Elasticidade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rápida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92240" y="406908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492240" y="406908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mensurável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de Serviço em Nuvem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896112"/>
          </a:xfrm>
          <a:prstGeom prst="rect">
            <a:avLst/>
          </a:prstGeom>
          <a:solidFill>
            <a:srgbClr val="EAF3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417320"/>
            <a:ext cx="109728" cy="896112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22960" y="1417320"/>
            <a:ext cx="1188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1417320"/>
            <a:ext cx="28346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a Service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417320"/>
            <a:ext cx="46634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Máquinas virtuais, rede e disco. Cliente cuida de SO e aplicação.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784080" y="1417320"/>
            <a:ext cx="17373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EC2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386584"/>
            <a:ext cx="11064240" cy="8961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386584"/>
            <a:ext cx="109728" cy="896112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22960" y="2386584"/>
            <a:ext cx="1188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PaaS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386584"/>
            <a:ext cx="28346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as a Service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2386584"/>
            <a:ext cx="46634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pronta para rodar aplicações (runtime, bibliotecas).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784080" y="2386584"/>
            <a:ext cx="17373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Elastic Beanstalk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355848"/>
            <a:ext cx="11064240" cy="896112"/>
          </a:xfrm>
          <a:prstGeom prst="rect">
            <a:avLst/>
          </a:prstGeom>
          <a:solidFill>
            <a:srgbClr val="EAF3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3355848"/>
            <a:ext cx="109728" cy="896112"/>
          </a:xfrm>
          <a:prstGeom prst="rect">
            <a:avLst/>
          </a:prstGeom>
          <a:solidFill>
            <a:srgbClr val="3E7CB1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822960" y="3355848"/>
            <a:ext cx="1188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E7C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SaaS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2103120" y="3355848"/>
            <a:ext cx="28346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as a Service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3355848"/>
            <a:ext cx="46634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pronto para uso final, via navegador/app.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0" y="3355848"/>
            <a:ext cx="17373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QuickSight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325112"/>
            <a:ext cx="11064240" cy="8961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548640" y="4325112"/>
            <a:ext cx="109728" cy="896112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822960" y="4325112"/>
            <a:ext cx="1188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DBaaS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4325112"/>
            <a:ext cx="28346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as a Service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4325112"/>
            <a:ext cx="46634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gerenciado: backup, patch, failover automáticos.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784080" y="4325112"/>
            <a:ext cx="17373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RDS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5294376"/>
            <a:ext cx="11064240" cy="896112"/>
          </a:xfrm>
          <a:prstGeom prst="rect">
            <a:avLst/>
          </a:prstGeom>
          <a:solidFill>
            <a:srgbClr val="EAF3FA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48640" y="5294376"/>
            <a:ext cx="109728" cy="896112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822960" y="5294376"/>
            <a:ext cx="1188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DWaaS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2103120" y="5294376"/>
            <a:ext cx="28346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 as a Service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029200" y="5294376"/>
            <a:ext cx="46634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colunar + processamento MPP para OLAP.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784080" y="5294376"/>
            <a:ext cx="17373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Redshift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Tipos de Nuvem: Implantação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EAF3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5448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Pública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31546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Infraestrutura operada por provedor/multi-tenant; acesso pode ser privado por VPN, Direct Connect ou endpoint.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160520"/>
            <a:ext cx="31546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Baixo custo inicial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Elasticidade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Menor controle direto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EAF3FA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389120" y="155448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389120" y="155448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Privada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514600"/>
            <a:ext cx="31546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Infraestrutura dedicada a uma única organização, on-premises ou hospedada.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4160520"/>
            <a:ext cx="31546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Maior controle/isolamento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Custo de capital mais alto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Menor elasticidade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EAF3FA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229600" y="155448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Híbrida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58200" y="2514600"/>
            <a:ext cx="31546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 de nuvem pública e privada, com orquestração entre ambientes.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4160520"/>
            <a:ext cx="31546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Flexibilidade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Dados sensíveis on-prem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Picos na nuvem pública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Características Fundamentais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508760"/>
            <a:ext cx="26791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09928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49808" y="1709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Acessibilidade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65176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via API, console e SDK de qualquer lugar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10712" y="1508760"/>
            <a:ext cx="26791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611880" y="1709928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3611880" y="1709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265176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 por SLA (ex.: 99,99% ≈ 52 min/ano indisponível)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2784" y="1508760"/>
            <a:ext cx="26791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73952" y="1709928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473952" y="1709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473952" y="265176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de resposta; varia por classe de storage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34856" y="1508760"/>
            <a:ext cx="26791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9336024" y="1709928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9336024" y="1709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36024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Escalabilidade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9336024" y="265176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Escalabilidade = crescer vertical/horizontal; elasticidade = ajustar rapidamente para cima e para baixo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886200"/>
            <a:ext cx="26791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49808" y="4087368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49808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4663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502920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Redundância multi-zona; S3 Standard: 11 noves de durabilidade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410712" y="3886200"/>
            <a:ext cx="26791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611880" y="4087368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3611880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3611880" y="4663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3611880" y="502920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Criptografia, IAM, VPC — responsabilidade compartilhada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72784" y="3886200"/>
            <a:ext cx="26791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473952" y="4087368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647395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473952" y="4663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</a:t>
            </a:r>
            <a:endParaRPr lang="en-US" sz="1450" dirty="0"/>
          </a:p>
        </p:txBody>
      </p:sp>
      <p:sp>
        <p:nvSpPr>
          <p:cNvPr id="38" name="Text 36"/>
          <p:cNvSpPr txBox="1"/>
          <p:nvPr/>
        </p:nvSpPr>
        <p:spPr>
          <a:xfrm>
            <a:off x="6473952" y="502920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Pay-as-you-go, cobrança granular multi-dimensional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834640"/>
            <a:ext cx="12188952" cy="118872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21488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Caso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803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Web Services (AWS)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976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Computação · Armazenamento · Banco de Dados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Computação — Amazon EC2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EAF3F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Compute Cloud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9456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 de IaaS que fornece máquinas virtuais (instâncias) sob demanda. O usuário escolhe tipo de instância, sistema operacional e armazenamento associado, podendo escalar horizontalmente com Auto Scaling e balancear carga com Elastic Load Balancing.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77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contratação: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343400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On-Demand — pagamento por hora/segundo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690872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Reserved Instances — benefício de faturamento; reserva de capacidade só em modalidade zonal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038344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Spot Instances — até 90% de desconto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385816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Savings Plans — compromisso flexível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1554480"/>
            <a:ext cx="5440680" cy="4480560"/>
          </a:xfrm>
          <a:prstGeom prst="roundRect">
            <a:avLst>
              <a:gd name="adj" fmla="val 1633"/>
            </a:avLst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446520" y="1828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importa para Banco de Dados?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331720"/>
            <a:ext cx="49377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EC2 é a base sobre a qual bancos de dados auto-gerenciados (não DBaaS) são instalados, quando se precisa de controle total sobre o SGBD, versão específica ou configurações avançadas que o RDS não oferece.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46520" y="3749040"/>
            <a:ext cx="4937760" cy="0"/>
          </a:xfrm>
          <a:prstGeom prst="line">
            <a:avLst/>
          </a:prstGeom>
          <a:noFill/>
          <a:ln w="12700">
            <a:solidFill>
              <a:srgbClr val="3A4A8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446520" y="397764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EBS fornece o disco persistente (bloco) para essas instâncias armazenarem dados de forma durável e de baixa latência.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Armazenamento — S3, EBS, EFS e Glacier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55448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54480"/>
            <a:ext cx="361188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77240" y="18288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S3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de objetos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88920"/>
            <a:ext cx="32004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Durabilidade de 11 noves. Organizado em buckets. Múltiplas classes (Standard → Glacier) equilibrando custo e latência.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55448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389120" y="1554480"/>
            <a:ext cx="3611880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617720" y="18288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EBS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286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em blocos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788920"/>
            <a:ext cx="32004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"Disco virtual" anexado a instâncias EC2. Baixa latência e alto IOPS — ideal para bancos de dados.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0" y="155448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611880" cy="109728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458200" y="18288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 Glacier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458200" y="2286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Arquivamento de baixo custo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2788920"/>
            <a:ext cx="32004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do S3 para dados frios (backup, compliance). Recuperação de minutos a até 48 horas.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 de Dados — RDS, Aurora, DynamoDB, Redshift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024128"/>
          </a:xfrm>
          <a:prstGeom prst="rect">
            <a:avLst/>
          </a:prstGeom>
          <a:solidFill>
            <a:srgbClr val="EAF3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" y="1792224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179222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6459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RDS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164592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DBaaS relacional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64592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MySQL, PostgreSQL, Oracle, SQL Server — backup gerenciado; failover se Multi-AZ/configurado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670048"/>
            <a:ext cx="11064240" cy="1024128"/>
          </a:xfrm>
          <a:prstGeom prst="rect">
            <a:avLst/>
          </a:prstGeom>
          <a:solidFill>
            <a:srgbClr val="EAF3FA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31520" y="2907792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31520" y="29077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2761488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Aurora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2761488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Relacional de alto desempenho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76148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Compatível com MySQL/PostgreSQL; storage distribuído próprio da AWS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785616"/>
            <a:ext cx="11064240" cy="1024128"/>
          </a:xfrm>
          <a:prstGeom prst="rect">
            <a:avLst/>
          </a:prstGeom>
          <a:solidFill>
            <a:srgbClr val="EAF3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31520" y="4023360"/>
            <a:ext cx="548640" cy="54864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31520" y="4023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3877056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DynamoDB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387705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chave-valor/documento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3877056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Escalabilidade horizontal automática; latência de milissegundos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901184"/>
            <a:ext cx="11064240" cy="1024128"/>
          </a:xfrm>
          <a:prstGeom prst="rect">
            <a:avLst/>
          </a:prstGeom>
          <a:solidFill>
            <a:srgbClr val="EAF3FA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31520" y="5138928"/>
            <a:ext cx="548640" cy="548640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31520" y="51389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508760" y="4992624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Redshift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3657600" y="4992624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DWaaS (data warehouse)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4992624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Colunar + MPP; ideal para OLAP; integra com S3 via Redshift Spectrum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 de Custo: Base de 3,5 Petabytes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4206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3,5 PB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3.500 TB = 3.500.000 GB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 decimal; PiB é outra unidade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023360"/>
            <a:ext cx="3931920" cy="0"/>
          </a:xfrm>
          <a:prstGeom prst="line">
            <a:avLst/>
          </a:prstGeom>
          <a:noFill/>
          <a:ln w="19050">
            <a:solidFill>
              <a:srgbClr val="D6E2E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Premissas do estudo: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572000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Região us-east-1 (N. Virgínia)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937760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Preços de lista consultados em 05/09/2026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303520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Sem Reserved Capacity/Savings Plans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669280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Storage apenas; requests, retrieval, egress e compute separados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16002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mensal — S3 Standard (por faixa)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212080" y="2011680"/>
          <a:ext cx="63093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por Classe de Armazenamento (S3)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mensal estimado para 3,5 PB, por classe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68580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35240" y="1828800"/>
            <a:ext cx="3977640" cy="4206240"/>
          </a:xfrm>
          <a:prstGeom prst="roundRect">
            <a:avLst>
              <a:gd name="adj" fmla="val 1839"/>
            </a:avLst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863840" y="20116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rápida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423160"/>
            <a:ext cx="35661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frias reduzem storage, mas cobram retrieval, metadados e permanência mínima.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Archive: recuperação de 12–48 h; inadequado quando o RTO é menor.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por acesso, RPO/RTO e TCO; combinar classes por lifecycle.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Vantagens x Desvantagens (3,5 PB na AWS)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526280"/>
          </a:xfrm>
          <a:prstGeom prst="roundRect">
            <a:avLst>
              <a:gd name="adj" fmla="val 1616"/>
            </a:avLst>
          </a:prstGeom>
          <a:solidFill>
            <a:srgbClr val="EAF6EF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69164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Elasticidade sem CAPEX inicial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Durabilidade de 11 noves (S3 Standard)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118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Ecossistema integrado (analytics, ML)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976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Custo granular por camada (lifecycle)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9834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Segurança e certificações nativas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72200" y="1508760"/>
            <a:ext cx="5440680" cy="4526280"/>
          </a:xfrm>
          <a:prstGeom prst="roundRect">
            <a:avLst>
              <a:gd name="adj" fmla="val 1616"/>
            </a:avLst>
          </a:prstGeom>
          <a:solidFill>
            <a:srgbClr val="FBEAEA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446520" y="169164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Desvantagens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2402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Custo mensal recorrente e elevado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260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Egress custoso → vendor lock-in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6118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Exige monitoramento contínuo (FinOps)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42976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Latência em dados arquivados (Glacier)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49834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Questões de governança/soberania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D275C"/>
                </a:solidFill>
                <a:latin typeface="Aptos"/>
              </a:defRPr>
            </a:pPr>
            <a:r>
              <a:t>Processamento pode superar o storage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28A00"/>
                </a:solidFill>
                <a:latin typeface="Aptos"/>
              </a:defRPr>
            </a:pPr>
            <a:r>
              <a:t>Athena a US$5/TB escaneado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51206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D275C"/>
                </a:solidFill>
                <a:latin typeface="Aptos"/>
              </a:defRPr>
            </a:pPr>
            <a:r>
              <a:t>1 varredura de 3.500 TB = US$17.500</a:t>
            </a:r>
            <a:br/>
            <a:r>
              <a:t>1 por mês = US$17.500/mês</a:t>
            </a:r>
            <a:br/>
            <a:r>
              <a:t>1 por dia (30) = US$525.000/mês</a:t>
            </a:r>
            <a:br/>
            <a:r>
              <a:t>10% após poda/compressão = US$1.750/execução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28A00"/>
                </a:solidFill>
                <a:latin typeface="Aptos"/>
              </a:defRPr>
            </a:pPr>
            <a:r>
              <a:t>TCO ainda inclui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737360"/>
            <a:ext cx="51206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D275C"/>
                </a:solidFill>
                <a:latin typeface="Aptos"/>
              </a:defRPr>
            </a:pPr>
            <a:r>
              <a:t>PUT/GET/LIST e transições</a:t>
            </a:r>
            <a:br/>
            <a:r>
              <a:t>Retrieval e metadados</a:t>
            </a:r>
            <a:br/>
            <a:r>
              <a:t>Permanência mínima</a:t>
            </a:r>
            <a:br/>
            <a:r>
              <a:t>KMS, catálogo e observabilidade</a:t>
            </a:r>
            <a:br/>
            <a:r>
              <a:t>Replicação, suporte e egress</a:t>
            </a:r>
            <a:br/>
            <a:r>
              <a:t>Crescimento e descontos/cotação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17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67085"/>
                </a:solidFill>
                <a:latin typeface="Aptos"/>
              </a:defRPr>
            </a:pPr>
            <a:r>
              <a:t>Premissas, fontes e fórmulas completas no relatório.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D275C"/>
                </a:solidFill>
                <a:latin typeface="Aptos"/>
              </a:defRPr>
            </a:pPr>
            <a:r>
              <a:t>Arquitetura viável para 3,5 PB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28A00"/>
                </a:solidFill>
                <a:latin typeface="Aptos"/>
              </a:defRPr>
            </a:pPr>
            <a:r>
              <a:t>Data lake como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51206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D275C"/>
                </a:solidFill>
                <a:latin typeface="Aptos"/>
              </a:defRPr>
            </a:pPr>
            <a:r>
              <a:t>S3 com Parquet/ORC e partições</a:t>
            </a:r>
            <a:br/>
            <a:r>
              <a:t>Glue Catalog</a:t>
            </a:r>
            <a:br/>
            <a:r>
              <a:t>Athena para ad hoc</a:t>
            </a:r>
            <a:br/>
            <a:r>
              <a:t>EMR para lote</a:t>
            </a:r>
            <a:br/>
            <a:r>
              <a:t>Redshift/Spectrum para recorrência</a:t>
            </a:r>
            <a:br/>
            <a:r>
              <a:t>Lifecycle por temperatura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28A00"/>
                </a:solidFill>
                <a:latin typeface="Aptos"/>
              </a:defRPr>
            </a:pPr>
            <a:r>
              <a:t>Limites e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737360"/>
            <a:ext cx="51206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D275C"/>
                </a:solidFill>
                <a:latin typeface="Aptos"/>
              </a:defRPr>
            </a:pPr>
            <a:r>
              <a:t>Não cabe em um único Aurora/EBS</a:t>
            </a:r>
            <a:br/>
            <a:r>
              <a:t>Validar quotas por versão/região</a:t>
            </a:r>
            <a:br/>
            <a:r>
              <a:t>Definir crescimento e nº de objetos</a:t>
            </a:r>
            <a:br/>
            <a:r>
              <a:t>RPO/RTO e testes de recuperação</a:t>
            </a:r>
            <a:br/>
            <a:r>
              <a:t>10 Gb/s ideal: 32,4 dias</a:t>
            </a:r>
            <a:br/>
            <a:r>
              <a:t>100 Gb/s ideal: 3,24 dias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17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67085"/>
                </a:solidFill>
                <a:latin typeface="Aptos"/>
              </a:defRPr>
            </a:pPr>
            <a:r>
              <a:t>Premissas, fontes e fórmulas completas no relatório.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D275C"/>
                </a:solidFill>
                <a:latin typeface="Aptos"/>
              </a:defRPr>
            </a:pPr>
            <a:r>
              <a:t>Objeto, bloco, arquivo, archive e banco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28A00"/>
                </a:solidFill>
                <a:latin typeface="Aptos"/>
              </a:defRPr>
            </a:pPr>
            <a:r>
              <a:t>Semântica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51206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D275C"/>
                </a:solidFill>
                <a:latin typeface="Aptos"/>
              </a:defRPr>
            </a:pPr>
            <a:r>
              <a:t>S3: objetos/chaves e API</a:t>
            </a:r>
            <a:br/>
            <a:r>
              <a:t>EBS: blocos anexados a EC2</a:t>
            </a:r>
            <a:br/>
            <a:r>
              <a:t>EFS: arquivos NFS compartilhados</a:t>
            </a:r>
            <a:br/>
            <a:r>
              <a:t>Glacier: classes frias do S3</a:t>
            </a:r>
            <a:br/>
            <a:r>
              <a:t>RDS/Aurora: engine gerenciada</a:t>
            </a:r>
            <a:br/>
            <a:r>
              <a:t>Redshift: warehouse analítico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28A00"/>
                </a:solidFill>
                <a:latin typeface="Aptos"/>
              </a:defRPr>
            </a:pPr>
            <a:r>
              <a:t>Escolha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737360"/>
            <a:ext cx="51206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D275C"/>
                </a:solidFill>
                <a:latin typeface="Aptos"/>
              </a:defRPr>
            </a:pPr>
            <a:r>
              <a:t>OLTP autogerenciado: EBS + HA</a:t>
            </a:r>
            <a:br/>
            <a:r>
              <a:t>Compartilhamento de arquivos: EFS</a:t>
            </a:r>
            <a:br/>
            <a:r>
              <a:t>Data lake/backup: S3</a:t>
            </a:r>
            <a:br/>
            <a:r>
              <a:t>Arquivo raro: Glacier</a:t>
            </a:r>
            <a:br/>
            <a:r>
              <a:t>DBaaS: RDS/Aurora</a:t>
            </a:r>
            <a:br/>
            <a:r>
              <a:t>OLAP recorrente: Redshift/Spectrum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17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67085"/>
                </a:solidFill>
                <a:latin typeface="Aptos"/>
              </a:defRPr>
            </a:pPr>
            <a:r>
              <a:t>Premissas, fontes e fórmulas completas no relatório.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1371600"/>
            <a:ext cx="1005840" cy="54864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58368" y="1883664"/>
            <a:ext cx="128016" cy="128016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60120" y="182880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nuvem materializa IaaS/PaaS/SaaS/DBaaS/DWaaS em serviços concretos (EC2, S3/EBS/Glacier, RDS/Aurora/DynamoDB/Redshift).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" y="2843784"/>
            <a:ext cx="128016" cy="128016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60120" y="278892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Elasticidade, durabilidade e integração são fortes vantagens técnicas da AWS.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3803904"/>
            <a:ext cx="128016" cy="128016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60120" y="374904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escala de Petabytes, o custo é recorrente e substancial — a arquitetura de armazenamento (camadas) é decisão de negócio, não só técnica.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58368" y="4764024"/>
            <a:ext cx="128016" cy="128016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960120" y="47091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Profissionais de Banco de Dados precisam dominar tanto os serviços quanto seu modelo de precificação.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Uso de IA Generativa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15568"/>
            <a:ext cx="1005840" cy="54864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utilizado: Claude (Anthropic)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611880" cy="3931920"/>
          </a:xfrm>
          <a:prstGeom prst="roundRect">
            <a:avLst>
              <a:gd name="adj" fmla="val 2025"/>
            </a:avLst>
          </a:prstGeom>
          <a:solidFill>
            <a:srgbClr val="EAF3F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965960"/>
            <a:ext cx="3611880" cy="914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2194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de prompts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97480"/>
            <a:ext cx="32004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cronológico dos prompts-chave usados: envio do enunciado, definição do provedor (AWS), pesquisa de preços atualizados e geração do relatório/slides.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1965960"/>
            <a:ext cx="3611880" cy="3931920"/>
          </a:xfrm>
          <a:prstGeom prst="roundRect">
            <a:avLst>
              <a:gd name="adj" fmla="val 2025"/>
            </a:avLst>
          </a:prstGeom>
          <a:solidFill>
            <a:srgbClr val="EAF3FA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389120" y="1965960"/>
            <a:ext cx="3611880" cy="914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617720" y="2194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97480"/>
            <a:ext cx="32004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documentou o que fez, quais decisões tomou e por quê — detalhado na Seção 10.2 do PDF.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0" y="1965960"/>
            <a:ext cx="3611880" cy="3931920"/>
          </a:xfrm>
          <a:prstGeom prst="roundRect">
            <a:avLst>
              <a:gd name="adj" fmla="val 2025"/>
            </a:avLst>
          </a:prstGeom>
          <a:solidFill>
            <a:srgbClr val="EAF3F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229600" y="1965960"/>
            <a:ext cx="3611880" cy="914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458200" y="2194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corrigidos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697480"/>
            <a:ext cx="32004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de S3 verificados via pesquisa web (não só memória do modelo); conversão PB→GB explicitada; valores marcados como preço de lista, a reconferir no AWS Pricing Calculator.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 Storages — AWS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" y="5120640"/>
            <a:ext cx="2011680" cy="2011680"/>
          </a:xfrm>
          <a:prstGeom prst="ellipse">
            <a:avLst/>
          </a:prstGeom>
          <a:solidFill>
            <a:srgbClr val="2A3A7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601200" y="457200"/>
            <a:ext cx="2560320" cy="2560320"/>
          </a:xfrm>
          <a:prstGeom prst="ellipse">
            <a:avLst/>
          </a:prstGeom>
          <a:solidFill>
            <a:srgbClr val="2A3A73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57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e debate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0350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[Grupo 3 / Grupo 7]  ·  Cloud Computing &amp; Cloud Storages — AWS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2026-08-28T22:46:04Z</dcterms:created>
  <dcterms:modified xsi:type="dcterms:W3CDTF">2026-08-28T22:46:04Z</dcterms:modified>
</cp:coreProperties>
</file>