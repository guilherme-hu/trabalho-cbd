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7" r:id="rId28"/>
    <p:sldId id="276" r:id="rId27"/>
    <p:sldId id="275" r:id="rId26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9.xml"/><Relationship Id="rId27" Type="http://schemas.openxmlformats.org/officeDocument/2006/relationships/slide" Target="slides/slide18.xml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— UFRJ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Físico para SBD: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 Arquiteturas RAID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(SATA, eSATA, SAS, FireWire, USB 3/4, HBA) e Níveis de RAID Padrão e Não Padrão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— substituir]  ·  [Nomes dos integrantes e DRE]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13533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DAS: conceito e interfaces de conexão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84832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206654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RAID: paralelismo e redundância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779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Striping, mirroring e paridade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457200" cy="45720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" y="3511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49300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Métricas: MTTF, MTBF, MTTR, MTTDL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931152" y="135331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padrão de RAID (0–6, 0+1, 10)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084832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30936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206654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de RAID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09360" y="2798064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309360" y="2798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31152" y="2779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Recomendações, conclusão e Post-Mortem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Direct Attached Storage (DAS)?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76072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508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que um ou mais discos — ou um arranjo RAID de discos — estão conectados diretamente a um único servidor, por uma interface local (SATA, SAS, USB, ou um HBA), sem passar por uma rede de armazenamento dedicada.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Menor latência (sem overhead de rede)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Simplicidade de implantação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Menor custo para servidores isolados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70916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Difícil compartilhar entre múltiplos servidores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Escalabilidade limitada às baias/portas do host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1280160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0" y="14173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810512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ligados direto ao host, acesso em bloco, sem rede.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0" y="2990088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0" y="31272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5204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em rede (Ethernet/IP), acesso em nível de arquivo (NFS/SMB).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0" y="4700016"/>
            <a:ext cx="50292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0" y="48371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5230368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dedicada (Fibre Channel/iSCSI) de storage em bloco, compartilhado entre hosts.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— SATA, eSATA e SAS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III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Gbps (≈600 MB/s)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serial ponto a ponto, padrão em desktops e servidores de entrada. NCQ até 32 comandos.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Gbps (idêntico ao SATA)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externa do SATA. Sem fornecimento de energia — hoje em declínio frente ao USB.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6344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66344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4231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(24G)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8346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 Gbps (≈2.400 MB/s)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329184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empresarial: dual-port, multi-iniciador via expansores, fila de até 254 comandos.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03920" y="5440680"/>
            <a:ext cx="2971800" cy="384048"/>
          </a:xfrm>
          <a:prstGeom prst="roundRect">
            <a:avLst>
              <a:gd name="adj" fmla="val 19048"/>
            </a:avLst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503920" y="5440680"/>
            <a:ext cx="2971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Relevante em HDD/backplanes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DAS — FireWire, USB e HBA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FireWire (IEEE 1394)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/ 800 Mbps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Peer-to-peer, encadeável. Interface legada, praticamente descontinuada nos equipamentos atuais.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3 e USB4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80 Gbps (USB4 v2.0)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Host-cêntrica. USB4 Versão 2.0 (2022) chega a 80 Gbps; 120 Gbps opcional e assimétrico (host/cabo/dispositivo compatíveis) via PAM3.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42316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(Host Bus Adapter)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Controladora PCIe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7472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entre o barramento do host e SAS/SATA. JBOD (passthrough) ou RAID de hardware com cache/BBU.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RAID: Paralelismo x Redundância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nível de RAID equilibra dois objetivos que competem pelos mesmos discos físicos: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415A77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 leituras e escritas entre vários discos para que trabalhem simultaneamente sobre uma mesma requisição, obtido via striping.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teórico de até N× na taxa de transferência com N discos.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9C46A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e confiabilidade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Armazenar cópias (mirroring) ou paridade para que a falha de 1 ou 2 discos não cause perda de dados nem interrupção do serviço.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redundância, o MTTF do arranjo cai ao aumentar o nº de discos (striping puro).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Striping: Bit-Level x Block-Level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Bit-level striping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em lockstep — cada acesso envolve todos os discos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92024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1752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205740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11480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26334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1920240"/>
            <a:ext cx="4526280" cy="777240"/>
          </a:xfrm>
          <a:prstGeom prst="rect">
            <a:avLst/>
          </a:prstGeom>
          <a:ln w="25400">
            <a:solidFill>
              <a:srgbClr val="E9C46A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8580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stripe = 1 operação lógica (todos os discos)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16052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 transferência sequencial; ruim para I/O pequeno e aleatório (típico de OLTP), pois não há paralelismo entre requisições independentes.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níveis RAID 2 e RAID 3.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35508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striping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independentes — atendem requisições em paralelo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2940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2940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62940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2940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62940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62940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2668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772668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2668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72668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2668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772668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72668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82396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882396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82396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882396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82396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882396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82396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921240" y="2057400"/>
            <a:ext cx="96012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9921240" y="205740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921240" y="256032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992124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921240" y="3063240"/>
            <a:ext cx="9601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921240" y="306324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921240" y="36393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416052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bloco (chunk) reside inteiramente em um disco; requisições pequenas e independentes podem ser atendidas em paralelo.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níveis RAID 0, 4, 5, 6, 0+1 e 10.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Mirroring, Shadowing e Paridade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(espelhamento)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4107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1828800"/>
            <a:ext cx="8229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23360"/>
            <a:ext cx="5303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escrita é replicada integralmente em 2 discos; leituras podem ser divididas entre as cópias. Disk shadowing pode nomear espelhamento histórico; shadow paging, snapshots e cópias lógicas não são RAID 1.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355080" y="11430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(XOR)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202996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4964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2496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3108960"/>
            <a:ext cx="5303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D0 ⊕ D1 ⊕ D2 (XOR). Qualquer disco perdido é recalculado a partir dos demais + paridade.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eficiente em espaço que o mirroring, mas toda escrita pequena exige um ciclo de read-modify-write ("write penalty").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Confiabilidade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MTTF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Failure — tempo médio até a 1ª falha de um disco (item não reparado).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47472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65760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Between Failures — para sistemas reparáveis: MTBF = MTTF + MTTR.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8368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Repair — tempo médio para detectar, trocar e reconstruir (rebuild) um disco falho.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326880" y="137160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415A77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509760" y="15544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MTTDL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214884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Data Loss — tempo médio até uma 2ª falha ocorrer dentro da janela de vulnerabilidade.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475720" cy="2011680"/>
          </a:xfrm>
          <a:prstGeom prst="roundRect">
            <a:avLst>
              <a:gd name="adj" fmla="val 3636"/>
            </a:avLst>
          </a:prstGeom>
          <a:solidFill>
            <a:srgbClr val="1B263B"/>
          </a:solidFill>
          <a:ln w="12700">
            <a:solidFill>
              <a:srgbClr val="1B263B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14400" y="4251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MTTDL ≈ MTTF² / [ N × (N−1) × MTTR ]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mais confiáveis (MTTF↑) elevam o MTTDL ao quadrado  •  Mais discos (N↑) reduzem o MTTDL  •  Reduzir o MTTR (hot spares) eleva o MTTDL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 e RAID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 — Striping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6791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4612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discos tolerados  •  Capacidade: N × disco  •  Desempenho: muito alto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dados não críticos/temporários (tempdb)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— Mirroring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3182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3182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24612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disco tolerado (de 2)  •  Capacidade: 1 × disco  •  Desempenho de leitura alto (paralelo)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Uso: logs de transação, volumes de sistema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— Paridade Distribuída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Striping em bloco + paridade rotacionada entre todos os discos (elimina o gargalo do RAID4)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D9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D11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3 discos  •  Tolera 1 falha  •  Capacidade útil: (N−1) × disco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penalty: 4 I/Os por escrita pequena (ler dado antigo, ler paridade antiga, gravar dado novo, gravar paridade nova)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condicionado: avaliar URE, duração/carga de rebuild, escrita pequena e RPO/RTO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 — Dupla Paridade Distribuída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RAID5, mas com uma segunda paridade (P+Q) independente — tolera 2 falhas simultâneas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E9C46A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4 discos  •  Tolera 2 falhas simultâneas  •  Capacidade útil: (N−2) × disco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penalty ainda maior que o RAID5 (até 6 I/Os por escrita)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recomendado: arranjos grandes / discos de alta capacidade, onde o rebuild é longo e uma 2ª falha é um risco real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0+1 x RAID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0+1 — Mirror de Stripes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A (RAID0)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B (RAID0)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5603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◄── MIRROR ──►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(em vermelho) falhou → todo o Stripe A é considerado comprometido. Uma 2ª falha em qualquer disco do Stripe B (D3 ou D4) causa perda total. Rebuild recopia o stripe inteiro.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0" cy="5120640"/>
          </a:xfrm>
          <a:prstGeom prst="line">
            <a:avLst/>
          </a:prstGeom>
          <a:noFill/>
          <a:ln w="19050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 — Stripe de Espelhos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40080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solidFill>
            <a:srgbClr val="C1512E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espelhado 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44000" y="14630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415A77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solidFill>
            <a:srgbClr val="415A77"/>
          </a:solidFill>
          <a:ln w="1587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2402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espelhado 2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56032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◄── STRIPE ──►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52044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(em vermelho) falhou → apenas o Par 1 fica exposto. O Par 2 continua plenamente espelhado. Rebuild copia só o disco individual, a partir de seu par — muito mais rápido.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5080" y="5257800"/>
            <a:ext cx="5303520" cy="502920"/>
          </a:xfrm>
          <a:prstGeom prst="roundRect">
            <a:avLst>
              <a:gd name="adj" fmla="val 14545"/>
            </a:avLst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355080" y="5257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RAID10 é, na prática, preferível ao RAID0+1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Comparativo dos Níveis Padrão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4630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11680" y="1463040"/>
            <a:ext cx="109728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2011680" y="146304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mín.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0" y="1463040"/>
            <a:ext cx="10058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108960" y="146304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0" y="1463040"/>
            <a:ext cx="19202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114800" y="14630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557784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35040" y="14630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recomendado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196596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0080" y="19659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011680" y="1965960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2103120" y="1965960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08960" y="1965960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00400" y="1965960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0" y="1965960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206240" y="1965960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× disco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965960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126480" y="1965960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não críticos (tempdb)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87752"/>
            <a:ext cx="14630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40080" y="258775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011680" y="2587752"/>
            <a:ext cx="109728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2103120" y="2587752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108960" y="2587752"/>
            <a:ext cx="1005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200400" y="2587752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14800" y="2587752"/>
            <a:ext cx="19202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4206240" y="2587752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disco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35040" y="2587752"/>
            <a:ext cx="5577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126480" y="2587752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 transação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320954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320954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011680" y="3209544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2103120" y="3209544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108960" y="3209544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3200400" y="3209544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114800" y="3209544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4206240" y="3209544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(N−1) × disco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035040" y="3209544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126480" y="3209544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geral em SBD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3831336"/>
            <a:ext cx="14630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40080" y="383133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011680" y="3831336"/>
            <a:ext cx="109728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2103120" y="3831336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108960" y="3831336"/>
            <a:ext cx="1005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3200400" y="3831336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114800" y="3831336"/>
            <a:ext cx="19202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 txBox="1"/>
          <p:nvPr/>
        </p:nvSpPr>
        <p:spPr>
          <a:xfrm>
            <a:off x="4206240" y="3831336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(N−2) × disco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035040" y="3831336"/>
            <a:ext cx="5577840" cy="621792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6126480" y="3831336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Arranjos grandes/alta capacidade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4453128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640080" y="445312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011680" y="4453128"/>
            <a:ext cx="109728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2103120" y="4453128"/>
            <a:ext cx="914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108960" y="4453128"/>
            <a:ext cx="1005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3200400" y="4453128"/>
            <a:ext cx="822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múlt.*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114800" y="4453128"/>
            <a:ext cx="19202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4206240" y="4453128"/>
            <a:ext cx="1737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035040" y="4453128"/>
            <a:ext cx="5577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6126480" y="4453128"/>
            <a:ext cx="5394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de alta transação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52578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Múltiplos discos, desde que não sejam do mesmo par espelhado.  Quadro completo corrigido no relatório, incluindo rebuild, leitura/escrita e relevância atual.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de RAID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Implementações proprietárias de fabricantes específicos — não são padrões abertos como RAID 0–6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1.5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HighPoint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discos: escrita espelhada (RAID1) + leitura dividida entre os discos (RAID0).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Computer Corp. (extinta)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independente por disco + microprocessador com SO de tempo real. Marca registrada.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20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RAID-DP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NetApp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 paridade (horizontal + diagonal) integrada ao WAFL/Data ONTAP.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06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EMC Symmetrix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proprietária otimizada para a cache espelhada dos arrays EMC.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692640" y="1600200"/>
            <a:ext cx="2121408" cy="44805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RAID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224028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98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2788920"/>
            <a:ext cx="18470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volumes RAID de níveis diferentes (ex.: RAID0 + RAID1) nos mesmos 2 discos físicos.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Recomendações de Uso em SBD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do SBD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RAID recomendado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solidFill>
            <a:srgbClr val="1B263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típica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 transação (redo/undo)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0" y="187452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577840" y="187452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ou RAID 10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326880" y="1874520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418320" y="187452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2532888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" y="2532888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de dados OLTP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532888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577840" y="253288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10 (ou RAID 5/6)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26880" y="2532888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18320" y="253288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191256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40080" y="3191256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/ OLAP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0" y="3191256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577840" y="3191256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ou RAID 6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326880" y="3191256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9418320" y="319125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/ SATA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3849624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40080" y="3849624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 arquivamento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0" y="3849624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5577840" y="3849624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independente/versionado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326880" y="3849624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418320" y="384962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6 só dá disponibilidade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" y="4507992"/>
            <a:ext cx="4937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640080" y="4507992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temporárias (tempdb)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0" y="4507992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5577840" y="4507992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 só se recriável no RTO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326880" y="4507992"/>
            <a:ext cx="22860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9418320" y="450799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/ SATA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493776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640080" y="516636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externo de alto desempenho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66360"/>
            <a:ext cx="384048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5577840" y="516636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15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326880" y="5166360"/>
            <a:ext cx="2286000" cy="658368"/>
          </a:xfrm>
          <a:prstGeom prst="rect">
            <a:avLst/>
          </a:prstGeom>
          <a:solidFill>
            <a:srgbClr val="F4F6F8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9418320" y="516636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USB4 v2.0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43A"/>
                </a:solidFill>
                <a:latin typeface="Aptos"/>
              </a:defRPr>
            </a:pPr>
            <a:r>
              <a:t>Níveis históricos e diferença 0+1 ×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RAID 2, 3 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RAID 2: striping em bits + código Hamming; histórico e dependente da variante.</a:t>
            </a:r>
            <a:br/>
            <a:br/>
            <a:r>
              <a:t>RAID 3: granularidade fina/byte + paridade dedicada; discos em lockstep.</a:t>
            </a:r>
            <a:br/>
            <a:br/>
            <a:r>
              <a:t>RAID 4: blocos + paridade dedicada; leituras paralelas, gargalo na escrita.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RAID 0+1 e RAID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0+1 perde um stripe após a primeira falha; a tolerância adicional depende de onde falha o próximo disco.</a:t>
            </a:r>
            <a:br/>
            <a:br/>
            <a:r>
              <a:t>RAID 10 expõe somente o par afetado; perde dados apenas se ambos os membros do mesmo par falharem.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Fontes e hipóteses completas no relatório corrigido.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43A"/>
                </a:solidFill>
                <a:latin typeface="Aptos"/>
              </a:defRPr>
            </a:pPr>
            <a:r>
              <a:t>Confiabilidade: hipótese antes da fórmula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O que o MTTDL simplificado assume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• Discos idênticos</a:t>
            </a:r>
            <a:br/>
            <a:r>
              <a:t>• Falhas independentes/exponenciais</a:t>
            </a:r>
            <a:br/>
            <a:r>
              <a:t>• Detecção imediata</a:t>
            </a:r>
            <a:br/>
            <a:r>
              <a:t>• Reparo perfeito</a:t>
            </a:r>
            <a:br/>
            <a:r>
              <a:t>• Unidades consistentes</a:t>
            </a:r>
            <a:br/>
            <a:br/>
            <a:r>
              <a:t>Não cobre URE, setores latentes, correlação nem carga de rebuild.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Métrica complementar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Disponibilidade: A = MTTF/(MTTF + MTTR)</a:t>
            </a:r>
            <a:br/>
            <a:br/>
            <a:r>
              <a:t>Exemplo: 1.000.000 h e MTTR 24 h → 99,9976%.</a:t>
            </a:r>
            <a:br/>
            <a:br/>
            <a:r>
              <a:t>Valor médio não é garantia. Dimensionar com RPO/RTO e teste de falha.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Fontes e hipóteses completas no relatório corrigido.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43A"/>
                </a:solidFill>
                <a:latin typeface="Aptos"/>
              </a:defRPr>
            </a:pPr>
            <a:r>
              <a:t>RAID fornece disponibilidade; backup fornece recuperação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RAID protege contra falhas previstas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• Tolera falha de disco conforme o nível</a:t>
            </a:r>
            <a:br/>
            <a:r>
              <a:t>• Pode manter o serviço durante rebuild</a:t>
            </a:r>
            <a:br/>
            <a:r>
              <a:t>• Hot spare reduz a janela de exposição</a:t>
            </a:r>
            <a:br/>
            <a:r>
              <a:t>• Não preserva estado histórico</a:t>
            </a:r>
            <a:br/>
            <a:r>
              <a:t>• Corrupção/exclusão pode atingir todo o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58D24"/>
                </a:solidFill>
                <a:latin typeface="Aptos"/>
              </a:defRPr>
            </a:pPr>
            <a:r>
              <a:t>Backup é uma cópia independente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8243A"/>
                </a:solidFill>
                <a:latin typeface="Aptos"/>
              </a:defRPr>
            </a:pPr>
            <a:r>
              <a:t>• Versionado e preferencialmente off-site/imutável</a:t>
            </a:r>
            <a:br/>
            <a:r>
              <a:t>• Protege contra erro lógico e ransomware</a:t>
            </a:r>
            <a:br/>
            <a:r>
              <a:t>• Precisa de RPO e RTO</a:t>
            </a:r>
            <a:br/>
            <a:r>
              <a:t>• Restauração deve ser testada</a:t>
            </a:r>
            <a:br/>
            <a:r>
              <a:t>• RAID pode proteger o repositório, mas não substituí-lo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17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Aptos"/>
              </a:defRPr>
            </a:pPr>
            <a:r>
              <a:t>Fontes e hipóteses completas no relatório corrigido.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6420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de interface (SATA, eSATA, SAS, FireWire, USB, HBA) e de nível de RAID é uma decisão de arquitetura, não apenas de hardware.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1576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e redundância competem pelos mesmos discos: striping maximiza desempenho, mirroring/paridade sacrificam capacidade ou escrita por confiabilidade.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76732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MTTF, MTBF, MTTR e MTTDL permitem quantificar esse equilíbrio — e explicam a preferência crescente por RAID6 e RAID10 em discos de alta capacidade.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84048" cy="384048"/>
          </a:xfrm>
          <a:prstGeom prst="ellipse">
            <a:avLst/>
          </a:prstGeom>
          <a:solidFill>
            <a:srgbClr val="E9C46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4892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18888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não padrão (1.5, 7, DP, S, Matrix) mostram como fabricantes adaptam os conceitos acadêmicos às suas próprias arquiteturas.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— Uso de IA Generativa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utilizado: Claude (Anthropic)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prompts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cronológico dos prompts-chave: envio do enunciado, dos arquivos de referência da disciplina, pesquisa de especificações atuais (SAS-4, USB4 v2.0) e geração do relatório/slides.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documenta o que fez, quais decisões tomou e por quê — detalhado nas Seções 12.3 e 12.4 do relatório em PDF.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DEE4"/>
            </a:solidFill>
            <a:prstDash val="solid"/>
          </a:ln>
          <a:effectLst>
            <a:outerShdw sx="100000" sy="100000" kx="0" ky="0" algn="bl" rotWithShape="0" blurRad="76200" dist="25400" dir="5400000">
              <a:srgbClr val="1B263B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solidFill>
            <a:srgbClr val="415A77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corrigidos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377440"/>
            <a:ext cx="3063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Velocidades de interface verificadas via pesquisa web (não só memória do modelo); distinção formal MTTF x MTBF explicitada; níveis não padrão marcados como proprietários.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DAS e RAID para SBD — UFRJ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6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e debate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17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8D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[GRUPO — substituir]  ·  Armazenamento DAS e RAID para SBD — UFRJ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2026-09-05T16:18:09Z</dcterms:created>
  <dcterms:modified xsi:type="dcterms:W3CDTF">2026-09-05T16:18:09Z</dcterms:modified>
</cp:coreProperties>
</file>