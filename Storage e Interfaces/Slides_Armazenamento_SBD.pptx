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Leitura máx. (MB/s)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Óptico M-DISC</c:v>
                  </c:pt>
                  <c:pt idx="1">
                    <c:v>HDD HAMR 30 TB</c:v>
                  </c:pt>
                  <c:pt idx="2">
                    <c:v>Fita LTO-10</c:v>
                  </c:pt>
                  <c:pt idx="3">
                    <c:v>SSD SATA</c:v>
                  </c:pt>
                  <c:pt idx="4">
                    <c:v>Pen drive USB</c:v>
                  </c:pt>
                  <c:pt idx="5">
                    <c:v>SSD NVMe DC</c:v>
                  </c:pt>
                  <c:pt idx="6">
                    <c:v>SSD NVMe PCIe 5.0</c:v>
                  </c:pt>
                  <c:pt idx="7">
                    <c:v>DRAM DDR5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</c:v>
                </c:pt>
                <c:pt idx="1">
                  <c:v>275</c:v>
                </c:pt>
                <c:pt idx="2">
                  <c:v>400</c:v>
                </c:pt>
                <c:pt idx="3">
                  <c:v>560</c:v>
                </c:pt>
                <c:pt idx="4">
                  <c:v>1000</c:v>
                </c:pt>
                <c:pt idx="5">
                  <c:v>7000</c:v>
                </c:pt>
                <c:pt idx="6">
                  <c:v>14700</c:v>
                </c:pt>
                <c:pt idx="7">
                  <c:v>96000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Escrita máx. (MB/s)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Óptico M-DISC</c:v>
                  </c:pt>
                  <c:pt idx="1">
                    <c:v>HDD HAMR 30 TB</c:v>
                  </c:pt>
                  <c:pt idx="2">
                    <c:v>Fita LTO-10</c:v>
                  </c:pt>
                  <c:pt idx="3">
                    <c:v>SSD SATA</c:v>
                  </c:pt>
                  <c:pt idx="4">
                    <c:v>Pen drive USB</c:v>
                  </c:pt>
                  <c:pt idx="5">
                    <c:v>SSD NVMe DC</c:v>
                  </c:pt>
                  <c:pt idx="6">
                    <c:v>SSD NVMe PCIe 5.0</c:v>
                  </c:pt>
                  <c:pt idx="7">
                    <c:v>DRAM DDR5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27</c:v>
                </c:pt>
                <c:pt idx="1">
                  <c:v>275</c:v>
                </c:pt>
                <c:pt idx="2">
                  <c:v>400</c:v>
                </c:pt>
                <c:pt idx="3">
                  <c:v>530</c:v>
                </c:pt>
                <c:pt idx="4">
                  <c:v>900</c:v>
                </c:pt>
                <c:pt idx="5">
                  <c:v>3000</c:v>
                </c:pt>
                <c:pt idx="6">
                  <c:v>13300</c:v>
                </c:pt>
                <c:pt idx="7">
                  <c:v>96000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560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7620" cap="flat">
              <a:solidFill>
                <a:srgbClr val="DFE3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606E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55606E"/>
                    </a:solidFill>
                    <a:latin typeface="Calibri"/>
                  </a:rPr>
                  <a:t>MB/s (escala logarítmica)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PCIe ×4 (NVMe)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1997</c:v>
                  </c:pt>
                  <c:pt idx="1">
                    <c:v>2000</c:v>
                  </c:pt>
                  <c:pt idx="2">
                    <c:v>2003</c:v>
                  </c:pt>
                  <c:pt idx="3">
                    <c:v>2005</c:v>
                  </c:pt>
                  <c:pt idx="4">
                    <c:v>2009</c:v>
                  </c:pt>
                  <c:pt idx="5">
                    <c:v>2013</c:v>
                  </c:pt>
                  <c:pt idx="6">
                    <c:v>2017</c:v>
                  </c:pt>
                  <c:pt idx="7">
                    <c:v>2019</c:v>
                  </c:pt>
                  <c:pt idx="8">
                    <c:v>2022</c:v>
                  </c:pt>
                  <c:pt idx="9">
                    <c:v>2025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/>
                </c:pt>
                <c:pt idx="1">
                  <c:v>1000</c:v>
                </c:pt>
                <c:pt idx="2">
                  <c:v>1000</c:v>
                </c:pt>
                <c:pt idx="3">
                  <c:v>2000</c:v>
                </c:pt>
                <c:pt idx="4">
                  <c:v>3938</c:v>
                </c:pt>
                <c:pt idx="5">
                  <c:v>3938</c:v>
                </c:pt>
                <c:pt idx="6">
                  <c:v>7877</c:v>
                </c:pt>
                <c:pt idx="7">
                  <c:v>15754</c:v>
                </c:pt>
                <c:pt idx="8">
                  <c:v>30250</c:v>
                </c:pt>
                <c:pt idx="9">
                  <c:v>60500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Fibre Channel</c:v>
                </c:pt>
              </c:strCache>
            </c:strRef>
          </c:tx>
          <c:spPr>
            <a:solidFill>
              <a:srgbClr val="EDA100"/>
            </a:solidFill>
            <a:ln w="3175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1997</c:v>
                  </c:pt>
                  <c:pt idx="1">
                    <c:v>2000</c:v>
                  </c:pt>
                  <c:pt idx="2">
                    <c:v>2003</c:v>
                  </c:pt>
                  <c:pt idx="3">
                    <c:v>2005</c:v>
                  </c:pt>
                  <c:pt idx="4">
                    <c:v>2009</c:v>
                  </c:pt>
                  <c:pt idx="5">
                    <c:v>2013</c:v>
                  </c:pt>
                  <c:pt idx="6">
                    <c:v>2017</c:v>
                  </c:pt>
                  <c:pt idx="7">
                    <c:v>2019</c:v>
                  </c:pt>
                  <c:pt idx="8">
                    <c:v>2022</c:v>
                  </c:pt>
                  <c:pt idx="9">
                    <c:v>2025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200</c:v>
                </c:pt>
                <c:pt idx="2">
                  <c:v>400</c:v>
                </c:pt>
                <c:pt idx="3">
                  <c:v>800</c:v>
                </c:pt>
                <c:pt idx="4">
                  <c:v>800</c:v>
                </c:pt>
                <c:pt idx="5">
                  <c:v>3200</c:v>
                </c:pt>
                <c:pt idx="6">
                  <c:v>3200</c:v>
                </c:pt>
                <c:pt idx="7">
                  <c:v>6400</c:v>
                </c:pt>
                <c:pt idx="8">
                  <c:v>12425</c:v>
                </c:pt>
                <c:pt idx="9">
                  <c:v>12425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SAS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1997</c:v>
                  </c:pt>
                  <c:pt idx="1">
                    <c:v>2000</c:v>
                  </c:pt>
                  <c:pt idx="2">
                    <c:v>2003</c:v>
                  </c:pt>
                  <c:pt idx="3">
                    <c:v>2005</c:v>
                  </c:pt>
                  <c:pt idx="4">
                    <c:v>2009</c:v>
                  </c:pt>
                  <c:pt idx="5">
                    <c:v>2013</c:v>
                  </c:pt>
                  <c:pt idx="6">
                    <c:v>2017</c:v>
                  </c:pt>
                  <c:pt idx="7">
                    <c:v>2019</c:v>
                  </c:pt>
                  <c:pt idx="8">
                    <c:v>2022</c:v>
                  </c:pt>
                  <c:pt idx="9">
                    <c:v>2025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/>
                </c:pt>
                <c:pt idx="1">
                  <c:v/>
                </c:pt>
                <c:pt idx="2">
                  <c:v>300</c:v>
                </c:pt>
                <c:pt idx="3">
                  <c:v>300</c:v>
                </c:pt>
                <c:pt idx="4">
                  <c:v>600</c:v>
                </c:pt>
                <c:pt idx="5">
                  <c:v>1200</c:v>
                </c:pt>
                <c:pt idx="6">
                  <c:v>1200</c:v>
                </c:pt>
                <c:pt idx="7">
                  <c:v>2400</c:v>
                </c:pt>
                <c:pt idx="8">
                  <c:v>2400</c:v>
                </c:pt>
                <c:pt idx="9">
                  <c:v>2400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USB</c:v>
                </c:pt>
              </c:strCache>
            </c:strRef>
          </c:tx>
          <c:spPr>
            <a:solidFill>
              <a:srgbClr val="4A3AA7"/>
            </a:solidFill>
            <a:ln w="31750" cap="flat">
              <a:solidFill>
                <a:srgbClr val="4A3A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A3AA7"/>
              </a:solidFill>
              <a:ln w="9525" cap="flat">
                <a:solidFill>
                  <a:srgbClr val="4A3A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1997</c:v>
                  </c:pt>
                  <c:pt idx="1">
                    <c:v>2000</c:v>
                  </c:pt>
                  <c:pt idx="2">
                    <c:v>2003</c:v>
                  </c:pt>
                  <c:pt idx="3">
                    <c:v>2005</c:v>
                  </c:pt>
                  <c:pt idx="4">
                    <c:v>2009</c:v>
                  </c:pt>
                  <c:pt idx="5">
                    <c:v>2013</c:v>
                  </c:pt>
                  <c:pt idx="6">
                    <c:v>2017</c:v>
                  </c:pt>
                  <c:pt idx="7">
                    <c:v>2019</c:v>
                  </c:pt>
                  <c:pt idx="8">
                    <c:v>2022</c:v>
                  </c:pt>
                  <c:pt idx="9">
                    <c:v>2025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/>
                </c:pt>
                <c:pt idx="1">
                  <c:v>60</c:v>
                </c:pt>
                <c:pt idx="2">
                  <c:v>60</c:v>
                </c:pt>
                <c:pt idx="3">
                  <c:v>60</c:v>
                </c:pt>
                <c:pt idx="4">
                  <c:v>500</c:v>
                </c:pt>
                <c:pt idx="5">
                  <c:v>1212</c:v>
                </c:pt>
                <c:pt idx="6">
                  <c:v>2424</c:v>
                </c:pt>
                <c:pt idx="7">
                  <c:v>4850</c:v>
                </c:pt>
                <c:pt idx="8">
                  <c:v>9600</c:v>
                </c:pt>
                <c:pt idx="9">
                  <c:v>9600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SATA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1997</c:v>
                  </c:pt>
                  <c:pt idx="1">
                    <c:v>2000</c:v>
                  </c:pt>
                  <c:pt idx="2">
                    <c:v>2003</c:v>
                  </c:pt>
                  <c:pt idx="3">
                    <c:v>2005</c:v>
                  </c:pt>
                  <c:pt idx="4">
                    <c:v>2009</c:v>
                  </c:pt>
                  <c:pt idx="5">
                    <c:v>2013</c:v>
                  </c:pt>
                  <c:pt idx="6">
                    <c:v>2017</c:v>
                  </c:pt>
                  <c:pt idx="7">
                    <c:v>2019</c:v>
                  </c:pt>
                  <c:pt idx="8">
                    <c:v>2022</c:v>
                  </c:pt>
                  <c:pt idx="9">
                    <c:v>2025</c:v>
                  </c:pt>
                </c:lvl>
              </c:multiLvlStrCache>
            </c:multiLvl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/>
                </c:pt>
                <c:pt idx="1">
                  <c:v/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600</c:v>
                </c:pt>
                <c:pt idx="6">
                  <c:v>600</c:v>
                </c:pt>
                <c:pt idx="7">
                  <c:v>600</c:v>
                </c:pt>
                <c:pt idx="8">
                  <c:v>600</c:v>
                </c:pt>
                <c:pt idx="9">
                  <c:v>600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l"/>
        <c:majorGridlines>
          <c:spPr>
            <a:ln w="7620" cap="flat">
              <a:solidFill>
                <a:srgbClr val="DFE3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606E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55606E"/>
                    </a:solidFill>
                    <a:latin typeface="Calibri"/>
                  </a:rPr>
                  <a:t>Taxa útil máxima (MB/s) — log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Folha de rosto. Preencher nomes completos e DRE de cada integrante antes de postar no 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blocos. Os dois centrais são os produtos pedidos no enunciado; o quarto é a nossa contribuição interpretativa.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Enquadrar: não é um trabalho de catálogo de hardware; é sobre quais premissas de projeto de SGBD envelheceram.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ordens de grandeza separam DRAM de SSD no eixo do tempo. Esse é o gráfico que organiza a apresentação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forte deste slide é o cálculo das 31 horas — é o que conecta física de disco a decisão de projeto (RAID 6 em vez de RAID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consequências para o projetista: amplificação, cauda e paralelismo. A terceira é a que mais afeta o gerente de buffer.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mais consequente do trabalho para SGBD transacional. Enfatizar que não é obsolescência do livro: é uma categoria de produto que o mercado retirou.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original antes da atualização para que a comparação faça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tabela linha a linha. Destacar: (a) as linhas novas em azul; (b) a assimetria leitura/escrita do QLC — 7,0 contra 3,0 GB/s.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Provocação para o debate: a fita, tratada como resíduo nos livros, é a categoria com roadmap mais longo.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Eixo logarítmico. O par leitura/escrita quase idêntico em DRAM, HDD e fita mostra que a assimetria é característica do flash, não do armazenamento em geral.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última linha é a que mais contraria a expectativa da literatura didática.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a nossa defesa metodológica. Se alguém questionar os preços, a resposta está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estas três reduções, qualquer comparativo de interface publicado na web está errado por um fator de 8 a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Extrato. Chamar atenção para a única linha 'Paralela' — o SCSI — e para a coluna de latência, que é onde a história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reta do SATA a partir de 2009 é o argumento visual do slide seguinte sobre o NVMe.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Registrar que o grupo optou por documentar a correção em vez de reproduzir a afirmação. Vale como resposta à pergunta Q7 do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central da apresentação. Se só uma ideia ficar, que seja esta: a vitória do NVMe é de arquitetura de filas, não de velocidade de fio.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mais denso da apresentação. Vale gastar tempo: é a evidência que sustenta a conclusão de que latência, e não banda, governa o SBD.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do random_page_cost é o exemplo mais concreto: a Tabela 16.1 atualizada termina virando uma linha de arquivo de configuração.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diferença de TPC-C não vem de banda: vem de latência × concorrência.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 achado metodológico — é inesperado e costuma gerar discussão.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Preencher os nomes dos integrantes no lugar de [INT. n].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 E7: a IA não questiona espontaneamente uma premissa dada no enunciado. Foi preciso desconfiar e perguntar.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para perguntas. As cinco questões estão na Seção 7 do documento, junto com mais duas.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Slides a partir daqui não fazem parte da apresentação — servem para responder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este slide se perguntarem de onde vem qualquer número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pedirem uma conta, está aqui. Todas foram verificadas em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enunciado lista HBA, M.2 e U.2 entre as interfaces. Nenhum é protocolo — este slide explica a diferença de categoria sem fugir da 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sobre o processo de verificação, este slide dá o quadro completo. Os 21 erros estão detalhados na Seção 9.4 do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6858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FEDERAL DO RIO DE JANEIRO  ·  CONSTRUÇÃO DE BANCO DE DADOS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23444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Dispositivos de Armazenamento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Físico para SBD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de conexão e parâmetros para o Gerente de Armazenamento.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da Tabela 16.1 de Elmasri &amp; Navathe — dados consultados em 05/09/2026.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4224528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389120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DO GRUPO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4681728"/>
            <a:ext cx="6217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COMPLETO DO INTEGRANTE 1] — DRE [00000000]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COMPLETO DO INTEGRANTE 2] — DRE [00000000]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COMPLETO DO INTEGRANTE 3] — DRE [00000000]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COMPLETO DO INTEGRANTE 4] — DRE [00000000]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COMPLETO DO INTEGRANTE 5] — DRE [00000000]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818120" y="1234440"/>
            <a:ext cx="3712464" cy="4910328"/>
          </a:xfrm>
          <a:prstGeom prst="roundRect">
            <a:avLst>
              <a:gd name="adj" fmla="val 1478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38160" y="15727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18,6×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2148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observada em 05/09/2026; o 3T26 ainda estava em curso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4553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372160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memórias persistentes byte-endereçáveis em produção: o Optane morreu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7183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 µs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5294376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custo do barramento PCIe num I/O de 20–70 µs — latência é mídia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62544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Rio de Janeiro — Setembro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 apresentação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755648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56816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186537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217627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de memória, mecânica do HDD, física do flash, o fim da SCM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688336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89504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99616" y="27980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16.1 atualizada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499616" y="310896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dispositivos comerciais de 2026, com preço por KB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621024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22192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99616" y="37307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de conexão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499616" y="40416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variantes: USB, SATA, SAS, NVMe, M.2/U.2/EDSFF, HBA, FC, iSCSI, InfiniBand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4553712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754880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99616" y="46634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Armazenamento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1499616" y="497433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Bloco, buffer, latência de commit, modelo de custo, tiering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486400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5687568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499616" y="55961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1499616" y="5907024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Prompts, autoria, erros da IA e correções aplicadas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SGBD é uma máquina de transformar I/O em respostas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572768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Índices, buffer pool, WAL, otimizador de consultas — tudo existe porque o meio persistente é ordens de grandeza mais lento que a memória. Essa razão é o parâmetro que justifica a arquitetura inteira. E ela mudou.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dos preços da Tabela 16.1 do Elmasri &amp; Navathe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6168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dos números do Capítulo 12 do Silberschatz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6500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3932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anos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33932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defasagem que este trabalho mede e corrige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80560"/>
            <a:ext cx="10874959" cy="1508760"/>
          </a:xfrm>
          <a:prstGeom prst="roundRect">
            <a:avLst>
              <a:gd name="adj" fmla="val 3636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24128" y="4663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do trabalho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9834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os parâmetros físicos mudaram por várias ordens de grandeza, quais conclusões práticas dos livros-texto ainda valem — e quais deixaram de valer?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hierarquia continua existindo — com um buraco novo</a:t>
            </a:r>
            <a:endParaRPr lang="en-US" sz="3000" dirty="0"/>
          </a:p>
        </p:txBody>
      </p:sp>
      <p:pic>
        <p:nvPicPr>
          <p:cNvPr id="4" name="Image 0" descr="fig/f1hi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81328"/>
            <a:ext cx="7589520" cy="4343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481328"/>
            <a:ext cx="3072384" cy="4343400"/>
          </a:xfrm>
          <a:prstGeom prst="roundRect">
            <a:avLst>
              <a:gd name="adj" fmla="val 178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3252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2057400"/>
            <a:ext cx="254203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tecnologia da Tabela 16.1 atualizada, posicionada por tempo de acesso e preço por KB. Ambos os eixos são logarítmicos.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fronteira desce da esquerda superior para a direita inferior: pagar mais compra latência menor.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vazio no eixo horizontal entre DRAM (10⁻⁷ s) e SSD NVMe (5×10⁻⁵ s) é onde ficava o Intel Optane.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 magnético: a mecânica que define o modelo de custo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773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584448" y="17190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4–10 ms *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1579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Deslocamento do braço até a trilha. * A Seagate REMOVEU o seek time do manual do Exos M — os ≈8,5 ms que somamos são estimativa nossa da classe.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1928" y="162763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6248" y="1773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rotacional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208008" y="17190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4,16 ms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21579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rotação a 7.200 rpm: 60 ÷ 7.200 ÷ 2 = 4,17 ms; a Seagate publica 4,16. É o único parâmetro de tempo que ela ainda publica.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304495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3191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275–285 MB/s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5753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Trilhas externas. Bem menos nas internas, que têm menos setores.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04495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6248" y="3191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IOPS (4 KB)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08008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50–200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556248" y="35753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Governado pela mecânica. Praticamente inalterado em duas décadas.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" y="4553712"/>
            <a:ext cx="10874959" cy="1417320"/>
          </a:xfrm>
          <a:prstGeom prst="roundRect">
            <a:avLst>
              <a:gd name="adj" fmla="val 3871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4128" y="47183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os livros não enfatizam o bastante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50292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D6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cresceu 4×; taxa sequencial, 1,4×; IOPS aleatório, nada. Varrer 8 TB a 200 MB/s levava 11 h; varrer 32 TB a 285 MB/s leva 31 h. Backup, reconstrução de RAID e full table scan pioraram — e é por isso que RAID 5 saiu de cena em discos grandes.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Flash: escrever é diferente de ler, e isso muda o projeto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página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dezenas de µs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36168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página apagada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≈100 µs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06500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Apagar bloco (256 KB–1 MB)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2–5 ms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292608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Sobrescrever uma página é impossível: é preciso apagar o bloco inteiro, e cada bloco suporta 10⁵–10⁶ apagamentos. Toda a arquitetura do SSD — FTL, garbage collection, wear leveling — existe por causa dessa única restrição.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58368" y="3694176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3639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Amplificação de escrita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041648" y="3639312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GC move dados: 4 KB lógicos custam mais que 4 KB físicos. É por isso que SGBDs da era do SSD (RocksDB, Cassandra) usam LSM-tree em vez de B⁺-tree in-place.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4535424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535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" y="4480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de cauda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041648" y="4480560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GC é assíncrono e imprevisível. A mediana é ótima; o P99,9 pode ser 10× pior. SLA de banco quebra na cauda, não na média.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" y="5376672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376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3856" y="53218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Paralelismo interno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041648" y="5321808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SSD atende 32+ requisições simultâneas. SATA: 13 mil IOPS a QD1, 98 mil a QD32. Emitir uma por vez desperdiça o dispositivo.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 · ACHADO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memória persistente que os livros anunciam não existe mais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6916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Nota 12.1 do Silberschatz apresenta a storage class memory — 3D XPoint / Intel Optane — como o degrau que preencheria o vão entre DRAM e flash.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95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Optane SSD começa a ser vendido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71216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54096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95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054096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Optane PMem em soquete DIMM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84064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6944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jul/2022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266944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anuncia a saída do negócio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296912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79792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79792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300 (Crow Pass) cancelada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09760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92640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fim/2025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embarques da série 200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" y="4370832"/>
            <a:ext cx="10874959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4128" y="45537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para bancos de dados transacionais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86460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vão de três ordens de grandeza entre DRAM (≈70 ns) e SSD NVMe (20–70 µs) foi reaberto. Um log em SCM permitiria ≈100.000 commits/s por thread; com NVMe o teto é ≈33.000. O CXL cobre parte do vão — mas do lado da memória, a 214–271 ns medidos (2–2,5× a DRAM local), e não como meio persistente de log.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de partida: a Tabela 16.1 original (2014)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45920"/>
          <a:ext cx="10874959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1737360"/>
                <a:gridCol w="2377440"/>
                <a:gridCol w="3374136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Bandwidth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Commodity Prices (2014)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Memory — RAM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GB – 1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GB/s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 – 20 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Memory — SSD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 – 1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µs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 – 600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Memory — USB stick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GB – 512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µs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 – 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Disk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GB – 8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 – 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Storage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GB – 100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Tape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TB – 8,5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80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250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K – 30 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 jukebox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TB – 2,1 EB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80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MB/s – 1,2 PB/s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 K – 1 M+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89204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78408" y="5074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enunciado pede: substituir cada tipo por produtos comerciais de 2026, atualizar capacidade e preço, separar a banda em leitura e escrita, e acrescentar a coluna de preço por kilobyte.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SETEMBRO DE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16.1 atualizada — primário e secundário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331720"/>
                <a:gridCol w="1481328"/>
                <a:gridCol w="1051560"/>
                <a:gridCol w="1051560"/>
                <a:gridCol w="1051560"/>
                <a:gridCol w="1481328"/>
                <a:gridCol w="7315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comercial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US$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SRAM L3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Ryzen 9 9950X3D2 / EPYC 9755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96–512 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≈9,0 ns 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≈1,4 TB/s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≈1,4 TB/s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700–14.800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3,0×10⁻³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desktop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Corsair DDR5-6000 CL30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16–96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270–1.100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1,6×10⁻⁵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RDIMM DDR5-6400 64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32–256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≈75 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1.000–4.000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4,2×10⁻⁵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Memória CXL 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CMM-D MD220 (E3.S)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128–256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214–271 ns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≈36 GB/s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≈36 GB/s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público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PCIe 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9100 PRO (1 TB)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TB (base)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≈50 µs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219,99 MSRP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QLC (DC)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Solidigm D5-P5336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7,68–122,88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8–10 µs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16.246–33.249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TLC (DC)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Micron 9550 PRO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7,68–30,72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≈80 µs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33.217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1,1×10⁻⁶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SATA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870 EVO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GB–4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345 (1 TB)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 drive USB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Kingston DataTraveler Max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GB–1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≈0,1–0,5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 (1 TB)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 HAMR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Seagate Exos M 30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24–36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≈12,7 ms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800–1.280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2,7×10⁻⁸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06577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 —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marca: datasheet do fabricante.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estimativa nossa de ordem de grandeza (nenhum fabricante de SSD de consumo publica latência; a Seagate removeu o seek time do manual do Exos M).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típica de datasheet — o QoS de percentil do mesmo produto é 110 µs (leitura) e 40 µs (escrita); a Samsung não publica nada do CMM-D, cuja faixa vem de medições revisadas por pares.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‡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derivado de 46,5 ciclos + 4 do V-Cache a 5,6 GHz — boost oficial do 9950X3D2; não é especificação de latência.   Em azul: as três linhas novas do grupo.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SETEMBRO DE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16.1 atualizada — terciário, e a coluna de preço por KB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651760"/>
                <a:gridCol w="1481328"/>
                <a:gridCol w="1207008"/>
                <a:gridCol w="1170432"/>
                <a:gridCol w="1051560"/>
                <a:gridCol w="1673352"/>
                <a:gridCol w="859536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comercial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US$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Óptico WORM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M-DISC BD-XL 100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GB/disco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≈150–250 ms 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≈18 MB/s (4×)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12,70 + 230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1,3×10⁻⁷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Cartucho Ultrium LTO-9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TB nativo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+ drive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4,9×10⁻⁹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Cartucho Ultrium LTO-10 (2026)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→ 40 TB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260–300 + drive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9,3×10⁻⁹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 library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IBM TS4500 / Quantum i6000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926,8 PB; 2,317 EB a 2,5:1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≈51,2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≈51,2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 cotação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3520440"/>
            <a:ext cx="5349240" cy="2377440"/>
          </a:xfrm>
          <a:prstGeom prst="roundRect">
            <a:avLst>
              <a:gd name="adj" fmla="val 2308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78408" y="3703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razão que sustenta a hierarquia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978408" y="40233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621.000×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78408" y="4718304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separam o preço por KB da SRAM do da fita LTO-9:  (US$ 199 ÷ 65.536 KiB) ÷ (US$ 87,99 ÷ 1,8×10¹⁰ KB) = 3,04×10⁻³ ÷ 4,89×10⁻⁹.  Não é o desempenho que sustenta o tiering: é essa razão de custo.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3520440"/>
            <a:ext cx="5276088" cy="2377440"/>
          </a:xfrm>
          <a:prstGeom prst="roundRect">
            <a:avLst>
              <a:gd name="adj" fmla="val 230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3703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fita não morreu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4041648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meio em que drive e mídia são precificados à parte: cada TB adicional custa US$ 5–10.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(revisado em nov/2025) até 365 TB nativos no LTO-14 — a maior vitalidade da hierarquia.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zero na estante, air gap físico contra ransomware, retenção declarada de 30 anos.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ANÁLISE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largura de banda foi o que realmente explodiu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1536192"/>
          <a:ext cx="7315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536192"/>
            <a:ext cx="3346704" cy="4343400"/>
          </a:xfrm>
          <a:prstGeom prst="roundRect">
            <a:avLst>
              <a:gd name="adj" fmla="val 1639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gráfico mostra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103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20×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25603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banda a mais no SSD, contra a Tabela 16.1 original: de 750 MB/s para 14,7 GB/s.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1,4×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3840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 o avanço do disco magnético no mesmo período: de 200 para 285 MB/s.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4663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LTO &gt; HDD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5120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fita supera o disco em taxa sequencial — não precisa posicionar braço entre blocos.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SÍNTESE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entre 2014 e 2026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200"/>
          <a:ext cx="10874959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66597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Mudança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no projeto de SBD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Optane / 3D XPoint descontinuado (2022–2025)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Removeu o degrau de memória persistente; reabriu o vão de 3 ordens de grandeza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CXL preenche o vão parcialmente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nível de memória a 214–271 ns (2–2,5× a DRAM local); buffer pool cresce além dos slots DIMM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Sony ODA encerrado; Pioneer saiu dos leitores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Óptico virou nicho de arquivamento WORM de longuíssimo prazo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SATA virou legado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satura em 550 MB/s; mantido apenas por retrofit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padrão; PCIe 6.0 no datacenter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 GB/s no consumo; 28 GB/s no Micron 9650 (fev/2026)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HAMR entrou em produção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saltou de 24 TB para 32–36 TB; 44 TB anunciado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 lançado (30 → 40 TB nativos)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Arquivamento a US$ 5–10/TB; roadmap revisado até 365 TB nativos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e HDD divergiram em custo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18,6× por TB em 05/09/2026; observação parcial do 3T26 (era 7× no 3T25)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HONESTIDADE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Aviso metodológico: os preços de 2026 são de um pico anômalo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6916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coleta ocorreu durante uma crise de oferta de memória e NAND causada pela realocação de capacidade fabril para HBM (aceleradores de IA) e por pedidos antecipados de hiperescaladores.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+575%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mesmo kit DDR5-6000 de 32 GB, de meados de 2025 a set/2026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48456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5×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648456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preço spot do NAND, de out/2025 a fev/2026 — e 8,5× até março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9088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+46%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preço do HDD em apenas quatro meses (15/set/2025 a 14/jan/2026, 12 modelos)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70264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8972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18,6×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189720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 observado em 05/09/2026; não é fechamento do 3T26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8368" y="4617720"/>
            <a:ext cx="10874959" cy="1325880"/>
          </a:xfrm>
          <a:prstGeom prst="roundRect">
            <a:avLst>
              <a:gd name="adj" fmla="val 4138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4128" y="47731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leitor deve usar a tabela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084064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razões entre tecnologias — quantas ordens de grandeza separam DRAM de fita — são estruturais e estáveis. Os valores absolutos, não. Registramos ainda uma inversão temporária: um pen drive de 1 TB (US$ 130/TB) está mais barato por terabyte que um SSD SATA de 1 TB (US$ 345/TB).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comparar interfaces: três reduções separam marketing de realidade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938528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79222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133088" y="17922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GB/s = 8 Gb/s. Uma interface de 6 Gb/s nunca entrega 6 GB/s.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522208" y="1792224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Silberschatz escorrega aqui (§12.2).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2816352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3108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3108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9626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de linha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133088" y="2962656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de controle para balanceamento DC e recuperação de clock.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962656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8b/10b custa 25%; 128b/130b custa 1,6%.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3986784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4279392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279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41330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Modulação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33088" y="413308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NRZ = 1 bit/símbolo. PAM4 = 2 bits/símbolo, com FEC obrigatório.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522208" y="413308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PAM4 está em FC 64G, IB HDR+, PCIe 6.0.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8368" y="5230368"/>
            <a:ext cx="10874959" cy="960120"/>
          </a:xfrm>
          <a:prstGeom prst="roundRect">
            <a:avLst>
              <a:gd name="adj" fmla="val 5714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SATA 3.0:  6,0 Gb/s bruto × 8/10 = 4,8 Gb/s úteis ÷ 8 = 600 MB/s          ·          PCIe 5.0 ×4:  32 GT/s × 4 lanes × 128/130 ÷ 8 = 15,754 GB/s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Comparativo das interfaces — extrato de 56 variantes estudadas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58368"/>
                <a:gridCol w="1298448"/>
                <a:gridCol w="1298448"/>
                <a:gridCol w="1234440"/>
                <a:gridCol w="1115568"/>
                <a:gridCol w="1965960"/>
                <a:gridCol w="1517904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Ser./Par.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útil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Distância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Topologia / nº disp.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em SBD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 3.2 Gen 2×2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×2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2.424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Estrela hierárq., 127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externo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USB4 v2.0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≈9,6 GB/s nominal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≈50 µs*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cabo certificado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Gb/s; 120 opcional/assim.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compatível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Ultra-320 SCSI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Paralela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 LVD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Barramento, 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Obsoleto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3.0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Ponto-a-ponto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Capacidade, backup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Express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(PCIe ×2)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≈0,3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Ponto-a-ponto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Fracassou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SAS-4 (24G)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Fabric, 65.535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HDD, backplane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×4 +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15,75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≈0,25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65.535 filas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OLTP, redo 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Fibre Channel 64GFC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 ns/switch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km SMF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Fabric, 2²⁴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corporativa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NVMe/TCP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Ethernet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122–177 µs P99,99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Alternativa ao iSCSI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Ethernet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500–800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ilimitada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PME, virtualização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InfiniBand XDR 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comutado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 de IA/LLM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2280 / U.2 / EDSFF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2013–20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55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forma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PCIe ×4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backplane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sem hot-swap, 8–11 W; EDSFF 12 V, até 70 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 /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HBA (tri-modo, FC, CNA)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55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adaptador PCIe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do meio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do meio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IT expõe discos crus ao 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ZFS/Ceph, SAN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34924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itálico: as duas últimas linhas NÃO são protocolos — fator de forma e adaptador não têm taxa própria; expõem as lanes PCIe da linha correspondente. Estão na tabela porque constam da lista do enunciado. A tabela completa tem 56 linhas, com taxa bruta, hot-plug e alimentação pelo cabo.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família manteve a inclinação — e por isso todas as outras se mudaram para ela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1572768"/>
          <a:ext cx="74980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66760" y="1572768"/>
            <a:ext cx="3163824" cy="4206240"/>
          </a:xfrm>
          <a:prstGeom prst="roundRect">
            <a:avLst>
              <a:gd name="adj" fmla="val 173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4108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SATA parou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2121408"/>
            <a:ext cx="2633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Requalificar conector, cabo e PHY custaria caro sem retorno.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overhead de 25% do 8b/10b; trocá-lo quebraria compatibilidade.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real é o AHCI — 1 fila de 32 comandos — e não o fio.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PCIe já existia, já era mais rápido e mais barato por GB/s.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4983480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anos sem mudança de velocidade — e ninguém se importou.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 · VERIFICAÇÃO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 a uma afirmação do próprio enunciado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868680"/>
          </a:xfrm>
          <a:prstGeom prst="roundRect">
            <a:avLst>
              <a:gd name="adj" fmla="val 6316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17373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3C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“SATA também é conhecida como NL-SAS.”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210312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Factualmente incorreto.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138160" y="18745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NL-SAS = mecânica SATA nearline + protocolo SAS</a:t>
            </a:r>
            <a:endParaRPr lang="en-US" sz="13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743200"/>
          <a:ext cx="10874959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651760"/>
                <a:gridCol w="2926080"/>
                <a:gridCol w="236829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(HDD)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corporativo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/ protocolo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/ 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/ SCSI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/ SCSI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Mídia e rotação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Nearline 7.200 rpm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Nearline 7.200 rpm (a mesma)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 / 15 K rpm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(single-port)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(dual-port)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(dual-port)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Multipath / alta disponib.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STP / interposer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erro irrecuperável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58368" y="54406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prática: um array SAS com discos SATA precisa de STP ou de placas interposer e perde o caminho redundante. Com NL-SAS, não. Para um SGBD em cluster, é a diferença entre sobreviver ou não à falha de um controlador.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NVMe venceu — e não foi por largura de banda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27632"/>
          <a:ext cx="10874959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291840"/>
                <a:gridCol w="3831336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AHCI / SATA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Filas de submissão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por fila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Registradores MMIO por comando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(não cacheáveis)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Afinidade de núcleo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fila por núcleo — sem contenção de lock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 de comandos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ATA (herdado do disco rotativo)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Enxuto, projetado para flash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315968"/>
            <a:ext cx="10874959" cy="1691640"/>
          </a:xfrm>
          <a:prstGeom prst="roundRect">
            <a:avLst>
              <a:gd name="adj" fmla="val 3243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44988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argumento em uma frase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4809744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um SGBD com alta concorrência, o gargalo do AHCI nunca foram os 600 MB/s: era o lock na fila única, disputado por todos os núcleos que querem emitir I/O. O NVMe elimina essa disputa por construção — dando a cada núcleo a sua própria fila.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 · SÍNTESE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de latência de uma leitura aleatória de 4 KB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72768"/>
                <a:gridCol w="1572768"/>
                <a:gridCol w="1572768"/>
                <a:gridCol w="1572768"/>
                <a:gridCol w="138074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 local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NVMe/RoCE 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NVMe/TCP 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 10 GbE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SAS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Chamada de sistema + camada de bloco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 + submissão na fila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20–50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Travessia do barramento / fabric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50–120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200–400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 da mídia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Controladora do alvo / RAID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10–30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10–30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30–80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41–163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122–177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500–800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4187952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típica.   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 99,99 medido pela Western Digital (4 KB, QD=1, mesma mídia) — a mediana é menor. As duas colunas de fabric são, portanto, conservadoras face às demais: isso reforça a conclusão (2), não a enfraquece.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5836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611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NVMe local, ≈90% da latência é mídia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5.0 → 6.0 não reduz latência de leitura aleatória. Só a mídia reduziria — e a mídia que faria isso saiu do mercado.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6168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9943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storage de rede, o protocolo domina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59943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iSCSI por NVMe/TCP tem efeito de primeira ordem: 4× menos latência sobre a mesma mídia.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6500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0275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cauda importa mais que a média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30275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banco quebra no P99,9. Fabrics lossless (FC, IB) vencem o TCP pela variância, não pela média.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GERENTE DE ARMAZENAMENTO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 os números em decisões do Gerente de Armazenamento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0195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177393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de bloco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087368" y="177393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HDD: 8–64 KB, para amortizar a busca de 12,7 ms.  ·  SSD: 4–16 KB, alinhado à página NAND.  ·  Fita: ≥1 MB.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69748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95351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536192" y="28254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pool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087368" y="282549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uma falta de página por vez usa ≈3% de um SSD NVMe. É preciso I/O assíncrono com muitas requisições em voo — daí io_uring e effective_io_concurrency.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74904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0507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387705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Durabilidade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087368" y="387705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commit custa 1/latência_do_fsync. Group commit é o que separa usar o dispositivo de desperdiçá-lo.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480060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056632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056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36192" y="49286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custo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492861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random_page_cost deve ser calibrado por workload, cache e medições. 1,1–1,5 é apenas faixa inicial ilustrativa para SSD, não regra universal.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742432"/>
            <a:ext cx="10874959" cy="530352"/>
          </a:xfrm>
          <a:prstGeom prst="roundRect">
            <a:avLst>
              <a:gd name="adj" fmla="val 10345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4128" y="5843016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ilustrativo 1/fsync (sem group commit/cache/CPU): HDD ≈125/s · SATA ≈6.700/s · NVMe ≈33.000/s · NVMe/TCP ≈8.200/s · iSCSI ≈1.700/s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GERENTE DE ARMAZENAMENTO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arquitetura de tiers para 2026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45920"/>
          <a:ext cx="10874959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14600"/>
                <a:gridCol w="2240280"/>
                <a:gridCol w="3429000"/>
                <a:gridCol w="1042416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típico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— memória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+ CXL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DDR5 / CXL 2.0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 pool, tabelas de hash, catálogos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quente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TLC (E3.S)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×4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Redo log, tempdb, índices, tabelas OLTP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morno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QLC alta capac.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4.0 ×4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Partições históricas, leitura intensiva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10⁻⁷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— frio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nearline 30 TB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6 Gb/s ou NL-SAS 12G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lake, partições antigas, backup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— arquivo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12G / FC 32G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Retenção legal, air gap contra ransomware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48056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4663440"/>
            <a:ext cx="4572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3.000×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5285232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razão de preço por byte entre o tier 0 e o tier 4. É ela — e não a diferença de desempenho — que sustenta economicamente o tiering.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4480560"/>
            <a:ext cx="5276088" cy="1600200"/>
          </a:xfrm>
          <a:prstGeom prst="roundRect">
            <a:avLst>
              <a:gd name="adj" fmla="val 3429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46451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empírica (PostgreSQL)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495604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NVMe local: 400 mil IOPS em 8 vCPU. Disco de rede precisaria de 112 vCPU — 14× mais.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TPC-C: 873 tps (NVMe local) contra 636 (Aurora) e 188 (RDS/EBS gp3).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conclusões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1965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947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SCM saiu do mercado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56032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Optane foi descontinuado entre 2022 e 2025 e nada o substituiu. O teto de commits por thread continua ditado pela latência do NVMe.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81928" y="16916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4536" y="1965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7453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96328" y="1947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SSD e HDD divergiram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74536" y="256032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18,6× em US$/TB na consulta de 05/09/2026; o 3T26 ainda não estava encerrado.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84048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411480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0976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0965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Banda deixou de ser o parâmetro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47091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NVMe local, &lt;1 µs de 20–70 µs é barramento. Explica o SATA parado, a vitória do NVMe e a irrelevância do PCIe 6.0 para OLTP.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81928" y="384048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74536" y="411480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74536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96328" y="40965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fita é a mais viva do baixo da pirâmide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74536" y="47091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LTO-10 a 40 TB nativos, roadmap até 365 TB, US$ 5–10/TB. Para retenção legal e air gap, não há substituto.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598932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metodológico: fabricantes publicam cada vez menos parâmetros de latência. Um trabalho equivalente feito em 2014 teria mais dados disponíveis do que este, feito em 2026.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POST-MORTEM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como usamos a IA e o que decidimos nós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0976" y="17922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que determinaram o conteúdo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2121408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“marque o que é datasheet, o que é medição e o que é estimativa; se não encontrar, diga.”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“distinga Gb/s de GB/s e cite a codificação de linha.”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— “verifique se ‘SATA = NL-SAS’ é correto.”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— “liste o que você NÃO conseguiu encontrar.”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— “verificador adversarial: não confirme nada por plausibilidade; ordene por gravidade o que derrubaria o trabalho.”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27632"/>
            <a:ext cx="5276088" cy="2286000"/>
          </a:xfrm>
          <a:prstGeom prst="roundRect">
            <a:avLst>
              <a:gd name="adj" fmla="val 24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6248" y="17922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 — quem decidiu o quê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56248" y="2121408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[INT. 1] — coordenação; decidiu adotar faixas em vez de valores pontuais.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[INT. 2] — fundamentos; decidiu articular os dois livros-texto.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[INT. 3] — Tabela 16.1; decidiu a convenção binária/decimal e as linhas novas.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[INT. 4] — interfaces; decidiu usar taxa por direção no FC; detectou o erro do NL-SAS.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[INT. 5] — gerente de armazenamento e Post-Mortem.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4069080"/>
            <a:ext cx="10874959" cy="1965960"/>
          </a:xfrm>
          <a:prstGeom prst="roundRect">
            <a:avLst>
              <a:gd name="adj" fmla="val 2791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4128" y="4224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lições sobre o uso de IA neste tipo de trabalho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4535424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Exigir a origem de cada número é o que torna o trabalho auditável.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as lacunas explicitamente é tão importante quanto pedir os dados.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reproduz premissas erradas contidas no próprio pedido — o erro do NL-SAS só apareceu porque perguntamos.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longas contêm contradições internas; só a leitura cruzada as revela.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conclusões estruturais não vieram prontas: resultaram de comparar tabelas produzidas separadamente.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segunda IA, instruída a ATACAR o texto, achou 5 erros graves que a IA autora não viu — a lição que levamos.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POST-MORTEM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os 21 erros e as correções aplicadas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81328"/>
          <a:ext cx="10874959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3840480"/>
                <a:gridCol w="637336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 gerado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 aplicada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Reportou 64GFC como 12.800 MB/s sem qualificar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Identificada a convenção full-duplex da FCIA; adotada a taxa por direção (6.400 MB/s)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Ecoou a afirmação do enunciado de que SATA = NL-SAS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 dirigida; erro documentado com tabela comparativa e consequência prática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Apresentou o seek time do Exos M como dado de datasheet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Seagate removeu o dado; remarcado como estimativa somada à latência rotacional publicada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Apresentou throughput de tape library como spec de fabricante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Nem IBM nem Quantum publicam; reclassificado como derivação nossa e teto teórico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“Roadmap do LTO até 913 TB nativos no LTO-14”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FALSO em dobro: 913 TB é comprimido (365 × 2,5); o nativo é 365 TB, e o roadmap mudou em nov/2025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Atribuiu ≈140 ns de latência ao módulo CXL Samsung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fonte: a Samsung não publica. Medições revisadas por pares dão 214–271 ns — reforça nossa tese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SSD/HDD como “≈16× em 2026”, sem trimestre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Volátil: 7× no 3T25, 23× no 1T26, 16× no 2T26 e 18,6× em 05/09/2026. Razão sem data não é dado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Janelas erradas na alta do HDD e do NAND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HDD: 46% em quatro meses (não seis). NAND: 5× a partir de out/2025 (não ago)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resumo dizia “39 variantes” de interface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tabela tinha 49 linhas e passou a 56 com os fatores de forma e os HBA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E18–E21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Quatro erros de RÓTULO: o número certo descrevendo outra coisa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QoS do Solidigm como latência típica · P99,99 da WD como média · capacidades misturadas do 9100 PRO · ciclos do Zen 5 como dado, sendo derivação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797296"/>
            <a:ext cx="108749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laranja: os achados da rodada de verificação adversarial (Seção 9.5) — uma segunda IA instruída a derrubar o trabalho. Os 21 erros e quem detectou cada um estão na Seção 9.4, e o quadro completo no backup B4. Também documentamos uma imprecisão do próprio Silberschatz (§12.2: “6 gigabytes per second” para o SATA-3).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levamos ao debate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746504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1691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custo do otimizador deveria ser calibrado automaticamente, em vez de depender de um administrador que talvez não saiba que random_page_cost existe?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26060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2551176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sentido continuar ensinando o modelo de I/O por contagem de blocos, ou o modelo de 2026 seria latência × profundidade de fila?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465576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34107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morte do Optane foi falha de mercado ou de tecnologia — e o que impede que a lacuna seja reaberta indefinidamente?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4325112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427024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CXL viabilizar buffer pools de dezenas de terabytes, o que muda num SGBD que hoje assume que os dados não cabem na memória?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" y="5184648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5129784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formalismo de otimização de consultas que otimize percentil (P99) em vez de custo esperado?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58368" y="5943600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60533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  ·  Documento completo, com as tabelas integrais e o Post-Mortem, entregue em PDF.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651760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61188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 dos dados · derivações aritméticas · fatores de forma e HBA · registro completo de erros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PROVENIÊNCIA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vem cada número da Tabela 16.1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91056"/>
          <a:ext cx="10874959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965960"/>
                <a:gridCol w="6391656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 origem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aparece na tabela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Datasheet do fabricante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marcação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Capacidades e taxas do 9100 PRO, 870 EVO, D5-P5336, 9550 PRO, DT Max, Exos M; latência rotacional de 4,16 ms; taxas nativas do LTO-9 e LTO-10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publicada por terceiro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Citada no texto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 TB/s de L3 do Zen 5 (Chips and Cheese); 214–271 ns do CXL 2.0 (ASPLOS); 41–177 µs do NVMe-oF (Western Digital)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Derivação nossa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 explicitada na nota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Preço/KB; 51,2 GB/s por módulo DDR5-6400; 51,2 GB/s da library; 926,8 PB (23.170 × 40 TB); 2,317 EB só no cenário 2,5:1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Estimativa de ordem de grandeza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Marcada com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≈50 µs do SSD de consumo; ≈8,5 ms de busca do HDD; ≈0,1–0,5 ms do pen drive; ≈150–250 ms do leitor óptico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encontrado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de módulo CXL e de tape library (só sob cotação); banda agregada do MD220; velocidade de leitura do M-DISC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541264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que adotamos: nenhuma célula fica sem origem declarada, e “não encontramos” é resposta aceitável — preencher com estimativa não rastreável é o que este trabalho critica. As dez lacunas estão na Nota N10 do documento.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B1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DERIVAÇÕES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contas, por extenso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099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KB (SRAM)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172968" y="17099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US$ 199 ÷ 65.536 KiB = 3,04×10⁻³ /KB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entre 9950X3D2 (192 MB L3, US$ 899) e 9950X3D (128 MB, US$ 700)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81928" y="1627632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9672" y="17099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topo/base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796528" y="17099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3,04×10⁻³ ÷ 4,89×10⁻⁹ = 621.000×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 contra cartucho LTO-9 (US$ 87,99 ÷ 1,8×10¹⁰ KB)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" y="2523744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rotacional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172968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÷ 7.200 ÷ 2 = 4,16 ms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077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rotação a 7.200 rpm — publicado pela Seagate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81928" y="2523744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967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Varredura de disco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96528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TB ÷ 285 MB/s = 31,2 h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29077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8 TB ÷ 200 MB/s = 11,1 h em 2014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8368" y="3419856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96112" y="3502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3.0 útil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172968" y="35021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6,0 Gb/s × 8/10 ÷ 8 = 600 MB/s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8039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8b/10b, 80% de eficiência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81928" y="3419856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19672" y="3502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5.0 ×4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35021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GT/s × 4 × 128/130 ÷ 8 = 15,754 GB/s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38039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128b/130b, 98,46%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" y="4315968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96112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SAS-4 útil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172968" y="43982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22,5 Gb/s × 128/150 ÷ 8 = 2.400 MB/s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7000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“24G” é marca; a taxa é 22,5 Gb/s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81928" y="4315968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19672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ilustrativo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43982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÷ latência do fsync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519672" y="47000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group commit, cache protegido, fila e CPU; não é throughput previsto do SGBD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58368" y="5212080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6112" y="5294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DDR5-6000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3172968" y="52943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6.000 MT/s × 8 B × 2 canais = 96 GB/s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96112" y="5596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canais no kit de desktop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81928" y="5212080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19672" y="5294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L3 do Zen 5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8796528" y="52943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(46,5 + 4) ÷ 5,6 GHz = 9,02 ns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519672" y="5596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 GHz é o boost oficial; ciclos continuam sendo derivação, não especificação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B2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M.2, U.2, EDSFF, HBA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Fatores de forma e HBA — o que não é protocolo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200"/>
          <a:ext cx="1087495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188720"/>
                <a:gridCol w="2194560"/>
                <a:gridCol w="373989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forma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Hot-swap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Tensão / potência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2280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 (M-key)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 V — 8 a 11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Boot, cliente, cache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U.2 (SFF-8639)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Servidor, gaveta frontal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U.3 (SFF-TA-1001)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Baia tri-modo: SAS, SATA ou NVMe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E1.S / E1.L (EDSFF)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16 a 40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1U; E1.L é a “régua” de 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E3.S / E3.S 2T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 ou ×8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a 70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Sucessor do U.2; o 2T aceita módulo CXL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4041648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EDSFF está substituindo o U.2: SSDs PCIe 5.0/6.0 passam de 25 W e a lata de 2,5 polegadas não dissipa. O M.2, além de não ter hot-swap, só tem 3,3 V.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58368" y="4498848"/>
            <a:ext cx="10874959" cy="1600200"/>
          </a:xfrm>
          <a:prstGeom prst="roundRect">
            <a:avLst>
              <a:gd name="adj" fmla="val 342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4128" y="4663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 não é interface nem protocolo — é o adaptador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024128" y="4974336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 em modo IT expõe os discos crus ao SO, sem cache nem metadados de RAID — é o que ZFS, Ceph e réplica por software exigem. Em modo RAID, faz RAID em hardware com cache protegido.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Armadilha de durabilidade: HBA RAID com cache NÃO protegido por bateria pode confirmar um fsync antes da persistência. O SGBD acredita ter cumprido a durabilidade; a queda de energia prova o contrário.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B3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REGISTRO COMPLETO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os 21 erros, em uma página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09344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7373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grupo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a E12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32257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Detectados ao reproduzir contas, cruzar seções e conferir datasheets. Predominam erros de atribuição de origem.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968496" y="1755648"/>
            <a:ext cx="74980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proxy de preço da SRAM · E2 convenção binária/decimal · E3 Optane mantido na tabela · E4 cronologia do LTO-10 · E5 64GFC em full-duplex · E6 SAS-4 como “24 Gb/s” · E7 SATA = NL-SAS · E8 seek time do Exos M · E9 preço de DRAM contraditório · E10 throughput de tape library · E11 leitura = escrita sem verificar · E12 estimativa com cara de dado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" y="3026664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1546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adversarial — conteúdo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447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E13 a E17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7398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Sobreviveram à revisão da IA autora e caíram na 1ª passagem de um verificador instruído a atacar o texto.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968496" y="3172968"/>
            <a:ext cx="74980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E13 LTO-14 com 913 TB “nativos” (são 365; 913 é comprimido, e o roadmap mudou em nov/2025) · E14 latência de 140 ns do CXL sem fonte (medido: 214–271 ns) · E15 razão SSD/HDD sem trimestre · E16 janelas erradas de HDD e NAND · E17 contagem de interfaces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4572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adversarial — rótulo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48646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E18 a E21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51572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mais insidiosos: o número existe e resiste a uma busca — apenas não significa o que o texto dizia.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968496" y="4590288"/>
            <a:ext cx="74980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E18 QoS de percentil do Solidigm citado como latência típica · E19 números da Western Digital como média, sendo P99,99 · E20 capacidades misturadas do Samsung 9100 PRO · E21 ciclos de cache do Zen 5 como dado publicado, sendo derivação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907024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documentamos um erro que não foi da IA: o próprio Silberschatz (§12.2) escreve “6 gigabytes per second” para o SATA-3 — são 6 gigabits. A verificação contra fonte primária é necessária independentemente de quem escreveu o texto.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Dispositivos de Armazenamento Fisico para SBD</dc:title>
  <dc:subject>PptxGenJS Presentation</dc:subject>
  <dc:creator>Grupo CBD/UFRJ</dc:creator>
  <cp:lastModifiedBy>Grupo CBD/UFRJ</cp:lastModifiedBy>
  <cp:revision>1</cp:revision>
  <dcterms:created xsi:type="dcterms:W3CDTF">2026-09-05T22:16:52Z</dcterms:created>
  <dcterms:modified xsi:type="dcterms:W3CDTF">2026-09-05T22:16:52Z</dcterms:modified>
</cp:coreProperties>
</file>