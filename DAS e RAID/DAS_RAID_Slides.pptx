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fa74facb84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fa74facb84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fa74facb84_0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a74facb84_0_483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fa74facb84_0_483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fa74facb84_0_483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fa74facb84_0_4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fa74facb84_0_483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fa74facb84_0_4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9" name="Google Shape;68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0" name="Google Shape;73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a74facb84_56_0)">
  <p:cSld name="Generated (g3fa74facb84_56_0)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B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10241280" y="-1188720"/>
            <a:ext cx="3108960" cy="3108960"/>
          </a:xfrm>
          <a:prstGeom prst="ellipse">
            <a:avLst/>
          </a:prstGeom>
          <a:solidFill>
            <a:srgbClr val="415A7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11247120" y="182880"/>
            <a:ext cx="1737360" cy="1737360"/>
          </a:xfrm>
          <a:prstGeom prst="ellipse">
            <a:avLst/>
          </a:prstGeom>
          <a:solidFill>
            <a:srgbClr val="E9C46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BANCO DE DADOS — UFRJ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 txBox="1"/>
          <p:nvPr/>
        </p:nvSpPr>
        <p:spPr>
          <a:xfrm>
            <a:off x="640080" y="228600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Armazenamento Físico para SBD: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 txBox="1"/>
          <p:nvPr/>
        </p:nvSpPr>
        <p:spPr>
          <a:xfrm>
            <a:off x="640080" y="288036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DAS e Arquiteturas RAID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 txBox="1"/>
          <p:nvPr/>
        </p:nvSpPr>
        <p:spPr>
          <a:xfrm>
            <a:off x="640080" y="361188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Interfaces DAS (SATA, eSATA, SAS, FireWire, USB 3/4, HBA) e Níveis de RAID Padrão e Não Padrão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640080" y="5700000"/>
            <a:ext cx="9144000" cy="1050000"/>
          </a:xfrm>
          <a:prstGeom prst="rect">
            <a:avLst/>
          </a:prstGeom>
          <a:noFill/>
          <a:ln>
            <a:noFill/>
          </a:ln>
        </p:spPr>
        <p:txBody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1200"/>
              <a:buFont typeface="Calibri"/>
              <a:buNone/>
            </a:pPr>
            <a:r>
              <a:rPr b="0" i="0" lang="en-US" sz="11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Bernardo Brandão Pozzato Carvalho Costa — DRE 123289593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1200"/>
              <a:buFont typeface="Calibri"/>
              <a:buNone/>
            </a:pPr>
            <a:r>
              <a:rPr b="0" i="0" lang="en-US" sz="11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Enzo de Carvalho Sampaio — DRE 123386206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1200"/>
              <a:buFont typeface="Calibri"/>
              <a:buNone/>
            </a:pPr>
            <a:r>
              <a:rPr b="0" i="0" lang="en-US" sz="11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Gabriel Schmitz Corrêa Rizawinsk — DRE 123225573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1200"/>
              <a:buFont typeface="Calibri"/>
              <a:buNone/>
            </a:pPr>
            <a:r>
              <a:rPr b="0" i="0" lang="en-US" sz="11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Guilherme En Shih Hu — DRE 123224674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1200"/>
              <a:buFont typeface="Calibri"/>
              <a:buNone/>
            </a:pPr>
            <a:r>
              <a:rPr b="0" i="0" lang="en-US" sz="11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Raphael Henrique da Silva Pereira — DRE 123311073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1200"/>
              <a:buFont typeface="Calibri"/>
              <a:buNone/>
            </a:pPr>
            <a:r>
              <a:rPr b="0" i="0" lang="en-US" sz="11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Vivian Maria da Silva e Souza — DRE 123205793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/>
        </p:nvSpPr>
        <p:spPr>
          <a:xfrm>
            <a:off x="457200" y="320040"/>
            <a:ext cx="11247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Sumário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 txBox="1"/>
          <p:nvPr/>
        </p:nvSpPr>
        <p:spPr>
          <a:xfrm>
            <a:off x="1261872" y="1353312"/>
            <a:ext cx="49377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DAS: Conceito e Arquiteturas (DAS, NAS, SAN)</a:t>
            </a:r>
            <a:endParaRPr b="0" sz="150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640080" y="2228850"/>
            <a:ext cx="457200" cy="45720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 txBox="1"/>
          <p:nvPr/>
        </p:nvSpPr>
        <p:spPr>
          <a:xfrm>
            <a:off x="640080" y="222885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 txBox="1"/>
          <p:nvPr/>
        </p:nvSpPr>
        <p:spPr>
          <a:xfrm>
            <a:off x="1261872" y="2210562"/>
            <a:ext cx="49377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Interfaces de Conexão (SATA, SAS, USB4, HBA)</a:t>
            </a:r>
            <a:endParaRPr b="0" sz="150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640080" y="3086100"/>
            <a:ext cx="457200" cy="45720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40080" y="308610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1261872" y="3067812"/>
            <a:ext cx="49377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RAID: Paralelismo e Redundância</a:t>
            </a:r>
            <a:endParaRPr b="0" sz="150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640080" y="3943350"/>
            <a:ext cx="457200" cy="45720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 txBox="1"/>
          <p:nvPr/>
        </p:nvSpPr>
        <p:spPr>
          <a:xfrm>
            <a:off x="640080" y="394335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1261872" y="3925062"/>
            <a:ext cx="49377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Organização (Striping, Mirroring, Paridad</a:t>
            </a:r>
            <a:r>
              <a:rPr lang="en-US" sz="15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lang="en-US" sz="15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sz="150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 txBox="1"/>
          <p:nvPr/>
        </p:nvSpPr>
        <p:spPr>
          <a:xfrm>
            <a:off x="630936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 txBox="1"/>
          <p:nvPr/>
        </p:nvSpPr>
        <p:spPr>
          <a:xfrm>
            <a:off x="6931152" y="1353312"/>
            <a:ext cx="49377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Métricas de Confiabilidade (MTTF, MTBF, MTTR, MTTDL)</a:t>
            </a:r>
            <a:endParaRPr b="0" sz="150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6309360" y="2228850"/>
            <a:ext cx="457200" cy="45720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 txBox="1"/>
          <p:nvPr/>
        </p:nvSpPr>
        <p:spPr>
          <a:xfrm>
            <a:off x="6309360" y="222885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sz="160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 txBox="1"/>
          <p:nvPr/>
        </p:nvSpPr>
        <p:spPr>
          <a:xfrm>
            <a:off x="6931152" y="2210562"/>
            <a:ext cx="49377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Níveis Padrão de RAID (0 a 6, 0+1, 10)</a:t>
            </a:r>
            <a:endParaRPr b="0" sz="150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6309360" y="3086100"/>
            <a:ext cx="457200" cy="45720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 txBox="1"/>
          <p:nvPr/>
        </p:nvSpPr>
        <p:spPr>
          <a:xfrm>
            <a:off x="6309360" y="3086100"/>
            <a:ext cx="457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1" sz="160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6931152" y="3067812"/>
            <a:ext cx="49377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Níveis Não Padrão (RAID 1.5, 7, DP, S, Matrix, RAID-Z)</a:t>
            </a:r>
            <a:endParaRPr b="0" sz="150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457200" y="6528816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309360" y="3943350"/>
            <a:ext cx="457200" cy="45720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 txBox="1"/>
          <p:nvPr/>
        </p:nvSpPr>
        <p:spPr>
          <a:xfrm>
            <a:off x="11338560" y="6528816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" name="Google Shape;54;p5"/>
          <p:cNvGrpSpPr/>
          <p:nvPr/>
        </p:nvGrpSpPr>
        <p:grpSpPr>
          <a:xfrm>
            <a:off x="6309360" y="3943350"/>
            <a:ext cx="457200" cy="457200"/>
            <a:chOff x="0" y="0"/>
            <a:chExt cx="457200" cy="457200"/>
          </a:xfrm>
        </p:grpSpPr>
        <p:sp>
          <p:nvSpPr>
            <p:cNvPr id="55" name="Google Shape;55;p5"/>
            <p:cNvSpPr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5"/>
            <p:cNvSpPr txBox="1"/>
            <p:nvPr/>
          </p:nvSpPr>
          <p:spPr>
            <a:xfrm>
              <a:off x="0" y="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 b="1" sz="16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" name="Google Shape;57;p5"/>
          <p:cNvGrpSpPr/>
          <p:nvPr/>
        </p:nvGrpSpPr>
        <p:grpSpPr>
          <a:xfrm>
            <a:off x="6931152" y="3925062"/>
            <a:ext cx="4937700" cy="502800"/>
            <a:chOff x="0" y="0"/>
            <a:chExt cx="4937700" cy="502800"/>
          </a:xfrm>
        </p:grpSpPr>
        <p:sp>
          <p:nvSpPr>
            <p:cNvPr id="58" name="Google Shape;58;p5"/>
            <p:cNvSpPr/>
            <p:nvPr/>
          </p:nvSpPr>
          <p:spPr>
            <a:xfrm>
              <a:off x="0" y="0"/>
              <a:ext cx="49377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5"/>
            <p:cNvSpPr txBox="1"/>
            <p:nvPr/>
          </p:nvSpPr>
          <p:spPr>
            <a:xfrm>
              <a:off x="0" y="0"/>
              <a:ext cx="49377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Recomendações, Conclusão e Post-Mortem</a:t>
              </a:r>
              <a:endParaRPr b="0" sz="15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O que é Direct Attached Storage (DAS)?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548640" y="1280160"/>
            <a:ext cx="5760720" cy="4937760"/>
          </a:xfrm>
          <a:prstGeom prst="roundRect">
            <a:avLst>
              <a:gd fmla="val 1481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 txBox="1"/>
          <p:nvPr/>
        </p:nvSpPr>
        <p:spPr>
          <a:xfrm>
            <a:off x="822960" y="15087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Definição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822960" y="1920240"/>
            <a:ext cx="5212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Arquitetura em que um ou mais discos — ou um arranjo RAID de discos — estão conectados diretamente a um único servidor, por uma interface local (SATA, SAS, USB, ou um HBA), sem passar por uma rede de armazenamento dedicada.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 txBox="1"/>
          <p:nvPr/>
        </p:nvSpPr>
        <p:spPr>
          <a:xfrm>
            <a:off x="822960" y="342900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Vantagens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 txBox="1"/>
          <p:nvPr/>
        </p:nvSpPr>
        <p:spPr>
          <a:xfrm>
            <a:off x="822960" y="3749040"/>
            <a:ext cx="5212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•  Menor latência (sem overhead de rede)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•  Simplicidade de implantação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•  Menor custo para servidores isolados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 txBox="1"/>
          <p:nvPr/>
        </p:nvSpPr>
        <p:spPr>
          <a:xfrm>
            <a:off x="822960" y="470916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Limitações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822960" y="5029200"/>
            <a:ext cx="5212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•  Difícil compartilhar entre múltiplos servidores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•  Escalabilidade limitada às baias/portas do host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6583680" y="1280160"/>
            <a:ext cx="5029200" cy="1508760"/>
          </a:xfrm>
          <a:prstGeom prst="roundRect">
            <a:avLst>
              <a:gd fmla="val 4848" name="adj"/>
            </a:avLst>
          </a:prstGeom>
          <a:solidFill>
            <a:srgbClr val="415A77"/>
          </a:solidFill>
          <a:ln cap="flat" cmpd="sng" w="12700">
            <a:solidFill>
              <a:srgbClr val="415A7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 txBox="1"/>
          <p:nvPr/>
        </p:nvSpPr>
        <p:spPr>
          <a:xfrm>
            <a:off x="6858000" y="141732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DAS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 txBox="1"/>
          <p:nvPr/>
        </p:nvSpPr>
        <p:spPr>
          <a:xfrm>
            <a:off x="6858000" y="1810512"/>
            <a:ext cx="4480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Discos ligados direto ao host, acesso em bloco, sem rede.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6583680" y="2990088"/>
            <a:ext cx="502920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 txBox="1"/>
          <p:nvPr/>
        </p:nvSpPr>
        <p:spPr>
          <a:xfrm>
            <a:off x="6858000" y="312724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NAS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 txBox="1"/>
          <p:nvPr/>
        </p:nvSpPr>
        <p:spPr>
          <a:xfrm>
            <a:off x="6858000" y="3520440"/>
            <a:ext cx="4480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Storage em rede (Ethernet/IP), acesso em nível de arquivo (NFS/SMB).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583680" y="4700016"/>
            <a:ext cx="502920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 txBox="1"/>
          <p:nvPr/>
        </p:nvSpPr>
        <p:spPr>
          <a:xfrm>
            <a:off x="6858000" y="4837176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SAN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6858000" y="5230368"/>
            <a:ext cx="4480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Rede dedicada (Fibre Channel/iSCSI) de storage em bloco, compartilhado entre hosts.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Interfaces DAS — SATA, eSATA e SAS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548640" y="1417320"/>
            <a:ext cx="3520440" cy="466344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 txBox="1"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 txBox="1"/>
          <p:nvPr/>
        </p:nvSpPr>
        <p:spPr>
          <a:xfrm>
            <a:off x="822960" y="242316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SATA 6 Gb/s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 txBox="1"/>
          <p:nvPr/>
        </p:nvSpPr>
        <p:spPr>
          <a:xfrm>
            <a:off x="822960" y="283464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6 Gbps (≈600 MB/s)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 txBox="1"/>
          <p:nvPr/>
        </p:nvSpPr>
        <p:spPr>
          <a:xfrm>
            <a:off x="822960" y="3291840"/>
            <a:ext cx="2971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Interface serial ponto a ponto, padrão em desktops e servidores de entrada. NCQ até 32 comandos. "SATA I/II/III" são nomes informais que a SATA-IO recomenda evitar.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822960" y="5440680"/>
            <a:ext cx="2971800" cy="384048"/>
          </a:xfrm>
          <a:prstGeom prst="roundRect">
            <a:avLst>
              <a:gd fmla="val 1904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 txBox="1"/>
          <p:nvPr/>
        </p:nvSpPr>
        <p:spPr>
          <a:xfrm>
            <a:off x="822960" y="5440680"/>
            <a:ext cx="2971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Custo-benefício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4389120" y="1417320"/>
            <a:ext cx="3520440" cy="466344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4663440" y="1691640"/>
            <a:ext cx="548640" cy="54864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 txBox="1"/>
          <p:nvPr/>
        </p:nvSpPr>
        <p:spPr>
          <a:xfrm>
            <a:off x="4663440" y="16916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4663440" y="242316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eSATA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4663440" y="283464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Até 6 Gb/s (conforme a revisão)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4663440" y="3291840"/>
            <a:ext cx="2971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Variante externa do SATA, mesmo protocolo do host/dispositivo. Sem fornecimento de energia — hoje em declínio frente ao USB.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663440" y="5440680"/>
            <a:ext cx="2971800" cy="384048"/>
          </a:xfrm>
          <a:prstGeom prst="roundRect">
            <a:avLst>
              <a:gd fmla="val 19048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 txBox="1"/>
          <p:nvPr/>
        </p:nvSpPr>
        <p:spPr>
          <a:xfrm>
            <a:off x="4663440" y="5440680"/>
            <a:ext cx="2971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Legado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8229600" y="1417320"/>
            <a:ext cx="3520440" cy="4663440"/>
          </a:xfrm>
          <a:prstGeom prst="roundRect">
            <a:avLst>
              <a:gd fmla="val 2078" name="adj"/>
            </a:avLst>
          </a:prstGeom>
          <a:solidFill>
            <a:srgbClr val="415A77"/>
          </a:solidFill>
          <a:ln cap="flat" cmpd="sng" w="12700">
            <a:solidFill>
              <a:srgbClr val="415A7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8503920" y="1691640"/>
            <a:ext cx="548640" cy="54864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 txBox="1"/>
          <p:nvPr/>
        </p:nvSpPr>
        <p:spPr>
          <a:xfrm>
            <a:off x="8503920" y="16916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 txBox="1"/>
          <p:nvPr/>
        </p:nvSpPr>
        <p:spPr>
          <a:xfrm>
            <a:off x="8503920" y="2423160"/>
            <a:ext cx="2971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SAS-4 (24G)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 txBox="1"/>
          <p:nvPr/>
        </p:nvSpPr>
        <p:spPr>
          <a:xfrm>
            <a:off x="8503920" y="283464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22,5 Gbaud (≈2.400 MB/s)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 txBox="1"/>
          <p:nvPr/>
        </p:nvSpPr>
        <p:spPr>
          <a:xfrm>
            <a:off x="8503920" y="3291840"/>
            <a:ext cx="2971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Classe empresarial: dual-port, multi-iniciador via expansores, fila mais profunda que o NCQ do SATA (até 254, a depender da controladora). Padrão INCITS 534-2019.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8503920" y="5440680"/>
            <a:ext cx="2971800" cy="384048"/>
          </a:xfrm>
          <a:prstGeom prst="roundRect">
            <a:avLst>
              <a:gd fmla="val 19048" name="adj"/>
            </a:avLst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 txBox="1"/>
          <p:nvPr/>
        </p:nvSpPr>
        <p:spPr>
          <a:xfrm>
            <a:off x="8503920" y="5440680"/>
            <a:ext cx="2971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Padrão em SBD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Interfaces DAS — FireWire, USB e HBA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548640" y="1417320"/>
            <a:ext cx="3520440" cy="466344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 txBox="1"/>
          <p:nvPr/>
        </p:nvSpPr>
        <p:spPr>
          <a:xfrm>
            <a:off x="822960" y="16916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822960" y="2423160"/>
            <a:ext cx="2971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FireWire (IEEE 1394)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822960" y="301752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400 / 800 Mbps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822960" y="3474720"/>
            <a:ext cx="2971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Peer-to-peer, encadeável. Interface legada, praticamente descontinuada nos equipamentos atuais.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4389120" y="1417320"/>
            <a:ext cx="3520440" cy="4663440"/>
          </a:xfrm>
          <a:prstGeom prst="roundRect">
            <a:avLst>
              <a:gd fmla="val 2078" name="adj"/>
            </a:avLst>
          </a:prstGeom>
          <a:solidFill>
            <a:srgbClr val="415A77"/>
          </a:solidFill>
          <a:ln cap="flat" cmpd="sng" w="12700">
            <a:solidFill>
              <a:srgbClr val="415A7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4663440" y="1691640"/>
            <a:ext cx="548640" cy="54864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 txBox="1"/>
          <p:nvPr/>
        </p:nvSpPr>
        <p:spPr>
          <a:xfrm>
            <a:off x="4663440" y="16916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4663440" y="2423160"/>
            <a:ext cx="2971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USB 3 e USB4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4663440" y="301752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Até 80 Gb/s agregados (USB4 v2.0)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4663440" y="3474720"/>
            <a:ext cx="2971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Host-cêntrica. USB4 Versão 2.0 (2022) eleva a banda agregada a 80 Gb/s simétricos, com modo assimétrico opcional de 120/40 Gb/s via PAM3. Tunelamento de PCIe depende da implementação.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8229600" y="1417320"/>
            <a:ext cx="3520440" cy="466344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8503920" y="1691640"/>
            <a:ext cx="548640" cy="548640"/>
          </a:xfrm>
          <a:prstGeom prst="ellipse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 txBox="1"/>
          <p:nvPr/>
        </p:nvSpPr>
        <p:spPr>
          <a:xfrm>
            <a:off x="8503920" y="16916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8503920" y="2423160"/>
            <a:ext cx="2971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HBA (Host Bus Adapter)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8503920" y="3017520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Controladora PCIe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8503920" y="3474720"/>
            <a:ext cx="29718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Ponte entre o barramento do host e SAS/SATA. Modo passthrough expõe cada disco (apresentação às vezes chamada JBOD, que não é sinônimo de HBA) ou controladora RAID de hardware com cache/BBU.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RAID: Paralelismo x Redundância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Todo nível de RAID equilibra dois objetivos que competem pelos mesmos discos físicos: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548640" y="1600200"/>
            <a:ext cx="5394960" cy="4206240"/>
          </a:xfrm>
          <a:prstGeom prst="roundRect">
            <a:avLst>
              <a:gd fmla="val 1739" name="adj"/>
            </a:avLst>
          </a:prstGeom>
          <a:solidFill>
            <a:srgbClr val="415A77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 txBox="1"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Paralelismo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822960" y="224028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Desempenho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822960" y="2697480"/>
            <a:ext cx="48463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Distribuir leituras e escritas entre vários discos para que trabalhem simultaneamente sobre uma mesma requisição, obtido via striping.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Ganho teórico de até N× na taxa de transferência com N discos.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263640" y="1600200"/>
            <a:ext cx="5394960" cy="420624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E9C46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 txBox="1"/>
          <p:nvPr/>
        </p:nvSpPr>
        <p:spPr>
          <a:xfrm>
            <a:off x="6537960" y="18288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Redundância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6537960" y="224028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Disponibilidade e confiabilidade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6537960" y="2697480"/>
            <a:ext cx="48463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Armazenar cópias (mirroring) ou paridade para que a falha de 1 ou 2 discos não cause perda de dados nem interrupção do serviço.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Sem redundância, o MTTF do arranjo cai ao aumentar o nº de discos (striping puro).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Mirroring, Shadowing e Paridade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 txBox="1"/>
          <p:nvPr/>
        </p:nvSpPr>
        <p:spPr>
          <a:xfrm>
            <a:off x="548640" y="114300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Mirroring (espelhamento)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1188720" y="1828800"/>
            <a:ext cx="1188720" cy="50292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 txBox="1"/>
          <p:nvPr/>
        </p:nvSpPr>
        <p:spPr>
          <a:xfrm>
            <a:off x="1188720" y="182880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1188720" y="2331720"/>
            <a:ext cx="1188720" cy="50292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 txBox="1"/>
          <p:nvPr/>
        </p:nvSpPr>
        <p:spPr>
          <a:xfrm>
            <a:off x="1188720" y="233172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1188720" y="2834640"/>
            <a:ext cx="1188720" cy="50292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 txBox="1"/>
          <p:nvPr/>
        </p:nvSpPr>
        <p:spPr>
          <a:xfrm>
            <a:off x="1188720" y="283464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1188720" y="341071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3200400" y="1828800"/>
            <a:ext cx="1188720" cy="50292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 txBox="1"/>
          <p:nvPr/>
        </p:nvSpPr>
        <p:spPr>
          <a:xfrm>
            <a:off x="3200400" y="182880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3200400" y="2331720"/>
            <a:ext cx="1188720" cy="50292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 txBox="1"/>
          <p:nvPr/>
        </p:nvSpPr>
        <p:spPr>
          <a:xfrm>
            <a:off x="3200400" y="233172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3200400" y="2834640"/>
            <a:ext cx="1188720" cy="50292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 txBox="1"/>
          <p:nvPr/>
        </p:nvSpPr>
        <p:spPr>
          <a:xfrm>
            <a:off x="3200400" y="283464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3200400" y="341071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 txBox="1"/>
          <p:nvPr/>
        </p:nvSpPr>
        <p:spPr>
          <a:xfrm>
            <a:off x="2377440" y="1828800"/>
            <a:ext cx="8229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9A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99A2E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 txBox="1"/>
          <p:nvPr/>
        </p:nvSpPr>
        <p:spPr>
          <a:xfrm>
            <a:off x="548640" y="4023360"/>
            <a:ext cx="53035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Toda escrita é replicada integralmente em 2 discos; leituras podem ser divididas entre as cópias. "Shadowing" é termo histórico (ex.: Tandem NonStop) equivalente a mirroring — mesma técnica, nomes diferentes.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10"/>
          <p:cNvCxnSpPr/>
          <p:nvPr/>
        </p:nvCxnSpPr>
        <p:spPr>
          <a:xfrm>
            <a:off x="6080760" y="1188720"/>
            <a:ext cx="0" cy="5120640"/>
          </a:xfrm>
          <a:prstGeom prst="straightConnector1">
            <a:avLst/>
          </a:prstGeom>
          <a:noFill/>
          <a:ln cap="flat" cmpd="sng" w="1905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10"/>
          <p:cNvSpPr txBox="1"/>
          <p:nvPr/>
        </p:nvSpPr>
        <p:spPr>
          <a:xfrm>
            <a:off x="6355080" y="114300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Paridade (XOR)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6629400" y="1920240"/>
            <a:ext cx="822960" cy="50292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 txBox="1"/>
          <p:nvPr/>
        </p:nvSpPr>
        <p:spPr>
          <a:xfrm>
            <a:off x="6629400" y="192024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7589520" y="1920240"/>
            <a:ext cx="822960" cy="50292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 txBox="1"/>
          <p:nvPr/>
        </p:nvSpPr>
        <p:spPr>
          <a:xfrm>
            <a:off x="7589520" y="192024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8549640" y="1920240"/>
            <a:ext cx="822960" cy="50292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 txBox="1"/>
          <p:nvPr/>
        </p:nvSpPr>
        <p:spPr>
          <a:xfrm>
            <a:off x="8549640" y="192024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9418320" y="202996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XOR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9875520" y="1920240"/>
            <a:ext cx="822960" cy="502920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 txBox="1"/>
          <p:nvPr/>
        </p:nvSpPr>
        <p:spPr>
          <a:xfrm>
            <a:off x="9875520" y="1920240"/>
            <a:ext cx="822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6629400" y="249631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 txBox="1"/>
          <p:nvPr/>
        </p:nvSpPr>
        <p:spPr>
          <a:xfrm>
            <a:off x="7589520" y="249631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8549640" y="249631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9875520" y="249631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Paridade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6355080" y="3108960"/>
            <a:ext cx="530352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 = D0 ⊕ D1 ⊕ D2 (XOR). Qualquer disco perdido é recalculado a partir dos demais + paridade.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Mais eficiente em espaço que o mirroring, mas toda escrita pequena exige um ciclo de read-modify-write ("write penalty").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/>
          <p:nvPr/>
        </p:nvSpPr>
        <p:spPr>
          <a:xfrm>
            <a:off x="457200" y="320040"/>
            <a:ext cx="11247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Data Striping: Bit-Level x Block-Level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548640" y="1143000"/>
            <a:ext cx="5303400" cy="36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Bit-level &amp; Byte-level striping</a:t>
            </a:r>
            <a:endParaRPr b="1" sz="1600">
              <a:solidFill>
                <a:srgbClr val="415A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548640" y="1508760"/>
            <a:ext cx="530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Discos em lockstep — cada acesso envolve todos os discos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822960" y="2057400"/>
            <a:ext cx="960000" cy="5028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 txBox="1"/>
          <p:nvPr/>
        </p:nvSpPr>
        <p:spPr>
          <a:xfrm>
            <a:off x="822960" y="2057400"/>
            <a:ext cx="960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bit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 txBox="1"/>
          <p:nvPr/>
        </p:nvSpPr>
        <p:spPr>
          <a:xfrm>
            <a:off x="822960" y="2633472"/>
            <a:ext cx="96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1920240" y="2057400"/>
            <a:ext cx="960000" cy="5028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 txBox="1"/>
          <p:nvPr/>
        </p:nvSpPr>
        <p:spPr>
          <a:xfrm>
            <a:off x="1920240" y="2057400"/>
            <a:ext cx="960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bit 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1920240" y="2633472"/>
            <a:ext cx="96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3017520" y="2057400"/>
            <a:ext cx="960000" cy="5028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"/>
          <p:cNvSpPr txBox="1"/>
          <p:nvPr/>
        </p:nvSpPr>
        <p:spPr>
          <a:xfrm>
            <a:off x="3017520" y="2057400"/>
            <a:ext cx="960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bit 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 txBox="1"/>
          <p:nvPr/>
        </p:nvSpPr>
        <p:spPr>
          <a:xfrm>
            <a:off x="3017520" y="2633472"/>
            <a:ext cx="96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4114800" y="2057400"/>
            <a:ext cx="960000" cy="5028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 txBox="1"/>
          <p:nvPr/>
        </p:nvSpPr>
        <p:spPr>
          <a:xfrm>
            <a:off x="4114800" y="2057400"/>
            <a:ext cx="960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bit 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 txBox="1"/>
          <p:nvPr/>
        </p:nvSpPr>
        <p:spPr>
          <a:xfrm>
            <a:off x="4114800" y="2633472"/>
            <a:ext cx="96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685800" y="1920240"/>
            <a:ext cx="4526400" cy="777300"/>
          </a:xfrm>
          <a:prstGeom prst="rect">
            <a:avLst/>
          </a:prstGeom>
          <a:noFill/>
          <a:ln cap="flat" cmpd="sng" w="25400">
            <a:solidFill>
              <a:srgbClr val="E9C46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 txBox="1"/>
          <p:nvPr/>
        </p:nvSpPr>
        <p:spPr>
          <a:xfrm>
            <a:off x="685800" y="306324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A2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99A2E"/>
                </a:solidFill>
                <a:latin typeface="Calibri"/>
                <a:ea typeface="Calibri"/>
                <a:cs typeface="Calibri"/>
                <a:sym typeface="Calibri"/>
              </a:rPr>
              <a:t>1 stripe = 1 operação lógica (todos os discos)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548640" y="4160520"/>
            <a:ext cx="5303400" cy="173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Maximiza transferência sequencial; ruim para I/O pequeno e aleatório (típico de OLTP), pois não há paralelismo entre requisições independentes.</a:t>
            </a:r>
            <a:endParaRPr b="0" sz="125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Base dos níveis RAID 2 (bit-level) e RAID 3 (bit ou byte-level).</a:t>
            </a:r>
            <a:endParaRPr b="0" sz="125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1" lang="en-US" sz="11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Nota: Nos níveis de bit e byte, a fragmentação é extremamente fina, exigindo que os discos operem fisicamente sincronizados (lockstep) para compor a informação.</a:t>
            </a:r>
            <a:endParaRPr b="0" sz="110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11"/>
          <p:cNvCxnSpPr/>
          <p:nvPr/>
        </p:nvCxnSpPr>
        <p:spPr>
          <a:xfrm>
            <a:off x="6080760" y="1188720"/>
            <a:ext cx="0" cy="5120700"/>
          </a:xfrm>
          <a:prstGeom prst="straightConnector1">
            <a:avLst/>
          </a:prstGeom>
          <a:noFill/>
          <a:ln cap="flat" cmpd="sng" w="1905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11"/>
          <p:cNvSpPr txBox="1"/>
          <p:nvPr/>
        </p:nvSpPr>
        <p:spPr>
          <a:xfrm>
            <a:off x="6355080" y="1143000"/>
            <a:ext cx="530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Block-level striping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6355080" y="1508760"/>
            <a:ext cx="530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Discos independentes — atendem requisições em paralelo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6629400" y="2057400"/>
            <a:ext cx="960000" cy="502800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 txBox="1"/>
          <p:nvPr/>
        </p:nvSpPr>
        <p:spPr>
          <a:xfrm>
            <a:off x="6629400" y="2057400"/>
            <a:ext cx="960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6629400" y="2560320"/>
            <a:ext cx="960000" cy="5028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 txBox="1"/>
          <p:nvPr/>
        </p:nvSpPr>
        <p:spPr>
          <a:xfrm>
            <a:off x="6629400" y="2560320"/>
            <a:ext cx="960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6629400" y="3063240"/>
            <a:ext cx="960000" cy="5028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"/>
          <p:cNvSpPr txBox="1"/>
          <p:nvPr/>
        </p:nvSpPr>
        <p:spPr>
          <a:xfrm>
            <a:off x="6629400" y="3063240"/>
            <a:ext cx="960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 txBox="1"/>
          <p:nvPr/>
        </p:nvSpPr>
        <p:spPr>
          <a:xfrm>
            <a:off x="6629400" y="3639312"/>
            <a:ext cx="96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7726680" y="2057400"/>
            <a:ext cx="960000" cy="502800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 txBox="1"/>
          <p:nvPr/>
        </p:nvSpPr>
        <p:spPr>
          <a:xfrm>
            <a:off x="7726680" y="2057400"/>
            <a:ext cx="960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7726680" y="2560320"/>
            <a:ext cx="960000" cy="5028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 txBox="1"/>
          <p:nvPr/>
        </p:nvSpPr>
        <p:spPr>
          <a:xfrm>
            <a:off x="7726680" y="2560320"/>
            <a:ext cx="960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7726680" y="3063240"/>
            <a:ext cx="960000" cy="5028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 txBox="1"/>
          <p:nvPr/>
        </p:nvSpPr>
        <p:spPr>
          <a:xfrm>
            <a:off x="7726680" y="3063240"/>
            <a:ext cx="960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 txBox="1"/>
          <p:nvPr/>
        </p:nvSpPr>
        <p:spPr>
          <a:xfrm>
            <a:off x="7726680" y="3639312"/>
            <a:ext cx="96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8823960" y="2057400"/>
            <a:ext cx="960000" cy="502800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 txBox="1"/>
          <p:nvPr/>
        </p:nvSpPr>
        <p:spPr>
          <a:xfrm>
            <a:off x="8823960" y="2057400"/>
            <a:ext cx="960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8823960" y="2560320"/>
            <a:ext cx="960000" cy="5028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 txBox="1"/>
          <p:nvPr/>
        </p:nvSpPr>
        <p:spPr>
          <a:xfrm>
            <a:off x="8823960" y="2560320"/>
            <a:ext cx="960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8823960" y="3063240"/>
            <a:ext cx="960000" cy="5028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 txBox="1"/>
          <p:nvPr/>
        </p:nvSpPr>
        <p:spPr>
          <a:xfrm>
            <a:off x="8823960" y="3063240"/>
            <a:ext cx="960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 txBox="1"/>
          <p:nvPr/>
        </p:nvSpPr>
        <p:spPr>
          <a:xfrm>
            <a:off x="8823960" y="3639312"/>
            <a:ext cx="96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9921240" y="2057400"/>
            <a:ext cx="960000" cy="502800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 txBox="1"/>
          <p:nvPr/>
        </p:nvSpPr>
        <p:spPr>
          <a:xfrm>
            <a:off x="9921240" y="2057400"/>
            <a:ext cx="960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A4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9921240" y="2560320"/>
            <a:ext cx="960000" cy="5028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 txBox="1"/>
          <p:nvPr/>
        </p:nvSpPr>
        <p:spPr>
          <a:xfrm>
            <a:off x="9921240" y="2560320"/>
            <a:ext cx="960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9921240" y="3063240"/>
            <a:ext cx="960000" cy="5028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 txBox="1"/>
          <p:nvPr/>
        </p:nvSpPr>
        <p:spPr>
          <a:xfrm>
            <a:off x="9921240" y="3063240"/>
            <a:ext cx="960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 txBox="1"/>
          <p:nvPr/>
        </p:nvSpPr>
        <p:spPr>
          <a:xfrm>
            <a:off x="9921240" y="3639312"/>
            <a:ext cx="960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 txBox="1"/>
          <p:nvPr/>
        </p:nvSpPr>
        <p:spPr>
          <a:xfrm>
            <a:off x="6355080" y="4160520"/>
            <a:ext cx="53034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Cada bloco (chunk) reside inteiramente em um disco; requisições pequenas e independentes podem ser atendidas em paralelo.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Base dos níveis RAID 0, 4, 5, 6, 0+1 e 10.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 txBox="1"/>
          <p:nvPr/>
        </p:nvSpPr>
        <p:spPr>
          <a:xfrm>
            <a:off x="457200" y="6528816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 txBox="1"/>
          <p:nvPr/>
        </p:nvSpPr>
        <p:spPr>
          <a:xfrm>
            <a:off x="11338560" y="6528816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"/>
          <p:cNvSpPr txBox="1"/>
          <p:nvPr/>
        </p:nvSpPr>
        <p:spPr>
          <a:xfrm>
            <a:off x="457200" y="320040"/>
            <a:ext cx="11247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Métricas de Confiabilidade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358140" y="1714500"/>
            <a:ext cx="2697600" cy="3619500"/>
          </a:xfrm>
          <a:prstGeom prst="roundRect">
            <a:avLst>
              <a:gd fmla="val 2711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"/>
          <p:cNvSpPr txBox="1"/>
          <p:nvPr/>
        </p:nvSpPr>
        <p:spPr>
          <a:xfrm>
            <a:off x="541020" y="1943100"/>
            <a:ext cx="23316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MTTF</a:t>
            </a:r>
            <a:endParaRPr b="1" sz="2200">
              <a:solidFill>
                <a:srgbClr val="415A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 txBox="1"/>
          <p:nvPr/>
        </p:nvSpPr>
        <p:spPr>
          <a:xfrm>
            <a:off x="541020" y="2571750"/>
            <a:ext cx="2331600" cy="257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Mean Time To Failure — tempo médio até a 1ª falha de um disco (item não reparado).</a:t>
            </a:r>
            <a:endParaRPr b="0" sz="115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3284220" y="1714500"/>
            <a:ext cx="2697600" cy="3619500"/>
          </a:xfrm>
          <a:prstGeom prst="roundRect">
            <a:avLst>
              <a:gd fmla="val 2711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 txBox="1"/>
          <p:nvPr/>
        </p:nvSpPr>
        <p:spPr>
          <a:xfrm>
            <a:off x="3467100" y="1943100"/>
            <a:ext cx="23316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MTBF</a:t>
            </a:r>
            <a:endParaRPr b="1" sz="2200">
              <a:solidFill>
                <a:srgbClr val="415A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 txBox="1"/>
          <p:nvPr/>
        </p:nvSpPr>
        <p:spPr>
          <a:xfrm>
            <a:off x="3467100" y="2571750"/>
            <a:ext cx="2331600" cy="257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Mean Time Between Failures — para sistemas reparáveis: MTBF = MTTF + MTTR.</a:t>
            </a:r>
            <a:endParaRPr b="0" sz="115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6210300" y="1714500"/>
            <a:ext cx="2697600" cy="3619500"/>
          </a:xfrm>
          <a:prstGeom prst="roundRect">
            <a:avLst>
              <a:gd fmla="val 2711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 txBox="1"/>
          <p:nvPr/>
        </p:nvSpPr>
        <p:spPr>
          <a:xfrm>
            <a:off x="6393180" y="1943100"/>
            <a:ext cx="23316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MTTR</a:t>
            </a:r>
            <a:endParaRPr b="1" sz="2200">
              <a:solidFill>
                <a:srgbClr val="415A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 txBox="1"/>
          <p:nvPr/>
        </p:nvSpPr>
        <p:spPr>
          <a:xfrm>
            <a:off x="6393180" y="2571750"/>
            <a:ext cx="2331600" cy="257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Mean Time To Repair — tempo médio para detectar, trocar e reconstruir (rebuild) um disco falho.</a:t>
            </a:r>
            <a:endParaRPr b="0" sz="115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9136380" y="1714500"/>
            <a:ext cx="2697600" cy="3619500"/>
          </a:xfrm>
          <a:prstGeom prst="roundRect">
            <a:avLst>
              <a:gd fmla="val 2711" name="adj"/>
            </a:avLst>
          </a:prstGeom>
          <a:solidFill>
            <a:srgbClr val="415A77"/>
          </a:solidFill>
          <a:ln cap="flat" cmpd="sng" w="12700">
            <a:solidFill>
              <a:srgbClr val="415A7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 txBox="1"/>
          <p:nvPr/>
        </p:nvSpPr>
        <p:spPr>
          <a:xfrm>
            <a:off x="9319260" y="1943100"/>
            <a:ext cx="2331600" cy="50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MTTDL</a:t>
            </a:r>
            <a:endParaRPr b="1" sz="2200">
              <a:solidFill>
                <a:srgbClr val="E9C4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9319260" y="2571750"/>
            <a:ext cx="2331600" cy="257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Mean Time To Data Loss — tempo médio até uma 2ª falha ocorrer dentro da janela de vulnerabilidade. </a:t>
            </a:r>
            <a:endParaRPr b="0" sz="11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Depende diretamente do MTTF, MTTR e do nível de RAID.</a:t>
            </a:r>
            <a:endParaRPr b="0" sz="115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 txBox="1"/>
          <p:nvPr/>
        </p:nvSpPr>
        <p:spPr>
          <a:xfrm>
            <a:off x="457200" y="6528816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 txBox="1"/>
          <p:nvPr/>
        </p:nvSpPr>
        <p:spPr>
          <a:xfrm>
            <a:off x="11338560" y="6528816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RAID 0 e RAID 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RAID 0 — Striping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822960" y="1600200"/>
            <a:ext cx="1051560" cy="50292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 txBox="1"/>
          <p:nvPr/>
        </p:nvSpPr>
        <p:spPr>
          <a:xfrm>
            <a:off x="822960" y="160020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822960" y="2103120"/>
            <a:ext cx="1051560" cy="50292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 txBox="1"/>
          <p:nvPr/>
        </p:nvSpPr>
        <p:spPr>
          <a:xfrm>
            <a:off x="822960" y="210312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 txBox="1"/>
          <p:nvPr/>
        </p:nvSpPr>
        <p:spPr>
          <a:xfrm>
            <a:off x="822960" y="2679192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2011680" y="1600200"/>
            <a:ext cx="1051560" cy="50292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"/>
          <p:cNvSpPr txBox="1"/>
          <p:nvPr/>
        </p:nvSpPr>
        <p:spPr>
          <a:xfrm>
            <a:off x="2011680" y="160020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2011680" y="2103120"/>
            <a:ext cx="1051560" cy="50292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 txBox="1"/>
          <p:nvPr/>
        </p:nvSpPr>
        <p:spPr>
          <a:xfrm>
            <a:off x="2011680" y="210312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 txBox="1"/>
          <p:nvPr/>
        </p:nvSpPr>
        <p:spPr>
          <a:xfrm>
            <a:off x="2011680" y="2679192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3200400" y="1600200"/>
            <a:ext cx="1051560" cy="50292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"/>
          <p:cNvSpPr txBox="1"/>
          <p:nvPr/>
        </p:nvSpPr>
        <p:spPr>
          <a:xfrm>
            <a:off x="3200400" y="160020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3200400" y="2103120"/>
            <a:ext cx="1051560" cy="50292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"/>
          <p:cNvSpPr txBox="1"/>
          <p:nvPr/>
        </p:nvSpPr>
        <p:spPr>
          <a:xfrm>
            <a:off x="3200400" y="210312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 txBox="1"/>
          <p:nvPr/>
        </p:nvSpPr>
        <p:spPr>
          <a:xfrm>
            <a:off x="3200400" y="2679192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4389120" y="1600200"/>
            <a:ext cx="1051560" cy="50292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 txBox="1"/>
          <p:nvPr/>
        </p:nvSpPr>
        <p:spPr>
          <a:xfrm>
            <a:off x="4389120" y="160020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4389120" y="2103120"/>
            <a:ext cx="1051560" cy="50292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"/>
          <p:cNvSpPr txBox="1"/>
          <p:nvPr/>
        </p:nvSpPr>
        <p:spPr>
          <a:xfrm>
            <a:off x="4389120" y="210312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 txBox="1"/>
          <p:nvPr/>
        </p:nvSpPr>
        <p:spPr>
          <a:xfrm>
            <a:off x="4389120" y="2679192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 txBox="1"/>
          <p:nvPr/>
        </p:nvSpPr>
        <p:spPr>
          <a:xfrm>
            <a:off x="548640" y="3246120"/>
            <a:ext cx="5303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0 discos tolerados  •  Capacidade: N × disco  •  Desempenho: muito alto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Uso: dados não críticos/temporários (tempdb)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13"/>
          <p:cNvCxnSpPr/>
          <p:nvPr/>
        </p:nvCxnSpPr>
        <p:spPr>
          <a:xfrm>
            <a:off x="6080760" y="1188720"/>
            <a:ext cx="0" cy="5120640"/>
          </a:xfrm>
          <a:prstGeom prst="straightConnector1">
            <a:avLst/>
          </a:prstGeom>
          <a:noFill/>
          <a:ln cap="flat" cmpd="sng" w="1905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13"/>
          <p:cNvSpPr txBox="1"/>
          <p:nvPr/>
        </p:nvSpPr>
        <p:spPr>
          <a:xfrm>
            <a:off x="6355080" y="10972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RAID 1 — Mirroring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6949440" y="1600200"/>
            <a:ext cx="1188720" cy="50292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 txBox="1"/>
          <p:nvPr/>
        </p:nvSpPr>
        <p:spPr>
          <a:xfrm>
            <a:off x="6949440" y="160020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6949440" y="2103120"/>
            <a:ext cx="1188720" cy="50292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"/>
          <p:cNvSpPr txBox="1"/>
          <p:nvPr/>
        </p:nvSpPr>
        <p:spPr>
          <a:xfrm>
            <a:off x="6949440" y="210312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6949440" y="2606040"/>
            <a:ext cx="1188720" cy="50292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"/>
          <p:cNvSpPr txBox="1"/>
          <p:nvPr/>
        </p:nvSpPr>
        <p:spPr>
          <a:xfrm>
            <a:off x="6949440" y="260604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 txBox="1"/>
          <p:nvPr/>
        </p:nvSpPr>
        <p:spPr>
          <a:xfrm>
            <a:off x="6949440" y="318211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9052560" y="1600200"/>
            <a:ext cx="1188720" cy="50292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"/>
          <p:cNvSpPr txBox="1"/>
          <p:nvPr/>
        </p:nvSpPr>
        <p:spPr>
          <a:xfrm>
            <a:off x="9052560" y="160020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9052560" y="2103120"/>
            <a:ext cx="1188720" cy="50292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 txBox="1"/>
          <p:nvPr/>
        </p:nvSpPr>
        <p:spPr>
          <a:xfrm>
            <a:off x="9052560" y="210312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9052560" y="2606040"/>
            <a:ext cx="1188720" cy="50292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"/>
          <p:cNvSpPr txBox="1"/>
          <p:nvPr/>
        </p:nvSpPr>
        <p:spPr>
          <a:xfrm>
            <a:off x="9052560" y="260604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 txBox="1"/>
          <p:nvPr/>
        </p:nvSpPr>
        <p:spPr>
          <a:xfrm>
            <a:off x="9052560" y="318211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 txBox="1"/>
          <p:nvPr/>
        </p:nvSpPr>
        <p:spPr>
          <a:xfrm>
            <a:off x="6355080" y="3246120"/>
            <a:ext cx="5303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1 disco tolerado (de 2)  •  Capacidade: 1 × disco  •  Desempenho de leitura alto (paralelo)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Uso: logs de transação, volumes de sistema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oogle Shape;329;p14"/>
          <p:cNvGrpSpPr/>
          <p:nvPr/>
        </p:nvGrpSpPr>
        <p:grpSpPr>
          <a:xfrm>
            <a:off x="457200" y="320040"/>
            <a:ext cx="11247000" cy="548700"/>
            <a:chOff x="0" y="0"/>
            <a:chExt cx="11247000" cy="548700"/>
          </a:xfrm>
        </p:grpSpPr>
        <p:sp>
          <p:nvSpPr>
            <p:cNvPr id="330" name="Google Shape;330;p14"/>
            <p:cNvSpPr/>
            <p:nvPr/>
          </p:nvSpPr>
          <p:spPr>
            <a:xfrm>
              <a:off x="0" y="0"/>
              <a:ext cx="11247000" cy="54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4"/>
            <p:cNvSpPr txBox="1"/>
            <p:nvPr/>
          </p:nvSpPr>
          <p:spPr>
            <a:xfrm>
              <a:off x="0" y="0"/>
              <a:ext cx="112470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RAID 2 e RAID 3</a:t>
              </a:r>
              <a:endParaRPr b="1" sz="26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2" name="Google Shape;332;p14"/>
          <p:cNvGrpSpPr/>
          <p:nvPr/>
        </p:nvGrpSpPr>
        <p:grpSpPr>
          <a:xfrm>
            <a:off x="548640" y="1097280"/>
            <a:ext cx="5303400" cy="365700"/>
            <a:chOff x="0" y="0"/>
            <a:chExt cx="5303400" cy="365700"/>
          </a:xfrm>
        </p:grpSpPr>
        <p:sp>
          <p:nvSpPr>
            <p:cNvPr id="333" name="Google Shape;333;p14"/>
            <p:cNvSpPr/>
            <p:nvPr/>
          </p:nvSpPr>
          <p:spPr>
            <a:xfrm>
              <a:off x="0" y="0"/>
              <a:ext cx="5303400" cy="365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4"/>
            <p:cNvSpPr txBox="1"/>
            <p:nvPr/>
          </p:nvSpPr>
          <p:spPr>
            <a:xfrm>
              <a:off x="0" y="0"/>
              <a:ext cx="53034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415A77"/>
                  </a:solidFill>
                  <a:latin typeface="Calibri"/>
                  <a:ea typeface="Calibri"/>
                  <a:cs typeface="Calibri"/>
                  <a:sym typeface="Calibri"/>
                </a:rPr>
                <a:t>RAID 2 — Bit-Level Striping</a:t>
              </a:r>
              <a:endParaRPr b="1" sz="1700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5" name="Google Shape;335;p14"/>
          <p:cNvGrpSpPr/>
          <p:nvPr/>
        </p:nvGrpSpPr>
        <p:grpSpPr>
          <a:xfrm>
            <a:off x="548640" y="1600200"/>
            <a:ext cx="714300" cy="1353192"/>
            <a:chOff x="0" y="0"/>
            <a:chExt cx="714300" cy="1353192"/>
          </a:xfrm>
        </p:grpSpPr>
        <p:sp>
          <p:nvSpPr>
            <p:cNvPr id="336" name="Google Shape;336;p14"/>
            <p:cNvSpPr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415A77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4"/>
            <p:cNvSpPr txBox="1"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A1</a:t>
              </a:r>
              <a:endPara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415A77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4"/>
            <p:cNvSpPr txBox="1"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B1</a:t>
              </a:r>
              <a:endPara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4"/>
            <p:cNvSpPr txBox="1"/>
            <p:nvPr/>
          </p:nvSpPr>
          <p:spPr>
            <a:xfrm>
              <a:off x="0" y="1078992"/>
              <a:ext cx="714300" cy="274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Disco 1</a:t>
              </a:r>
              <a:endParaRPr b="1" sz="10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1" name="Google Shape;341;p14"/>
          <p:cNvGrpSpPr/>
          <p:nvPr/>
        </p:nvGrpSpPr>
        <p:grpSpPr>
          <a:xfrm>
            <a:off x="1377315" y="1600200"/>
            <a:ext cx="714300" cy="1353192"/>
            <a:chOff x="0" y="0"/>
            <a:chExt cx="714300" cy="1353192"/>
          </a:xfrm>
        </p:grpSpPr>
        <p:sp>
          <p:nvSpPr>
            <p:cNvPr id="342" name="Google Shape;342;p14"/>
            <p:cNvSpPr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415A77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4"/>
            <p:cNvSpPr txBox="1"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A2</a:t>
              </a:r>
              <a:endPara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4"/>
            <p:cNvSpPr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415A77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4"/>
            <p:cNvSpPr txBox="1"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B2</a:t>
              </a:r>
              <a:endPara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4"/>
            <p:cNvSpPr txBox="1"/>
            <p:nvPr/>
          </p:nvSpPr>
          <p:spPr>
            <a:xfrm>
              <a:off x="0" y="1078992"/>
              <a:ext cx="714300" cy="274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Disco 2</a:t>
              </a:r>
              <a:endParaRPr b="1" sz="10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7" name="Google Shape;347;p14"/>
          <p:cNvGrpSpPr/>
          <p:nvPr/>
        </p:nvGrpSpPr>
        <p:grpSpPr>
          <a:xfrm>
            <a:off x="2205990" y="1600200"/>
            <a:ext cx="714300" cy="1353192"/>
            <a:chOff x="0" y="0"/>
            <a:chExt cx="714300" cy="1353192"/>
          </a:xfrm>
        </p:grpSpPr>
        <p:sp>
          <p:nvSpPr>
            <p:cNvPr id="348" name="Google Shape;348;p14"/>
            <p:cNvSpPr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415A77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4"/>
            <p:cNvSpPr txBox="1"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A3</a:t>
              </a:r>
              <a:endPara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415A77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4"/>
            <p:cNvSpPr txBox="1"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B3</a:t>
              </a:r>
              <a:endPara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14"/>
            <p:cNvSpPr txBox="1"/>
            <p:nvPr/>
          </p:nvSpPr>
          <p:spPr>
            <a:xfrm>
              <a:off x="0" y="1078992"/>
              <a:ext cx="714300" cy="274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Disco 3</a:t>
              </a:r>
              <a:endParaRPr b="1" sz="10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3" name="Google Shape;353;p14"/>
          <p:cNvGrpSpPr/>
          <p:nvPr/>
        </p:nvGrpSpPr>
        <p:grpSpPr>
          <a:xfrm>
            <a:off x="3034665" y="1600200"/>
            <a:ext cx="714300" cy="1353192"/>
            <a:chOff x="0" y="0"/>
            <a:chExt cx="714300" cy="1353192"/>
          </a:xfrm>
        </p:grpSpPr>
        <p:sp>
          <p:nvSpPr>
            <p:cNvPr id="354" name="Google Shape;354;p14"/>
            <p:cNvSpPr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E9C46A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4"/>
            <p:cNvSpPr txBox="1"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H1</a:t>
              </a:r>
              <a:endParaRPr b="1" sz="11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E9C46A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4"/>
            <p:cNvSpPr txBox="1"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H2</a:t>
              </a:r>
              <a:endParaRPr b="1" sz="11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14"/>
            <p:cNvSpPr txBox="1"/>
            <p:nvPr/>
          </p:nvSpPr>
          <p:spPr>
            <a:xfrm>
              <a:off x="0" y="1078992"/>
              <a:ext cx="714300" cy="274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Disco 4</a:t>
              </a:r>
              <a:endParaRPr b="1" sz="10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9" name="Google Shape;359;p14"/>
          <p:cNvGrpSpPr/>
          <p:nvPr/>
        </p:nvGrpSpPr>
        <p:grpSpPr>
          <a:xfrm>
            <a:off x="548640" y="3246120"/>
            <a:ext cx="5303400" cy="1428900"/>
            <a:chOff x="0" y="0"/>
            <a:chExt cx="5303400" cy="1428900"/>
          </a:xfrm>
        </p:grpSpPr>
        <p:sp>
          <p:nvSpPr>
            <p:cNvPr id="360" name="Google Shape;360;p14"/>
            <p:cNvSpPr/>
            <p:nvPr/>
          </p:nvSpPr>
          <p:spPr>
            <a:xfrm>
              <a:off x="0" y="0"/>
              <a:ext cx="53034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4"/>
            <p:cNvSpPr txBox="1"/>
            <p:nvPr/>
          </p:nvSpPr>
          <p:spPr>
            <a:xfrm>
              <a:off x="0" y="0"/>
              <a:ext cx="5303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• Fragmentação em nível de bit com código Hamming para detecção/correção de erros.</a:t>
              </a:r>
              <a:endParaRPr sz="125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• Discos sincronizados (lockstep) • Altamente ineficiente para discos modernos.</a:t>
              </a:r>
              <a:endParaRPr sz="125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• Uso: histórico / obsoleto (substituído pelo ECC interno dos discos).</a:t>
              </a:r>
              <a:endParaRPr sz="125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" name="Google Shape;362;p14"/>
          <p:cNvGrpSpPr/>
          <p:nvPr/>
        </p:nvGrpSpPr>
        <p:grpSpPr>
          <a:xfrm>
            <a:off x="3863340" y="1600200"/>
            <a:ext cx="714300" cy="1353192"/>
            <a:chOff x="0" y="0"/>
            <a:chExt cx="714300" cy="1353192"/>
          </a:xfrm>
        </p:grpSpPr>
        <p:sp>
          <p:nvSpPr>
            <p:cNvPr id="363" name="Google Shape;363;p14"/>
            <p:cNvSpPr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E9C46A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4"/>
            <p:cNvSpPr txBox="1"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H3</a:t>
              </a:r>
              <a:endParaRPr b="1" sz="11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4"/>
            <p:cNvSpPr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E9C46A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4"/>
            <p:cNvSpPr txBox="1"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H4</a:t>
              </a:r>
              <a:endParaRPr b="1" sz="11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4"/>
            <p:cNvSpPr txBox="1"/>
            <p:nvPr/>
          </p:nvSpPr>
          <p:spPr>
            <a:xfrm>
              <a:off x="0" y="1078992"/>
              <a:ext cx="714300" cy="274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Disco 5</a:t>
              </a:r>
              <a:endParaRPr b="1" sz="10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68" name="Google Shape;368;p14"/>
          <p:cNvCxnSpPr/>
          <p:nvPr/>
        </p:nvCxnSpPr>
        <p:spPr>
          <a:xfrm>
            <a:off x="6080760" y="1188720"/>
            <a:ext cx="0" cy="512070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69" name="Google Shape;369;p14"/>
          <p:cNvGrpSpPr/>
          <p:nvPr/>
        </p:nvGrpSpPr>
        <p:grpSpPr>
          <a:xfrm>
            <a:off x="4692015" y="1600200"/>
            <a:ext cx="714300" cy="1353192"/>
            <a:chOff x="0" y="0"/>
            <a:chExt cx="714300" cy="1353192"/>
          </a:xfrm>
        </p:grpSpPr>
        <p:sp>
          <p:nvSpPr>
            <p:cNvPr id="370" name="Google Shape;370;p14"/>
            <p:cNvSpPr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E9C46A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4"/>
            <p:cNvSpPr txBox="1"/>
            <p:nvPr/>
          </p:nvSpPr>
          <p:spPr>
            <a:xfrm>
              <a:off x="0" y="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H5</a:t>
              </a:r>
              <a:endParaRPr b="1" sz="11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4"/>
            <p:cNvSpPr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E9C46A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4"/>
            <p:cNvSpPr txBox="1"/>
            <p:nvPr/>
          </p:nvSpPr>
          <p:spPr>
            <a:xfrm>
              <a:off x="0" y="502920"/>
              <a:ext cx="71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H6</a:t>
              </a:r>
              <a:endParaRPr b="1" sz="11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4"/>
            <p:cNvSpPr txBox="1"/>
            <p:nvPr/>
          </p:nvSpPr>
          <p:spPr>
            <a:xfrm>
              <a:off x="0" y="1078992"/>
              <a:ext cx="714300" cy="274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Disco 6</a:t>
              </a:r>
              <a:endParaRPr b="1" sz="10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14"/>
          <p:cNvGrpSpPr/>
          <p:nvPr/>
        </p:nvGrpSpPr>
        <p:grpSpPr>
          <a:xfrm>
            <a:off x="6355080" y="1097280"/>
            <a:ext cx="5303400" cy="365700"/>
            <a:chOff x="0" y="0"/>
            <a:chExt cx="5303400" cy="365700"/>
          </a:xfrm>
        </p:grpSpPr>
        <p:sp>
          <p:nvSpPr>
            <p:cNvPr id="376" name="Google Shape;376;p14"/>
            <p:cNvSpPr/>
            <p:nvPr/>
          </p:nvSpPr>
          <p:spPr>
            <a:xfrm>
              <a:off x="0" y="0"/>
              <a:ext cx="5303400" cy="365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4"/>
            <p:cNvSpPr txBox="1"/>
            <p:nvPr/>
          </p:nvSpPr>
          <p:spPr>
            <a:xfrm>
              <a:off x="0" y="0"/>
              <a:ext cx="53034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415A77"/>
                  </a:solidFill>
                  <a:latin typeface="Calibri"/>
                  <a:ea typeface="Calibri"/>
                  <a:cs typeface="Calibri"/>
                  <a:sym typeface="Calibri"/>
                </a:rPr>
                <a:t>RAID 3 — Byte-Level Striping</a:t>
              </a:r>
              <a:endParaRPr b="1" sz="1700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8" name="Google Shape;378;p14"/>
          <p:cNvGrpSpPr/>
          <p:nvPr/>
        </p:nvGrpSpPr>
        <p:grpSpPr>
          <a:xfrm>
            <a:off x="6812280" y="1600200"/>
            <a:ext cx="1051500" cy="1353192"/>
            <a:chOff x="0" y="0"/>
            <a:chExt cx="1051500" cy="1353192"/>
          </a:xfrm>
        </p:grpSpPr>
        <p:sp>
          <p:nvSpPr>
            <p:cNvPr id="379" name="Google Shape;379;p14"/>
            <p:cNvSpPr/>
            <p:nvPr/>
          </p:nvSpPr>
          <p:spPr>
            <a:xfrm>
              <a:off x="0" y="0"/>
              <a:ext cx="1051500" cy="502800"/>
            </a:xfrm>
            <a:prstGeom prst="rect">
              <a:avLst/>
            </a:prstGeom>
            <a:solidFill>
              <a:srgbClr val="415A77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4"/>
            <p:cNvSpPr txBox="1"/>
            <p:nvPr/>
          </p:nvSpPr>
          <p:spPr>
            <a:xfrm>
              <a:off x="0" y="0"/>
              <a:ext cx="10515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A1</a:t>
              </a:r>
              <a:endPara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4"/>
            <p:cNvSpPr/>
            <p:nvPr/>
          </p:nvSpPr>
          <p:spPr>
            <a:xfrm>
              <a:off x="0" y="502920"/>
              <a:ext cx="1051500" cy="502800"/>
            </a:xfrm>
            <a:prstGeom prst="rect">
              <a:avLst/>
            </a:prstGeom>
            <a:solidFill>
              <a:srgbClr val="415A77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4"/>
            <p:cNvSpPr txBox="1"/>
            <p:nvPr/>
          </p:nvSpPr>
          <p:spPr>
            <a:xfrm>
              <a:off x="0" y="502920"/>
              <a:ext cx="10515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B1</a:t>
              </a:r>
              <a:endPara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4"/>
            <p:cNvSpPr txBox="1"/>
            <p:nvPr/>
          </p:nvSpPr>
          <p:spPr>
            <a:xfrm>
              <a:off x="0" y="1078992"/>
              <a:ext cx="10515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Disco 1</a:t>
              </a:r>
              <a:endParaRPr b="1" sz="11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p14"/>
          <p:cNvGrpSpPr/>
          <p:nvPr/>
        </p:nvGrpSpPr>
        <p:grpSpPr>
          <a:xfrm>
            <a:off x="8244840" y="1600200"/>
            <a:ext cx="1051500" cy="1353192"/>
            <a:chOff x="0" y="0"/>
            <a:chExt cx="1051500" cy="1353192"/>
          </a:xfrm>
        </p:grpSpPr>
        <p:sp>
          <p:nvSpPr>
            <p:cNvPr id="385" name="Google Shape;385;p14"/>
            <p:cNvSpPr/>
            <p:nvPr/>
          </p:nvSpPr>
          <p:spPr>
            <a:xfrm>
              <a:off x="0" y="0"/>
              <a:ext cx="1051500" cy="502800"/>
            </a:xfrm>
            <a:prstGeom prst="rect">
              <a:avLst/>
            </a:prstGeom>
            <a:solidFill>
              <a:srgbClr val="415A77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4"/>
            <p:cNvSpPr txBox="1"/>
            <p:nvPr/>
          </p:nvSpPr>
          <p:spPr>
            <a:xfrm>
              <a:off x="0" y="0"/>
              <a:ext cx="10515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A2</a:t>
              </a:r>
              <a:endPara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4"/>
            <p:cNvSpPr/>
            <p:nvPr/>
          </p:nvSpPr>
          <p:spPr>
            <a:xfrm>
              <a:off x="0" y="502920"/>
              <a:ext cx="1051500" cy="502800"/>
            </a:xfrm>
            <a:prstGeom prst="rect">
              <a:avLst/>
            </a:prstGeom>
            <a:solidFill>
              <a:srgbClr val="415A77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4"/>
            <p:cNvSpPr txBox="1"/>
            <p:nvPr/>
          </p:nvSpPr>
          <p:spPr>
            <a:xfrm>
              <a:off x="0" y="502920"/>
              <a:ext cx="10515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B2</a:t>
              </a:r>
              <a:endPara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4"/>
            <p:cNvSpPr txBox="1"/>
            <p:nvPr/>
          </p:nvSpPr>
          <p:spPr>
            <a:xfrm>
              <a:off x="0" y="1078992"/>
              <a:ext cx="10515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Disco 2</a:t>
              </a:r>
              <a:endParaRPr b="1" sz="11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0" name="Google Shape;390;p14"/>
          <p:cNvGrpSpPr/>
          <p:nvPr/>
        </p:nvGrpSpPr>
        <p:grpSpPr>
          <a:xfrm>
            <a:off x="9677400" y="1600200"/>
            <a:ext cx="1051500" cy="1353192"/>
            <a:chOff x="0" y="0"/>
            <a:chExt cx="1051500" cy="1353192"/>
          </a:xfrm>
        </p:grpSpPr>
        <p:sp>
          <p:nvSpPr>
            <p:cNvPr id="391" name="Google Shape;391;p14"/>
            <p:cNvSpPr/>
            <p:nvPr/>
          </p:nvSpPr>
          <p:spPr>
            <a:xfrm>
              <a:off x="0" y="0"/>
              <a:ext cx="1051500" cy="502800"/>
            </a:xfrm>
            <a:prstGeom prst="rect">
              <a:avLst/>
            </a:prstGeom>
            <a:solidFill>
              <a:srgbClr val="E9C46A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4"/>
            <p:cNvSpPr txBox="1"/>
            <p:nvPr/>
          </p:nvSpPr>
          <p:spPr>
            <a:xfrm>
              <a:off x="0" y="0"/>
              <a:ext cx="10515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P1</a:t>
              </a:r>
              <a:endParaRPr b="1" sz="12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4"/>
            <p:cNvSpPr/>
            <p:nvPr/>
          </p:nvSpPr>
          <p:spPr>
            <a:xfrm>
              <a:off x="0" y="502920"/>
              <a:ext cx="1051500" cy="502800"/>
            </a:xfrm>
            <a:prstGeom prst="rect">
              <a:avLst/>
            </a:prstGeom>
            <a:solidFill>
              <a:srgbClr val="E9C46A"/>
            </a:solidFill>
            <a:ln cap="flat" cmpd="sng" w="159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4"/>
            <p:cNvSpPr txBox="1"/>
            <p:nvPr/>
          </p:nvSpPr>
          <p:spPr>
            <a:xfrm>
              <a:off x="0" y="502920"/>
              <a:ext cx="10515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P2</a:t>
              </a:r>
              <a:endParaRPr b="1" sz="12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14"/>
            <p:cNvSpPr txBox="1"/>
            <p:nvPr/>
          </p:nvSpPr>
          <p:spPr>
            <a:xfrm>
              <a:off x="0" y="1078992"/>
              <a:ext cx="10515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Disco 3</a:t>
              </a:r>
              <a:endParaRPr b="1" sz="11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6" name="Google Shape;396;p14"/>
          <p:cNvGrpSpPr/>
          <p:nvPr/>
        </p:nvGrpSpPr>
        <p:grpSpPr>
          <a:xfrm>
            <a:off x="6355080" y="3246120"/>
            <a:ext cx="5303400" cy="1428900"/>
            <a:chOff x="0" y="0"/>
            <a:chExt cx="5303400" cy="1428900"/>
          </a:xfrm>
        </p:grpSpPr>
        <p:sp>
          <p:nvSpPr>
            <p:cNvPr id="397" name="Google Shape;397;p14"/>
            <p:cNvSpPr/>
            <p:nvPr/>
          </p:nvSpPr>
          <p:spPr>
            <a:xfrm>
              <a:off x="0" y="0"/>
              <a:ext cx="53034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4"/>
            <p:cNvSpPr txBox="1"/>
            <p:nvPr/>
          </p:nvSpPr>
          <p:spPr>
            <a:xfrm>
              <a:off x="0" y="0"/>
              <a:ext cx="53034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• Fragmentação em nível de byte (ou bit) com um único disco dedicado exclusivamente à paridade.</a:t>
              </a:r>
              <a:endParaRPr b="0" sz="125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• Alta taxa de transferência sequencial, mas baixo desempenho para I/O aleatório.</a:t>
              </a:r>
              <a:endParaRPr b="0" sz="125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600"/>
                </a:spcAft>
                <a:buNone/>
              </a:pPr>
              <a:r>
                <a:rPr b="0" lang="en-US" sz="125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• Uso: histórico / obsoleto (substituído por soluções em nível de bloco, como o RAID 5).</a:t>
              </a:r>
              <a:endParaRPr b="0" sz="125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14"/>
          <p:cNvGrpSpPr/>
          <p:nvPr/>
        </p:nvGrpSpPr>
        <p:grpSpPr>
          <a:xfrm>
            <a:off x="457200" y="6528816"/>
            <a:ext cx="8229600" cy="274200"/>
            <a:chOff x="0" y="0"/>
            <a:chExt cx="8229600" cy="274200"/>
          </a:xfrm>
        </p:grpSpPr>
        <p:sp>
          <p:nvSpPr>
            <p:cNvPr id="400" name="Google Shape;400;p14"/>
            <p:cNvSpPr/>
            <p:nvPr/>
          </p:nvSpPr>
          <p:spPr>
            <a:xfrm>
              <a:off x="0" y="0"/>
              <a:ext cx="8229600" cy="274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4"/>
            <p:cNvSpPr txBox="1"/>
            <p:nvPr/>
          </p:nvSpPr>
          <p:spPr>
            <a:xfrm>
              <a:off x="0" y="0"/>
              <a:ext cx="82296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5B6B79"/>
                  </a:solidFill>
                  <a:latin typeface="Calibri"/>
                  <a:ea typeface="Calibri"/>
                  <a:cs typeface="Calibri"/>
                  <a:sym typeface="Calibri"/>
                </a:rPr>
                <a:t>Armazenamento DAS e RAID para SBD — UFRJ</a:t>
              </a:r>
              <a:endParaRPr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14"/>
          <p:cNvGrpSpPr/>
          <p:nvPr/>
        </p:nvGrpSpPr>
        <p:grpSpPr>
          <a:xfrm>
            <a:off x="11338560" y="6528816"/>
            <a:ext cx="365700" cy="274200"/>
            <a:chOff x="0" y="0"/>
            <a:chExt cx="365700" cy="274200"/>
          </a:xfrm>
        </p:grpSpPr>
        <p:sp>
          <p:nvSpPr>
            <p:cNvPr id="403" name="Google Shape;403;p14"/>
            <p:cNvSpPr/>
            <p:nvPr/>
          </p:nvSpPr>
          <p:spPr>
            <a:xfrm>
              <a:off x="0" y="0"/>
              <a:ext cx="365700" cy="274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4"/>
            <p:cNvSpPr txBox="1"/>
            <p:nvPr/>
          </p:nvSpPr>
          <p:spPr>
            <a:xfrm>
              <a:off x="0" y="0"/>
              <a:ext cx="3657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>
                  <a:solidFill>
                    <a:srgbClr val="5B6B79"/>
                  </a:solidFill>
                  <a:latin typeface="Calibri"/>
                  <a:ea typeface="Calibri"/>
                  <a:cs typeface="Calibri"/>
                  <a:sym typeface="Calibri"/>
                </a:rPr>
                <a:t>10-A</a:t>
              </a:r>
              <a:endParaRPr sz="698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5"/>
          <p:cNvSpPr txBox="1"/>
          <p:nvPr/>
        </p:nvSpPr>
        <p:spPr>
          <a:xfrm>
            <a:off x="457200" y="320040"/>
            <a:ext cx="11247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RAID 4 — Paridade Dedicada (Block-Level)</a:t>
            </a:r>
            <a:endParaRPr b="1" sz="260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5"/>
          <p:cNvSpPr txBox="1"/>
          <p:nvPr/>
        </p:nvSpPr>
        <p:spPr>
          <a:xfrm>
            <a:off x="548640" y="1051560"/>
            <a:ext cx="1097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Striping em nível de bloco com um único disco dedicado exclusivamente à paridade</a:t>
            </a:r>
            <a:endParaRPr b="0" i="1" sz="1300">
              <a:solidFill>
                <a:srgbClr val="5B6B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 txBox="1"/>
          <p:nvPr/>
        </p:nvSpPr>
        <p:spPr>
          <a:xfrm>
            <a:off x="822960" y="1325880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1</a:t>
            </a:r>
            <a:endParaRPr b="1" sz="110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7" name="Google Shape;417;p15"/>
          <p:cNvGrpSpPr/>
          <p:nvPr/>
        </p:nvGrpSpPr>
        <p:grpSpPr>
          <a:xfrm>
            <a:off x="822960" y="1691640"/>
            <a:ext cx="1097400" cy="658500"/>
            <a:chOff x="0" y="0"/>
            <a:chExt cx="1097400" cy="658500"/>
          </a:xfrm>
        </p:grpSpPr>
        <p:sp>
          <p:nvSpPr>
            <p:cNvPr id="418" name="Google Shape;418;p15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5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A1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0" name="Google Shape;420;p15"/>
          <p:cNvGrpSpPr/>
          <p:nvPr/>
        </p:nvGrpSpPr>
        <p:grpSpPr>
          <a:xfrm>
            <a:off x="822960" y="2459736"/>
            <a:ext cx="1097400" cy="658500"/>
            <a:chOff x="0" y="0"/>
            <a:chExt cx="1097400" cy="658500"/>
          </a:xfrm>
        </p:grpSpPr>
        <p:sp>
          <p:nvSpPr>
            <p:cNvPr id="421" name="Google Shape;421;p15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5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B1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3" name="Google Shape;423;p15"/>
          <p:cNvGrpSpPr/>
          <p:nvPr/>
        </p:nvGrpSpPr>
        <p:grpSpPr>
          <a:xfrm>
            <a:off x="822960" y="3227832"/>
            <a:ext cx="1097400" cy="658500"/>
            <a:chOff x="0" y="0"/>
            <a:chExt cx="1097400" cy="658500"/>
          </a:xfrm>
        </p:grpSpPr>
        <p:sp>
          <p:nvSpPr>
            <p:cNvPr id="424" name="Google Shape;424;p15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5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C1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6" name="Google Shape;426;p15"/>
          <p:cNvGrpSpPr/>
          <p:nvPr/>
        </p:nvGrpSpPr>
        <p:grpSpPr>
          <a:xfrm>
            <a:off x="822960" y="3995928"/>
            <a:ext cx="1097400" cy="658500"/>
            <a:chOff x="0" y="0"/>
            <a:chExt cx="1097400" cy="658500"/>
          </a:xfrm>
        </p:grpSpPr>
        <p:sp>
          <p:nvSpPr>
            <p:cNvPr id="427" name="Google Shape;427;p15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5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D1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9" name="Google Shape;429;p15"/>
          <p:cNvSpPr txBox="1"/>
          <p:nvPr/>
        </p:nvSpPr>
        <p:spPr>
          <a:xfrm>
            <a:off x="2148840" y="1325880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2</a:t>
            </a:r>
            <a:endParaRPr b="1" sz="110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0" name="Google Shape;430;p15"/>
          <p:cNvGrpSpPr/>
          <p:nvPr/>
        </p:nvGrpSpPr>
        <p:grpSpPr>
          <a:xfrm>
            <a:off x="2148840" y="1691640"/>
            <a:ext cx="1097400" cy="658500"/>
            <a:chOff x="0" y="0"/>
            <a:chExt cx="1097400" cy="658500"/>
          </a:xfrm>
        </p:grpSpPr>
        <p:sp>
          <p:nvSpPr>
            <p:cNvPr id="431" name="Google Shape;431;p15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5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A2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" name="Google Shape;433;p15"/>
          <p:cNvGrpSpPr/>
          <p:nvPr/>
        </p:nvGrpSpPr>
        <p:grpSpPr>
          <a:xfrm>
            <a:off x="2148840" y="2459736"/>
            <a:ext cx="1097400" cy="658500"/>
            <a:chOff x="0" y="0"/>
            <a:chExt cx="1097400" cy="658500"/>
          </a:xfrm>
        </p:grpSpPr>
        <p:sp>
          <p:nvSpPr>
            <p:cNvPr id="434" name="Google Shape;434;p15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5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B2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6" name="Google Shape;436;p15"/>
          <p:cNvGrpSpPr/>
          <p:nvPr/>
        </p:nvGrpSpPr>
        <p:grpSpPr>
          <a:xfrm>
            <a:off x="2148840" y="3227832"/>
            <a:ext cx="1097400" cy="658500"/>
            <a:chOff x="0" y="0"/>
            <a:chExt cx="1097400" cy="658500"/>
          </a:xfrm>
        </p:grpSpPr>
        <p:sp>
          <p:nvSpPr>
            <p:cNvPr id="437" name="Google Shape;437;p15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5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C2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9" name="Google Shape;439;p15"/>
          <p:cNvGrpSpPr/>
          <p:nvPr/>
        </p:nvGrpSpPr>
        <p:grpSpPr>
          <a:xfrm>
            <a:off x="2148840" y="3995928"/>
            <a:ext cx="1097400" cy="658500"/>
            <a:chOff x="0" y="0"/>
            <a:chExt cx="1097400" cy="658500"/>
          </a:xfrm>
        </p:grpSpPr>
        <p:sp>
          <p:nvSpPr>
            <p:cNvPr id="440" name="Google Shape;440;p15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5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D2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2" name="Google Shape;442;p15"/>
          <p:cNvSpPr txBox="1"/>
          <p:nvPr/>
        </p:nvSpPr>
        <p:spPr>
          <a:xfrm>
            <a:off x="3474720" y="1325880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3</a:t>
            </a:r>
            <a:endParaRPr b="1" sz="110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3" name="Google Shape;443;p15"/>
          <p:cNvGrpSpPr/>
          <p:nvPr/>
        </p:nvGrpSpPr>
        <p:grpSpPr>
          <a:xfrm>
            <a:off x="3474720" y="1691640"/>
            <a:ext cx="1097400" cy="658500"/>
            <a:chOff x="0" y="0"/>
            <a:chExt cx="1097400" cy="658500"/>
          </a:xfrm>
        </p:grpSpPr>
        <p:sp>
          <p:nvSpPr>
            <p:cNvPr id="444" name="Google Shape;444;p15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5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A3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6" name="Google Shape;446;p15"/>
          <p:cNvGrpSpPr/>
          <p:nvPr/>
        </p:nvGrpSpPr>
        <p:grpSpPr>
          <a:xfrm>
            <a:off x="3474720" y="2459736"/>
            <a:ext cx="1097400" cy="658500"/>
            <a:chOff x="0" y="0"/>
            <a:chExt cx="1097400" cy="658500"/>
          </a:xfrm>
        </p:grpSpPr>
        <p:sp>
          <p:nvSpPr>
            <p:cNvPr id="447" name="Google Shape;447;p15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5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B3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9" name="Google Shape;449;p15"/>
          <p:cNvGrpSpPr/>
          <p:nvPr/>
        </p:nvGrpSpPr>
        <p:grpSpPr>
          <a:xfrm>
            <a:off x="3474720" y="3227832"/>
            <a:ext cx="1097400" cy="658500"/>
            <a:chOff x="0" y="0"/>
            <a:chExt cx="1097400" cy="658500"/>
          </a:xfrm>
        </p:grpSpPr>
        <p:sp>
          <p:nvSpPr>
            <p:cNvPr id="450" name="Google Shape;450;p15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5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C3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2" name="Google Shape;452;p15"/>
          <p:cNvGrpSpPr/>
          <p:nvPr/>
        </p:nvGrpSpPr>
        <p:grpSpPr>
          <a:xfrm>
            <a:off x="3474720" y="3995928"/>
            <a:ext cx="1097400" cy="658500"/>
            <a:chOff x="0" y="0"/>
            <a:chExt cx="1097400" cy="658500"/>
          </a:xfrm>
        </p:grpSpPr>
        <p:sp>
          <p:nvSpPr>
            <p:cNvPr id="453" name="Google Shape;453;p15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415A77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5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D3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5" name="Google Shape;455;p15"/>
          <p:cNvSpPr txBox="1"/>
          <p:nvPr/>
        </p:nvSpPr>
        <p:spPr>
          <a:xfrm>
            <a:off x="4800600" y="1325880"/>
            <a:ext cx="1097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4 (Paridade)</a:t>
            </a:r>
            <a:endParaRPr b="1" sz="110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6" name="Google Shape;456;p15"/>
          <p:cNvGrpSpPr/>
          <p:nvPr/>
        </p:nvGrpSpPr>
        <p:grpSpPr>
          <a:xfrm>
            <a:off x="4800600" y="1691640"/>
            <a:ext cx="1097400" cy="658500"/>
            <a:chOff x="0" y="0"/>
            <a:chExt cx="1097400" cy="658500"/>
          </a:xfrm>
        </p:grpSpPr>
        <p:sp>
          <p:nvSpPr>
            <p:cNvPr id="457" name="Google Shape;457;p15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E9C46A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5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AP</a:t>
              </a:r>
              <a:endParaRPr b="1" sz="14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9" name="Google Shape;459;p15"/>
          <p:cNvGrpSpPr/>
          <p:nvPr/>
        </p:nvGrpSpPr>
        <p:grpSpPr>
          <a:xfrm>
            <a:off x="4800600" y="2459736"/>
            <a:ext cx="1097400" cy="658500"/>
            <a:chOff x="0" y="0"/>
            <a:chExt cx="1097400" cy="658500"/>
          </a:xfrm>
        </p:grpSpPr>
        <p:sp>
          <p:nvSpPr>
            <p:cNvPr id="460" name="Google Shape;460;p15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E9C46A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5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BP</a:t>
              </a:r>
              <a:endParaRPr b="1" sz="14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2" name="Google Shape;462;p15"/>
          <p:cNvGrpSpPr/>
          <p:nvPr/>
        </p:nvGrpSpPr>
        <p:grpSpPr>
          <a:xfrm>
            <a:off x="4800600" y="3227832"/>
            <a:ext cx="1097400" cy="658500"/>
            <a:chOff x="0" y="0"/>
            <a:chExt cx="1097400" cy="658500"/>
          </a:xfrm>
        </p:grpSpPr>
        <p:sp>
          <p:nvSpPr>
            <p:cNvPr id="463" name="Google Shape;463;p15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E9C46A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5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CP</a:t>
              </a:r>
              <a:endParaRPr b="1" sz="14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5" name="Google Shape;465;p15"/>
          <p:cNvGrpSpPr/>
          <p:nvPr/>
        </p:nvGrpSpPr>
        <p:grpSpPr>
          <a:xfrm>
            <a:off x="4800600" y="3995928"/>
            <a:ext cx="1097400" cy="658500"/>
            <a:chOff x="0" y="0"/>
            <a:chExt cx="1097400" cy="658500"/>
          </a:xfrm>
        </p:grpSpPr>
        <p:sp>
          <p:nvSpPr>
            <p:cNvPr id="466" name="Google Shape;466;p15"/>
            <p:cNvSpPr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solidFill>
              <a:srgbClr val="E9C46A"/>
            </a:solidFill>
            <a:ln cap="flat" cmpd="sng" w="15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5"/>
            <p:cNvSpPr txBox="1"/>
            <p:nvPr/>
          </p:nvSpPr>
          <p:spPr>
            <a:xfrm>
              <a:off x="0" y="0"/>
              <a:ext cx="1097400" cy="65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B263B"/>
                  </a:solidFill>
                  <a:latin typeface="Calibri"/>
                  <a:ea typeface="Calibri"/>
                  <a:cs typeface="Calibri"/>
                  <a:sym typeface="Calibri"/>
                </a:rPr>
                <a:t>DP</a:t>
              </a:r>
              <a:endParaRPr b="1" sz="14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8" name="Google Shape;468;p15"/>
          <p:cNvSpPr txBox="1"/>
          <p:nvPr/>
        </p:nvSpPr>
        <p:spPr>
          <a:xfrm>
            <a:off x="6355080" y="1571625"/>
            <a:ext cx="53340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00"/>
              <a:buFont typeface="Calibri"/>
              <a:buChar char="●"/>
            </a:pPr>
            <a:r>
              <a:rPr b="0" lang="en-US" sz="13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Mínimo 3 discos • Tolera 1 falha • Capacidade útil: (N−1) × disco</a:t>
            </a:r>
            <a:endParaRPr b="0" sz="130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1B263B"/>
              </a:buClr>
              <a:buSzPts val="1300"/>
              <a:buFont typeface="Calibri"/>
              <a:buChar char="●"/>
            </a:pPr>
            <a:r>
              <a:rPr b="0" lang="en-US" sz="13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Diferente do RAID 3, o striping em nível de bloco permite que requisições pequenas de leitura sejam atendidas em paralelo por discos diferentes.</a:t>
            </a:r>
            <a:endParaRPr b="0" sz="130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0"/>
              </a:spcAft>
              <a:buClr>
                <a:srgbClr val="1B263B"/>
              </a:buClr>
              <a:buSzPts val="1300"/>
              <a:buFont typeface="Calibri"/>
              <a:buChar char="●"/>
            </a:pPr>
            <a:r>
              <a:rPr b="1" lang="en-US" sz="13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Gargalo de escrita (Parity Bottleneck):</a:t>
            </a:r>
            <a:r>
              <a:rPr b="0" lang="en-US" sz="13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 Toda gravação pequena e aleatória exige atualizar o único disco de paridade (ciclo read-modify-write), tornando-o o ponto de serialização do arranjo.</a:t>
            </a:r>
            <a:endParaRPr b="0" sz="130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600"/>
              </a:spcBef>
              <a:spcAft>
                <a:spcPts val="600"/>
              </a:spcAft>
              <a:buClr>
                <a:srgbClr val="1B263B"/>
              </a:buClr>
              <a:buSzPts val="1300"/>
              <a:buFont typeface="Calibri"/>
              <a:buChar char="●"/>
            </a:pPr>
            <a:r>
              <a:rPr b="0" lang="en-US" sz="1300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Uso recomendado: historicamente usado para leituras paralelas, mas amplamente superado pelo RAID 5.</a:t>
            </a:r>
            <a:endParaRPr b="0" sz="1300">
              <a:solidFill>
                <a:srgbClr val="1B26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 txBox="1"/>
          <p:nvPr/>
        </p:nvSpPr>
        <p:spPr>
          <a:xfrm>
            <a:off x="457200" y="6528816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sz="900">
              <a:solidFill>
                <a:srgbClr val="5B6B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6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RAID 5 — Paridade Distribuída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6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Striping em bloco + paridade rotacionada entre todos os discos (elimina o gargalo do RAID4)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6"/>
          <p:cNvSpPr txBox="1"/>
          <p:nvPr/>
        </p:nvSpPr>
        <p:spPr>
          <a:xfrm>
            <a:off x="822960" y="132588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822960" y="1691640"/>
            <a:ext cx="1234440" cy="658368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6"/>
          <p:cNvSpPr txBox="1"/>
          <p:nvPr/>
        </p:nvSpPr>
        <p:spPr>
          <a:xfrm>
            <a:off x="822960" y="1691640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6"/>
          <p:cNvSpPr/>
          <p:nvPr/>
        </p:nvSpPr>
        <p:spPr>
          <a:xfrm>
            <a:off x="822960" y="2459736"/>
            <a:ext cx="1234440" cy="658368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6"/>
          <p:cNvSpPr txBox="1"/>
          <p:nvPr/>
        </p:nvSpPr>
        <p:spPr>
          <a:xfrm>
            <a:off x="822960" y="2459736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822960" y="3227832"/>
            <a:ext cx="1234440" cy="658368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6"/>
          <p:cNvSpPr txBox="1"/>
          <p:nvPr/>
        </p:nvSpPr>
        <p:spPr>
          <a:xfrm>
            <a:off x="822960" y="3227832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6"/>
          <p:cNvSpPr/>
          <p:nvPr/>
        </p:nvSpPr>
        <p:spPr>
          <a:xfrm>
            <a:off x="822960" y="3995928"/>
            <a:ext cx="1234440" cy="658368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6"/>
          <p:cNvSpPr txBox="1"/>
          <p:nvPr/>
        </p:nvSpPr>
        <p:spPr>
          <a:xfrm>
            <a:off x="822960" y="3995928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6"/>
          <p:cNvSpPr txBox="1"/>
          <p:nvPr/>
        </p:nvSpPr>
        <p:spPr>
          <a:xfrm>
            <a:off x="2194560" y="132588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6"/>
          <p:cNvSpPr/>
          <p:nvPr/>
        </p:nvSpPr>
        <p:spPr>
          <a:xfrm>
            <a:off x="2194560" y="1691640"/>
            <a:ext cx="1234440" cy="658368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6"/>
          <p:cNvSpPr txBox="1"/>
          <p:nvPr/>
        </p:nvSpPr>
        <p:spPr>
          <a:xfrm>
            <a:off x="2194560" y="1691640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6"/>
          <p:cNvSpPr/>
          <p:nvPr/>
        </p:nvSpPr>
        <p:spPr>
          <a:xfrm>
            <a:off x="2194560" y="2459736"/>
            <a:ext cx="1234440" cy="658368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6"/>
          <p:cNvSpPr txBox="1"/>
          <p:nvPr/>
        </p:nvSpPr>
        <p:spPr>
          <a:xfrm>
            <a:off x="2194560" y="2459736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6"/>
          <p:cNvSpPr/>
          <p:nvPr/>
        </p:nvSpPr>
        <p:spPr>
          <a:xfrm>
            <a:off x="2194560" y="3227832"/>
            <a:ext cx="1234440" cy="658368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6"/>
          <p:cNvSpPr txBox="1"/>
          <p:nvPr/>
        </p:nvSpPr>
        <p:spPr>
          <a:xfrm>
            <a:off x="2194560" y="3227832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6"/>
          <p:cNvSpPr/>
          <p:nvPr/>
        </p:nvSpPr>
        <p:spPr>
          <a:xfrm>
            <a:off x="2194560" y="3995928"/>
            <a:ext cx="1234440" cy="658368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6"/>
          <p:cNvSpPr txBox="1"/>
          <p:nvPr/>
        </p:nvSpPr>
        <p:spPr>
          <a:xfrm>
            <a:off x="2194560" y="3995928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6"/>
          <p:cNvSpPr txBox="1"/>
          <p:nvPr/>
        </p:nvSpPr>
        <p:spPr>
          <a:xfrm>
            <a:off x="3566160" y="132588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3566160" y="1691640"/>
            <a:ext cx="1234440" cy="658368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6"/>
          <p:cNvSpPr txBox="1"/>
          <p:nvPr/>
        </p:nvSpPr>
        <p:spPr>
          <a:xfrm>
            <a:off x="3566160" y="1691640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3566160" y="2459736"/>
            <a:ext cx="1234440" cy="658368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6"/>
          <p:cNvSpPr txBox="1"/>
          <p:nvPr/>
        </p:nvSpPr>
        <p:spPr>
          <a:xfrm>
            <a:off x="3566160" y="2459736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6"/>
          <p:cNvSpPr/>
          <p:nvPr/>
        </p:nvSpPr>
        <p:spPr>
          <a:xfrm>
            <a:off x="3566160" y="3227832"/>
            <a:ext cx="1234440" cy="658368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6"/>
          <p:cNvSpPr txBox="1"/>
          <p:nvPr/>
        </p:nvSpPr>
        <p:spPr>
          <a:xfrm>
            <a:off x="3566160" y="3227832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6"/>
          <p:cNvSpPr/>
          <p:nvPr/>
        </p:nvSpPr>
        <p:spPr>
          <a:xfrm>
            <a:off x="3566160" y="3995928"/>
            <a:ext cx="1234440" cy="658368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6"/>
          <p:cNvSpPr txBox="1"/>
          <p:nvPr/>
        </p:nvSpPr>
        <p:spPr>
          <a:xfrm>
            <a:off x="3566160" y="3995928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6"/>
          <p:cNvSpPr txBox="1"/>
          <p:nvPr/>
        </p:nvSpPr>
        <p:spPr>
          <a:xfrm>
            <a:off x="4937760" y="132588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4937760" y="1691640"/>
            <a:ext cx="1234440" cy="658368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6"/>
          <p:cNvSpPr txBox="1"/>
          <p:nvPr/>
        </p:nvSpPr>
        <p:spPr>
          <a:xfrm>
            <a:off x="4937760" y="1691640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4937760" y="2459736"/>
            <a:ext cx="1234440" cy="658368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6"/>
          <p:cNvSpPr txBox="1"/>
          <p:nvPr/>
        </p:nvSpPr>
        <p:spPr>
          <a:xfrm>
            <a:off x="4937760" y="2459736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4937760" y="3227832"/>
            <a:ext cx="1234440" cy="658368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6"/>
          <p:cNvSpPr txBox="1"/>
          <p:nvPr/>
        </p:nvSpPr>
        <p:spPr>
          <a:xfrm>
            <a:off x="4937760" y="3227832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4937760" y="3995928"/>
            <a:ext cx="1234440" cy="658368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6"/>
          <p:cNvSpPr txBox="1"/>
          <p:nvPr/>
        </p:nvSpPr>
        <p:spPr>
          <a:xfrm>
            <a:off x="4937760" y="3995928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6"/>
          <p:cNvSpPr txBox="1"/>
          <p:nvPr/>
        </p:nvSpPr>
        <p:spPr>
          <a:xfrm>
            <a:off x="6537960" y="1920240"/>
            <a:ext cx="51206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Mínimo 3 discos  •  Tolera 1 falha  •  Capacidade útil: (N−1) × disco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Write penalty: 4 I/Os por escrita pequena (ler dado antigo, ler paridade antiga, gravar dado novo, gravar paridade nova)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Uso recomendado: uso geral em SBD — melhor equilíbrio custo × desempenho × confiabilidade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6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6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7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RAID 6 — Dupla Paridade Distribuída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7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Como o RAID5, mas com uma segunda paridade (P+Q) independente — tolera 2 falhas simultâneas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7"/>
          <p:cNvSpPr txBox="1"/>
          <p:nvPr/>
        </p:nvSpPr>
        <p:spPr>
          <a:xfrm>
            <a:off x="822960" y="132588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7"/>
          <p:cNvSpPr/>
          <p:nvPr/>
        </p:nvSpPr>
        <p:spPr>
          <a:xfrm>
            <a:off x="822960" y="1691640"/>
            <a:ext cx="1234440" cy="658368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7"/>
          <p:cNvSpPr txBox="1"/>
          <p:nvPr/>
        </p:nvSpPr>
        <p:spPr>
          <a:xfrm>
            <a:off x="822960" y="1691640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7"/>
          <p:cNvSpPr/>
          <p:nvPr/>
        </p:nvSpPr>
        <p:spPr>
          <a:xfrm>
            <a:off x="822960" y="2459736"/>
            <a:ext cx="1234440" cy="658368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7"/>
          <p:cNvSpPr txBox="1"/>
          <p:nvPr/>
        </p:nvSpPr>
        <p:spPr>
          <a:xfrm>
            <a:off x="822960" y="2459736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7"/>
          <p:cNvSpPr/>
          <p:nvPr/>
        </p:nvSpPr>
        <p:spPr>
          <a:xfrm>
            <a:off x="822960" y="3227832"/>
            <a:ext cx="1234440" cy="658368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7"/>
          <p:cNvSpPr txBox="1"/>
          <p:nvPr/>
        </p:nvSpPr>
        <p:spPr>
          <a:xfrm>
            <a:off x="822960" y="3227832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7"/>
          <p:cNvSpPr/>
          <p:nvPr/>
        </p:nvSpPr>
        <p:spPr>
          <a:xfrm>
            <a:off x="822960" y="3995928"/>
            <a:ext cx="1234440" cy="658368"/>
          </a:xfrm>
          <a:prstGeom prst="rect">
            <a:avLst/>
          </a:prstGeom>
          <a:solidFill>
            <a:srgbClr val="C1512E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7"/>
          <p:cNvSpPr txBox="1"/>
          <p:nvPr/>
        </p:nvSpPr>
        <p:spPr>
          <a:xfrm>
            <a:off x="822960" y="3995928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7"/>
          <p:cNvSpPr txBox="1"/>
          <p:nvPr/>
        </p:nvSpPr>
        <p:spPr>
          <a:xfrm>
            <a:off x="2194560" y="132588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2194560" y="1691640"/>
            <a:ext cx="1234440" cy="658368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7"/>
          <p:cNvSpPr txBox="1"/>
          <p:nvPr/>
        </p:nvSpPr>
        <p:spPr>
          <a:xfrm>
            <a:off x="2194560" y="1691640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7"/>
          <p:cNvSpPr/>
          <p:nvPr/>
        </p:nvSpPr>
        <p:spPr>
          <a:xfrm>
            <a:off x="2194560" y="2459736"/>
            <a:ext cx="1234440" cy="658368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7"/>
          <p:cNvSpPr txBox="1"/>
          <p:nvPr/>
        </p:nvSpPr>
        <p:spPr>
          <a:xfrm>
            <a:off x="2194560" y="2459736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7"/>
          <p:cNvSpPr/>
          <p:nvPr/>
        </p:nvSpPr>
        <p:spPr>
          <a:xfrm>
            <a:off x="2194560" y="3227832"/>
            <a:ext cx="1234440" cy="658368"/>
          </a:xfrm>
          <a:prstGeom prst="rect">
            <a:avLst/>
          </a:prstGeom>
          <a:solidFill>
            <a:srgbClr val="C1512E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7"/>
          <p:cNvSpPr txBox="1"/>
          <p:nvPr/>
        </p:nvSpPr>
        <p:spPr>
          <a:xfrm>
            <a:off x="2194560" y="3227832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7"/>
          <p:cNvSpPr/>
          <p:nvPr/>
        </p:nvSpPr>
        <p:spPr>
          <a:xfrm>
            <a:off x="2194560" y="3995928"/>
            <a:ext cx="1234440" cy="658368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7"/>
          <p:cNvSpPr txBox="1"/>
          <p:nvPr/>
        </p:nvSpPr>
        <p:spPr>
          <a:xfrm>
            <a:off x="2194560" y="3995928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7"/>
          <p:cNvSpPr txBox="1"/>
          <p:nvPr/>
        </p:nvSpPr>
        <p:spPr>
          <a:xfrm>
            <a:off x="3566160" y="132588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7"/>
          <p:cNvSpPr/>
          <p:nvPr/>
        </p:nvSpPr>
        <p:spPr>
          <a:xfrm>
            <a:off x="3566160" y="1691640"/>
            <a:ext cx="1234440" cy="658368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7"/>
          <p:cNvSpPr txBox="1"/>
          <p:nvPr/>
        </p:nvSpPr>
        <p:spPr>
          <a:xfrm>
            <a:off x="3566160" y="1691640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7"/>
          <p:cNvSpPr/>
          <p:nvPr/>
        </p:nvSpPr>
        <p:spPr>
          <a:xfrm>
            <a:off x="3566160" y="2459736"/>
            <a:ext cx="1234440" cy="658368"/>
          </a:xfrm>
          <a:prstGeom prst="rect">
            <a:avLst/>
          </a:prstGeom>
          <a:solidFill>
            <a:srgbClr val="C1512E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7"/>
          <p:cNvSpPr txBox="1"/>
          <p:nvPr/>
        </p:nvSpPr>
        <p:spPr>
          <a:xfrm>
            <a:off x="3566160" y="2459736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3566160" y="3227832"/>
            <a:ext cx="1234440" cy="658368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7"/>
          <p:cNvSpPr txBox="1"/>
          <p:nvPr/>
        </p:nvSpPr>
        <p:spPr>
          <a:xfrm>
            <a:off x="3566160" y="3227832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7"/>
          <p:cNvSpPr/>
          <p:nvPr/>
        </p:nvSpPr>
        <p:spPr>
          <a:xfrm>
            <a:off x="3566160" y="3995928"/>
            <a:ext cx="1234440" cy="658368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7"/>
          <p:cNvSpPr txBox="1"/>
          <p:nvPr/>
        </p:nvSpPr>
        <p:spPr>
          <a:xfrm>
            <a:off x="3566160" y="3995928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7"/>
          <p:cNvSpPr txBox="1"/>
          <p:nvPr/>
        </p:nvSpPr>
        <p:spPr>
          <a:xfrm>
            <a:off x="4937760" y="1325880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Disco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7"/>
          <p:cNvSpPr/>
          <p:nvPr/>
        </p:nvSpPr>
        <p:spPr>
          <a:xfrm>
            <a:off x="4937760" y="1691640"/>
            <a:ext cx="1234440" cy="658368"/>
          </a:xfrm>
          <a:prstGeom prst="rect">
            <a:avLst/>
          </a:prstGeom>
          <a:solidFill>
            <a:srgbClr val="C1512E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7"/>
          <p:cNvSpPr txBox="1"/>
          <p:nvPr/>
        </p:nvSpPr>
        <p:spPr>
          <a:xfrm>
            <a:off x="4937760" y="1691640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7"/>
          <p:cNvSpPr/>
          <p:nvPr/>
        </p:nvSpPr>
        <p:spPr>
          <a:xfrm>
            <a:off x="4937760" y="2459736"/>
            <a:ext cx="1234440" cy="658368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7"/>
          <p:cNvSpPr txBox="1"/>
          <p:nvPr/>
        </p:nvSpPr>
        <p:spPr>
          <a:xfrm>
            <a:off x="4937760" y="2459736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7"/>
          <p:cNvSpPr/>
          <p:nvPr/>
        </p:nvSpPr>
        <p:spPr>
          <a:xfrm>
            <a:off x="4937760" y="3227832"/>
            <a:ext cx="1234440" cy="658368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7"/>
          <p:cNvSpPr txBox="1"/>
          <p:nvPr/>
        </p:nvSpPr>
        <p:spPr>
          <a:xfrm>
            <a:off x="4937760" y="3227832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7"/>
          <p:cNvSpPr/>
          <p:nvPr/>
        </p:nvSpPr>
        <p:spPr>
          <a:xfrm>
            <a:off x="4937760" y="3995928"/>
            <a:ext cx="1234440" cy="658368"/>
          </a:xfrm>
          <a:prstGeom prst="rect">
            <a:avLst/>
          </a:prstGeom>
          <a:solidFill>
            <a:srgbClr val="E9C46A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7"/>
          <p:cNvSpPr txBox="1"/>
          <p:nvPr/>
        </p:nvSpPr>
        <p:spPr>
          <a:xfrm>
            <a:off x="4937760" y="3995928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7"/>
          <p:cNvSpPr txBox="1"/>
          <p:nvPr/>
        </p:nvSpPr>
        <p:spPr>
          <a:xfrm>
            <a:off x="6537960" y="1920240"/>
            <a:ext cx="512064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Mínimo 4 discos  •  Tolera 2 falhas simultâneas  •  Capacidade útil: (N−2) × disco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Write penalty ainda maior que o RAID5 (até 6 I/Os por escrita)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Uso recomendado: arranjos grandes / discos de alta capacidade, onde o rebuild é longo e uma 2ª falha é um risco real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7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7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8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RAID 0+1 x RAID 10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8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RAID 0+1 — Mirror de Stripes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8"/>
          <p:cNvSpPr/>
          <p:nvPr/>
        </p:nvSpPr>
        <p:spPr>
          <a:xfrm>
            <a:off x="594360" y="1463040"/>
            <a:ext cx="1965960" cy="731520"/>
          </a:xfrm>
          <a:prstGeom prst="roundRect">
            <a:avLst>
              <a:gd fmla="val 10000" name="adj"/>
            </a:avLst>
          </a:prstGeom>
          <a:solidFill>
            <a:srgbClr val="F4F6F8"/>
          </a:solidFill>
          <a:ln cap="flat" cmpd="sng" w="12700">
            <a:solidFill>
              <a:srgbClr val="415A7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8"/>
          <p:cNvSpPr/>
          <p:nvPr/>
        </p:nvSpPr>
        <p:spPr>
          <a:xfrm>
            <a:off x="731520" y="1600200"/>
            <a:ext cx="777240" cy="4572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8"/>
          <p:cNvSpPr txBox="1"/>
          <p:nvPr/>
        </p:nvSpPr>
        <p:spPr>
          <a:xfrm>
            <a:off x="731520" y="160020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8"/>
          <p:cNvSpPr/>
          <p:nvPr/>
        </p:nvSpPr>
        <p:spPr>
          <a:xfrm>
            <a:off x="1645920" y="1600200"/>
            <a:ext cx="777240" cy="457200"/>
          </a:xfrm>
          <a:prstGeom prst="rect">
            <a:avLst/>
          </a:prstGeom>
          <a:solidFill>
            <a:srgbClr val="C1512E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8"/>
          <p:cNvSpPr txBox="1"/>
          <p:nvPr/>
        </p:nvSpPr>
        <p:spPr>
          <a:xfrm>
            <a:off x="1645920" y="160020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8"/>
          <p:cNvSpPr txBox="1"/>
          <p:nvPr/>
        </p:nvSpPr>
        <p:spPr>
          <a:xfrm>
            <a:off x="594360" y="224028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Stripe A (RAID0)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8"/>
          <p:cNvSpPr/>
          <p:nvPr/>
        </p:nvSpPr>
        <p:spPr>
          <a:xfrm>
            <a:off x="3337560" y="1463040"/>
            <a:ext cx="1965960" cy="731520"/>
          </a:xfrm>
          <a:prstGeom prst="roundRect">
            <a:avLst>
              <a:gd fmla="val 10000" name="adj"/>
            </a:avLst>
          </a:prstGeom>
          <a:solidFill>
            <a:srgbClr val="F4F6F8"/>
          </a:solidFill>
          <a:ln cap="flat" cmpd="sng" w="12700">
            <a:solidFill>
              <a:srgbClr val="415A7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8"/>
          <p:cNvSpPr/>
          <p:nvPr/>
        </p:nvSpPr>
        <p:spPr>
          <a:xfrm>
            <a:off x="3474720" y="1600200"/>
            <a:ext cx="777240" cy="4572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8"/>
          <p:cNvSpPr txBox="1"/>
          <p:nvPr/>
        </p:nvSpPr>
        <p:spPr>
          <a:xfrm>
            <a:off x="3474720" y="160020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8"/>
          <p:cNvSpPr/>
          <p:nvPr/>
        </p:nvSpPr>
        <p:spPr>
          <a:xfrm>
            <a:off x="4389120" y="1600200"/>
            <a:ext cx="777240" cy="4572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8"/>
          <p:cNvSpPr txBox="1"/>
          <p:nvPr/>
        </p:nvSpPr>
        <p:spPr>
          <a:xfrm>
            <a:off x="4389120" y="160020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8"/>
          <p:cNvSpPr txBox="1"/>
          <p:nvPr/>
        </p:nvSpPr>
        <p:spPr>
          <a:xfrm>
            <a:off x="3337560" y="224028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Stripe B (RAID0)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8"/>
          <p:cNvSpPr txBox="1"/>
          <p:nvPr/>
        </p:nvSpPr>
        <p:spPr>
          <a:xfrm>
            <a:off x="731520" y="2560320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9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9A2E"/>
                </a:solidFill>
                <a:latin typeface="Calibri"/>
                <a:ea typeface="Calibri"/>
                <a:cs typeface="Calibri"/>
                <a:sym typeface="Calibri"/>
              </a:rPr>
              <a:t>◄── MIRROR ──►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8"/>
          <p:cNvSpPr txBox="1"/>
          <p:nvPr/>
        </p:nvSpPr>
        <p:spPr>
          <a:xfrm>
            <a:off x="548640" y="3520440"/>
            <a:ext cx="53035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D2 (em vermelho) falhou → todo o Stripe A é considerado comprometido. Uma 2ª falha em qualquer disco do Stripe B (D3 ou D4) causa perda total. Rebuild recopia o stripe inteiro.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3" name="Google Shape;583;p18"/>
          <p:cNvCxnSpPr/>
          <p:nvPr/>
        </p:nvCxnSpPr>
        <p:spPr>
          <a:xfrm>
            <a:off x="6080760" y="1188720"/>
            <a:ext cx="0" cy="5120640"/>
          </a:xfrm>
          <a:prstGeom prst="straightConnector1">
            <a:avLst/>
          </a:prstGeom>
          <a:noFill/>
          <a:ln cap="flat" cmpd="sng" w="1905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4" name="Google Shape;584;p18"/>
          <p:cNvSpPr txBox="1"/>
          <p:nvPr/>
        </p:nvSpPr>
        <p:spPr>
          <a:xfrm>
            <a:off x="6355080" y="109728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RAID 10 — Stripe de Espelhos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8"/>
          <p:cNvSpPr/>
          <p:nvPr/>
        </p:nvSpPr>
        <p:spPr>
          <a:xfrm>
            <a:off x="6400800" y="1463040"/>
            <a:ext cx="1965960" cy="731520"/>
          </a:xfrm>
          <a:prstGeom prst="roundRect">
            <a:avLst>
              <a:gd fmla="val 10000" name="adj"/>
            </a:avLst>
          </a:prstGeom>
          <a:solidFill>
            <a:srgbClr val="F4F6F8"/>
          </a:solidFill>
          <a:ln cap="flat" cmpd="sng" w="12700">
            <a:solidFill>
              <a:srgbClr val="415A7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8"/>
          <p:cNvSpPr/>
          <p:nvPr/>
        </p:nvSpPr>
        <p:spPr>
          <a:xfrm>
            <a:off x="6537960" y="1600200"/>
            <a:ext cx="777240" cy="4572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8"/>
          <p:cNvSpPr txBox="1"/>
          <p:nvPr/>
        </p:nvSpPr>
        <p:spPr>
          <a:xfrm>
            <a:off x="6537960" y="160020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8"/>
          <p:cNvSpPr/>
          <p:nvPr/>
        </p:nvSpPr>
        <p:spPr>
          <a:xfrm>
            <a:off x="7452360" y="1600200"/>
            <a:ext cx="777240" cy="457200"/>
          </a:xfrm>
          <a:prstGeom prst="rect">
            <a:avLst/>
          </a:prstGeom>
          <a:solidFill>
            <a:srgbClr val="C1512E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8"/>
          <p:cNvSpPr txBox="1"/>
          <p:nvPr/>
        </p:nvSpPr>
        <p:spPr>
          <a:xfrm>
            <a:off x="7452360" y="160020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8"/>
          <p:cNvSpPr txBox="1"/>
          <p:nvPr/>
        </p:nvSpPr>
        <p:spPr>
          <a:xfrm>
            <a:off x="6400800" y="224028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Par espelhado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8"/>
          <p:cNvSpPr/>
          <p:nvPr/>
        </p:nvSpPr>
        <p:spPr>
          <a:xfrm>
            <a:off x="9144000" y="1463040"/>
            <a:ext cx="1965960" cy="731520"/>
          </a:xfrm>
          <a:prstGeom prst="roundRect">
            <a:avLst>
              <a:gd fmla="val 10000" name="adj"/>
            </a:avLst>
          </a:prstGeom>
          <a:solidFill>
            <a:srgbClr val="F4F6F8"/>
          </a:solidFill>
          <a:ln cap="flat" cmpd="sng" w="12700">
            <a:solidFill>
              <a:srgbClr val="415A7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8"/>
          <p:cNvSpPr/>
          <p:nvPr/>
        </p:nvSpPr>
        <p:spPr>
          <a:xfrm>
            <a:off x="9281160" y="1600200"/>
            <a:ext cx="777240" cy="4572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8"/>
          <p:cNvSpPr txBox="1"/>
          <p:nvPr/>
        </p:nvSpPr>
        <p:spPr>
          <a:xfrm>
            <a:off x="9281160" y="160020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8"/>
          <p:cNvSpPr/>
          <p:nvPr/>
        </p:nvSpPr>
        <p:spPr>
          <a:xfrm>
            <a:off x="10195560" y="1600200"/>
            <a:ext cx="777240" cy="457200"/>
          </a:xfrm>
          <a:prstGeom prst="rect">
            <a:avLst/>
          </a:prstGeom>
          <a:solidFill>
            <a:srgbClr val="415A77"/>
          </a:solidFill>
          <a:ln cap="flat" cmpd="sng" w="158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8"/>
          <p:cNvSpPr txBox="1"/>
          <p:nvPr/>
        </p:nvSpPr>
        <p:spPr>
          <a:xfrm>
            <a:off x="10195560" y="1600200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8"/>
          <p:cNvSpPr txBox="1"/>
          <p:nvPr/>
        </p:nvSpPr>
        <p:spPr>
          <a:xfrm>
            <a:off x="9144000" y="224028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Par espelhado 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8"/>
          <p:cNvSpPr txBox="1"/>
          <p:nvPr/>
        </p:nvSpPr>
        <p:spPr>
          <a:xfrm>
            <a:off x="6537960" y="2560320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9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9A2E"/>
                </a:solidFill>
                <a:latin typeface="Calibri"/>
                <a:ea typeface="Calibri"/>
                <a:cs typeface="Calibri"/>
                <a:sym typeface="Calibri"/>
              </a:rPr>
              <a:t>◄── STRIPE ──►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8"/>
          <p:cNvSpPr txBox="1"/>
          <p:nvPr/>
        </p:nvSpPr>
        <p:spPr>
          <a:xfrm>
            <a:off x="6355080" y="3520440"/>
            <a:ext cx="53035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D2 (em vermelho) falhou → apenas o Par 1 fica exposto. O Par 2 continua plenamente espelhado. Rebuild copia só o disco individual, a partir de seu par — muito mais rápido.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8"/>
          <p:cNvSpPr/>
          <p:nvPr/>
        </p:nvSpPr>
        <p:spPr>
          <a:xfrm>
            <a:off x="6355080" y="5257800"/>
            <a:ext cx="5303520" cy="502920"/>
          </a:xfrm>
          <a:prstGeom prst="roundRect">
            <a:avLst>
              <a:gd fmla="val 14545" name="adj"/>
            </a:avLst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8"/>
          <p:cNvSpPr txBox="1"/>
          <p:nvPr/>
        </p:nvSpPr>
        <p:spPr>
          <a:xfrm>
            <a:off x="6355080" y="525780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RAID10 é, na prática, preferível ao RAID0+1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8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8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9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Níveis Não Padrão de RAID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9"/>
          <p:cNvSpPr txBox="1"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Implementações proprietárias de fabricantes específicos — não são padrões abertos como RAID 0–6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9"/>
          <p:cNvSpPr/>
          <p:nvPr/>
        </p:nvSpPr>
        <p:spPr>
          <a:xfrm>
            <a:off x="548640" y="1600200"/>
            <a:ext cx="2121408" cy="448056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9"/>
          <p:cNvSpPr/>
          <p:nvPr/>
        </p:nvSpPr>
        <p:spPr>
          <a:xfrm>
            <a:off x="548640" y="1600200"/>
            <a:ext cx="2121408" cy="50292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9"/>
          <p:cNvSpPr txBox="1"/>
          <p:nvPr/>
        </p:nvSpPr>
        <p:spPr>
          <a:xfrm>
            <a:off x="548640" y="1600200"/>
            <a:ext cx="21214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RAID 1.5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9"/>
          <p:cNvSpPr txBox="1"/>
          <p:nvPr/>
        </p:nvSpPr>
        <p:spPr>
          <a:xfrm>
            <a:off x="685800" y="2240280"/>
            <a:ext cx="1847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00E"/>
              </a:buClr>
              <a:buSzPts val="1150"/>
              <a:buFont typeface="Calibri"/>
              <a:buNone/>
            </a:pPr>
            <a:r>
              <a:rPr b="1" i="1" lang="en-US" sz="1150" u="none" cap="none" strike="noStrike">
                <a:solidFill>
                  <a:srgbClr val="B9800E"/>
                </a:solidFill>
                <a:latin typeface="Calibri"/>
                <a:ea typeface="Calibri"/>
                <a:cs typeface="Calibri"/>
                <a:sym typeface="Calibri"/>
              </a:rPr>
              <a:t>HighPoint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9"/>
          <p:cNvSpPr txBox="1"/>
          <p:nvPr/>
        </p:nvSpPr>
        <p:spPr>
          <a:xfrm>
            <a:off x="685800" y="2788920"/>
            <a:ext cx="1847088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2 discos: escrita espelhada (RAID1) + leitura dividida entre os discos (RAID0).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9"/>
          <p:cNvSpPr/>
          <p:nvPr/>
        </p:nvSpPr>
        <p:spPr>
          <a:xfrm>
            <a:off x="2834640" y="1600200"/>
            <a:ext cx="2121408" cy="448056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9"/>
          <p:cNvSpPr/>
          <p:nvPr/>
        </p:nvSpPr>
        <p:spPr>
          <a:xfrm>
            <a:off x="2834640" y="1600200"/>
            <a:ext cx="2121408" cy="50292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9"/>
          <p:cNvSpPr txBox="1"/>
          <p:nvPr/>
        </p:nvSpPr>
        <p:spPr>
          <a:xfrm>
            <a:off x="2834640" y="1600200"/>
            <a:ext cx="21214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RAID 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9"/>
          <p:cNvSpPr txBox="1"/>
          <p:nvPr/>
        </p:nvSpPr>
        <p:spPr>
          <a:xfrm>
            <a:off x="2971800" y="2240280"/>
            <a:ext cx="1847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00E"/>
              </a:buClr>
              <a:buSzPts val="1150"/>
              <a:buFont typeface="Calibri"/>
              <a:buNone/>
            </a:pPr>
            <a:r>
              <a:rPr b="1" i="1" lang="en-US" sz="1150" u="none" cap="none" strike="noStrike">
                <a:solidFill>
                  <a:srgbClr val="B9800E"/>
                </a:solidFill>
                <a:latin typeface="Calibri"/>
                <a:ea typeface="Calibri"/>
                <a:cs typeface="Calibri"/>
                <a:sym typeface="Calibri"/>
              </a:rPr>
              <a:t>Storage Computer Corp. (extinta)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9"/>
          <p:cNvSpPr txBox="1"/>
          <p:nvPr/>
        </p:nvSpPr>
        <p:spPr>
          <a:xfrm>
            <a:off x="2971800" y="2788920"/>
            <a:ext cx="1847088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Cache independente por disco + microprocessador com SO de tempo real. Marca registrada.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9"/>
          <p:cNvSpPr/>
          <p:nvPr/>
        </p:nvSpPr>
        <p:spPr>
          <a:xfrm>
            <a:off x="5120640" y="1600200"/>
            <a:ext cx="2121408" cy="448056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9"/>
          <p:cNvSpPr/>
          <p:nvPr/>
        </p:nvSpPr>
        <p:spPr>
          <a:xfrm>
            <a:off x="5120640" y="1600200"/>
            <a:ext cx="2121408" cy="50292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9"/>
          <p:cNvSpPr txBox="1"/>
          <p:nvPr/>
        </p:nvSpPr>
        <p:spPr>
          <a:xfrm>
            <a:off x="5120640" y="1600200"/>
            <a:ext cx="21214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RAID-DP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9"/>
          <p:cNvSpPr txBox="1"/>
          <p:nvPr/>
        </p:nvSpPr>
        <p:spPr>
          <a:xfrm>
            <a:off x="5257800" y="2240280"/>
            <a:ext cx="1847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00E"/>
              </a:buClr>
              <a:buSzPts val="1150"/>
              <a:buFont typeface="Calibri"/>
              <a:buNone/>
            </a:pPr>
            <a:r>
              <a:rPr b="1" i="1" lang="en-US" sz="1150" u="none" cap="none" strike="noStrike">
                <a:solidFill>
                  <a:srgbClr val="B9800E"/>
                </a:solidFill>
                <a:latin typeface="Calibri"/>
                <a:ea typeface="Calibri"/>
                <a:cs typeface="Calibri"/>
                <a:sym typeface="Calibri"/>
              </a:rPr>
              <a:t>NetApp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9"/>
          <p:cNvSpPr txBox="1"/>
          <p:nvPr/>
        </p:nvSpPr>
        <p:spPr>
          <a:xfrm>
            <a:off x="5257800" y="2788920"/>
            <a:ext cx="1847088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Dupla paridade (horizontal + diagonal) integrada ao WAFL/Data ONTAP.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9"/>
          <p:cNvSpPr/>
          <p:nvPr/>
        </p:nvSpPr>
        <p:spPr>
          <a:xfrm>
            <a:off x="7406640" y="1600200"/>
            <a:ext cx="2121408" cy="448056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9"/>
          <p:cNvSpPr/>
          <p:nvPr/>
        </p:nvSpPr>
        <p:spPr>
          <a:xfrm>
            <a:off x="7406640" y="1600200"/>
            <a:ext cx="2121408" cy="50292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9"/>
          <p:cNvSpPr txBox="1"/>
          <p:nvPr/>
        </p:nvSpPr>
        <p:spPr>
          <a:xfrm>
            <a:off x="7406640" y="1600200"/>
            <a:ext cx="21214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RAID-S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9"/>
          <p:cNvSpPr txBox="1"/>
          <p:nvPr/>
        </p:nvSpPr>
        <p:spPr>
          <a:xfrm>
            <a:off x="7543800" y="2240280"/>
            <a:ext cx="1847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00E"/>
              </a:buClr>
              <a:buSzPts val="1150"/>
              <a:buFont typeface="Calibri"/>
              <a:buNone/>
            </a:pPr>
            <a:r>
              <a:rPr b="1" i="1" lang="en-US" sz="1150" u="none" cap="none" strike="noStrike">
                <a:solidFill>
                  <a:srgbClr val="B9800E"/>
                </a:solidFill>
                <a:latin typeface="Calibri"/>
                <a:ea typeface="Calibri"/>
                <a:cs typeface="Calibri"/>
                <a:sym typeface="Calibri"/>
              </a:rPr>
              <a:t>EMC Symmetrix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9"/>
          <p:cNvSpPr txBox="1"/>
          <p:nvPr/>
        </p:nvSpPr>
        <p:spPr>
          <a:xfrm>
            <a:off x="7543800" y="2788920"/>
            <a:ext cx="1847088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Paridade proprietária otimizada para a cache espelhada dos arrays EMC.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9"/>
          <p:cNvSpPr/>
          <p:nvPr/>
        </p:nvSpPr>
        <p:spPr>
          <a:xfrm>
            <a:off x="9692640" y="1600200"/>
            <a:ext cx="2121408" cy="448056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9"/>
          <p:cNvSpPr/>
          <p:nvPr/>
        </p:nvSpPr>
        <p:spPr>
          <a:xfrm>
            <a:off x="9692640" y="1600200"/>
            <a:ext cx="2121408" cy="50292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19"/>
          <p:cNvSpPr txBox="1"/>
          <p:nvPr/>
        </p:nvSpPr>
        <p:spPr>
          <a:xfrm>
            <a:off x="9692640" y="1600200"/>
            <a:ext cx="21214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Matrix RAID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9"/>
          <p:cNvSpPr txBox="1"/>
          <p:nvPr/>
        </p:nvSpPr>
        <p:spPr>
          <a:xfrm>
            <a:off x="9829800" y="2240280"/>
            <a:ext cx="18470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00E"/>
              </a:buClr>
              <a:buSzPts val="1150"/>
              <a:buFont typeface="Calibri"/>
              <a:buNone/>
            </a:pPr>
            <a:r>
              <a:rPr b="1" i="1" lang="en-US" sz="1150" u="none" cap="none" strike="noStrike">
                <a:solidFill>
                  <a:srgbClr val="B9800E"/>
                </a:solidFill>
                <a:latin typeface="Calibri"/>
                <a:ea typeface="Calibri"/>
                <a:cs typeface="Calibri"/>
                <a:sym typeface="Calibri"/>
              </a:rPr>
              <a:t>Intel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9"/>
          <p:cNvSpPr txBox="1"/>
          <p:nvPr/>
        </p:nvSpPr>
        <p:spPr>
          <a:xfrm>
            <a:off x="9829800" y="2788920"/>
            <a:ext cx="1847088" cy="315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2 volumes RAID de níveis diferentes (ex.: RAID0 + RAID1) nos mesmos 2 discos físicos.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9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9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Recomendações de Uso em SBD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0"/>
          <p:cNvSpPr/>
          <p:nvPr/>
        </p:nvSpPr>
        <p:spPr>
          <a:xfrm>
            <a:off x="548640" y="1371600"/>
            <a:ext cx="4937760" cy="502920"/>
          </a:xfrm>
          <a:prstGeom prst="rect">
            <a:avLst/>
          </a:prstGeom>
          <a:solidFill>
            <a:srgbClr val="1B263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0"/>
          <p:cNvSpPr txBox="1"/>
          <p:nvPr/>
        </p:nvSpPr>
        <p:spPr>
          <a:xfrm>
            <a:off x="548640" y="1371600"/>
            <a:ext cx="4937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Componente do SBD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0"/>
          <p:cNvSpPr/>
          <p:nvPr/>
        </p:nvSpPr>
        <p:spPr>
          <a:xfrm>
            <a:off x="5486400" y="1371600"/>
            <a:ext cx="3840480" cy="502920"/>
          </a:xfrm>
          <a:prstGeom prst="rect">
            <a:avLst/>
          </a:prstGeom>
          <a:solidFill>
            <a:srgbClr val="1B263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0"/>
          <p:cNvSpPr txBox="1"/>
          <p:nvPr/>
        </p:nvSpPr>
        <p:spPr>
          <a:xfrm>
            <a:off x="5486400" y="137160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Nível de RAID recomendado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0"/>
          <p:cNvSpPr/>
          <p:nvPr/>
        </p:nvSpPr>
        <p:spPr>
          <a:xfrm>
            <a:off x="9326880" y="1371600"/>
            <a:ext cx="2286000" cy="502920"/>
          </a:xfrm>
          <a:prstGeom prst="rect">
            <a:avLst/>
          </a:prstGeom>
          <a:solidFill>
            <a:srgbClr val="1B263B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0"/>
          <p:cNvSpPr txBox="1"/>
          <p:nvPr/>
        </p:nvSpPr>
        <p:spPr>
          <a:xfrm>
            <a:off x="9326880" y="1371600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Interface típica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0"/>
          <p:cNvSpPr/>
          <p:nvPr/>
        </p:nvSpPr>
        <p:spPr>
          <a:xfrm>
            <a:off x="548640" y="1874520"/>
            <a:ext cx="493776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0"/>
          <p:cNvSpPr txBox="1"/>
          <p:nvPr/>
        </p:nvSpPr>
        <p:spPr>
          <a:xfrm>
            <a:off x="640080" y="1874520"/>
            <a:ext cx="4754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Logs de transação (redo/undo)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0"/>
          <p:cNvSpPr/>
          <p:nvPr/>
        </p:nvSpPr>
        <p:spPr>
          <a:xfrm>
            <a:off x="5486400" y="1874520"/>
            <a:ext cx="384048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0"/>
          <p:cNvSpPr txBox="1"/>
          <p:nvPr/>
        </p:nvSpPr>
        <p:spPr>
          <a:xfrm>
            <a:off x="5577840" y="1874520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RAID 1 ou RAID 10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0"/>
          <p:cNvSpPr/>
          <p:nvPr/>
        </p:nvSpPr>
        <p:spPr>
          <a:xfrm>
            <a:off x="9326880" y="1874520"/>
            <a:ext cx="228600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0"/>
          <p:cNvSpPr txBox="1"/>
          <p:nvPr/>
        </p:nvSpPr>
        <p:spPr>
          <a:xfrm>
            <a:off x="9418320" y="1874520"/>
            <a:ext cx="2103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0"/>
          <p:cNvSpPr/>
          <p:nvPr/>
        </p:nvSpPr>
        <p:spPr>
          <a:xfrm>
            <a:off x="548640" y="2532888"/>
            <a:ext cx="4937760" cy="658368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0"/>
          <p:cNvSpPr txBox="1"/>
          <p:nvPr/>
        </p:nvSpPr>
        <p:spPr>
          <a:xfrm>
            <a:off x="640080" y="2532888"/>
            <a:ext cx="4754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Arquivos de dados OLTP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0"/>
          <p:cNvSpPr/>
          <p:nvPr/>
        </p:nvSpPr>
        <p:spPr>
          <a:xfrm>
            <a:off x="5486400" y="2532888"/>
            <a:ext cx="3840480" cy="658368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0"/>
          <p:cNvSpPr txBox="1"/>
          <p:nvPr/>
        </p:nvSpPr>
        <p:spPr>
          <a:xfrm>
            <a:off x="5577840" y="2532888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RAID 10 (ou RAID 5/6)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0"/>
          <p:cNvSpPr/>
          <p:nvPr/>
        </p:nvSpPr>
        <p:spPr>
          <a:xfrm>
            <a:off x="9326880" y="2532888"/>
            <a:ext cx="2286000" cy="658368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0"/>
          <p:cNvSpPr txBox="1"/>
          <p:nvPr/>
        </p:nvSpPr>
        <p:spPr>
          <a:xfrm>
            <a:off x="9418320" y="2532888"/>
            <a:ext cx="2103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0"/>
          <p:cNvSpPr/>
          <p:nvPr/>
        </p:nvSpPr>
        <p:spPr>
          <a:xfrm>
            <a:off x="548640" y="3191256"/>
            <a:ext cx="493776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0"/>
          <p:cNvSpPr txBox="1"/>
          <p:nvPr/>
        </p:nvSpPr>
        <p:spPr>
          <a:xfrm>
            <a:off x="640080" y="3191256"/>
            <a:ext cx="4754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Data Warehouse / OLAP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0"/>
          <p:cNvSpPr/>
          <p:nvPr/>
        </p:nvSpPr>
        <p:spPr>
          <a:xfrm>
            <a:off x="5486400" y="3191256"/>
            <a:ext cx="384048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0"/>
          <p:cNvSpPr txBox="1"/>
          <p:nvPr/>
        </p:nvSpPr>
        <p:spPr>
          <a:xfrm>
            <a:off x="5577840" y="3191256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RAID 5 ou RAID 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0"/>
          <p:cNvSpPr/>
          <p:nvPr/>
        </p:nvSpPr>
        <p:spPr>
          <a:xfrm>
            <a:off x="9326880" y="3191256"/>
            <a:ext cx="228600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0"/>
          <p:cNvSpPr txBox="1"/>
          <p:nvPr/>
        </p:nvSpPr>
        <p:spPr>
          <a:xfrm>
            <a:off x="9418320" y="3191256"/>
            <a:ext cx="2103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SAS / SATA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0"/>
          <p:cNvSpPr/>
          <p:nvPr/>
        </p:nvSpPr>
        <p:spPr>
          <a:xfrm>
            <a:off x="548640" y="3849624"/>
            <a:ext cx="4937760" cy="658368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0"/>
          <p:cNvSpPr txBox="1"/>
          <p:nvPr/>
        </p:nvSpPr>
        <p:spPr>
          <a:xfrm>
            <a:off x="640080" y="3849624"/>
            <a:ext cx="4754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Backup e arquivamento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0"/>
          <p:cNvSpPr/>
          <p:nvPr/>
        </p:nvSpPr>
        <p:spPr>
          <a:xfrm>
            <a:off x="5486400" y="3849624"/>
            <a:ext cx="3840480" cy="658368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0"/>
          <p:cNvSpPr txBox="1"/>
          <p:nvPr/>
        </p:nvSpPr>
        <p:spPr>
          <a:xfrm>
            <a:off x="5577840" y="3849624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RAID 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0"/>
          <p:cNvSpPr/>
          <p:nvPr/>
        </p:nvSpPr>
        <p:spPr>
          <a:xfrm>
            <a:off x="9326880" y="3849624"/>
            <a:ext cx="2286000" cy="658368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0"/>
          <p:cNvSpPr txBox="1"/>
          <p:nvPr/>
        </p:nvSpPr>
        <p:spPr>
          <a:xfrm>
            <a:off x="9418320" y="3849624"/>
            <a:ext cx="2103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0"/>
          <p:cNvSpPr/>
          <p:nvPr/>
        </p:nvSpPr>
        <p:spPr>
          <a:xfrm>
            <a:off x="548640" y="4507992"/>
            <a:ext cx="493776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0"/>
          <p:cNvSpPr txBox="1"/>
          <p:nvPr/>
        </p:nvSpPr>
        <p:spPr>
          <a:xfrm>
            <a:off x="640080" y="4507992"/>
            <a:ext cx="4754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Áreas temporárias (tempdb)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0"/>
          <p:cNvSpPr/>
          <p:nvPr/>
        </p:nvSpPr>
        <p:spPr>
          <a:xfrm>
            <a:off x="5486400" y="4507992"/>
            <a:ext cx="384048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0"/>
          <p:cNvSpPr txBox="1"/>
          <p:nvPr/>
        </p:nvSpPr>
        <p:spPr>
          <a:xfrm>
            <a:off x="5577840" y="4507992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RAID 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0"/>
          <p:cNvSpPr/>
          <p:nvPr/>
        </p:nvSpPr>
        <p:spPr>
          <a:xfrm>
            <a:off x="9326880" y="4507992"/>
            <a:ext cx="2286000" cy="6583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0"/>
          <p:cNvSpPr txBox="1"/>
          <p:nvPr/>
        </p:nvSpPr>
        <p:spPr>
          <a:xfrm>
            <a:off x="9418320" y="4507992"/>
            <a:ext cx="2103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SAS / SATA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0"/>
          <p:cNvSpPr/>
          <p:nvPr/>
        </p:nvSpPr>
        <p:spPr>
          <a:xfrm>
            <a:off x="548640" y="5166360"/>
            <a:ext cx="4937760" cy="658368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0"/>
          <p:cNvSpPr txBox="1"/>
          <p:nvPr/>
        </p:nvSpPr>
        <p:spPr>
          <a:xfrm>
            <a:off x="640080" y="5166360"/>
            <a:ext cx="4754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DAS externo de alto desempenho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0"/>
          <p:cNvSpPr/>
          <p:nvPr/>
        </p:nvSpPr>
        <p:spPr>
          <a:xfrm>
            <a:off x="5486400" y="5166360"/>
            <a:ext cx="3840480" cy="658368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0"/>
          <p:cNvSpPr txBox="1"/>
          <p:nvPr/>
        </p:nvSpPr>
        <p:spPr>
          <a:xfrm>
            <a:off x="5577840" y="5166360"/>
            <a:ext cx="3657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5A7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415A77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0"/>
          <p:cNvSpPr/>
          <p:nvPr/>
        </p:nvSpPr>
        <p:spPr>
          <a:xfrm>
            <a:off x="9326880" y="5166360"/>
            <a:ext cx="2286000" cy="658368"/>
          </a:xfrm>
          <a:prstGeom prst="rect">
            <a:avLst/>
          </a:prstGeom>
          <a:solidFill>
            <a:srgbClr val="F4F6F8"/>
          </a:solidFill>
          <a:ln cap="flat" cmpd="sng" w="9525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0"/>
          <p:cNvSpPr txBox="1"/>
          <p:nvPr/>
        </p:nvSpPr>
        <p:spPr>
          <a:xfrm>
            <a:off x="9418320" y="5166360"/>
            <a:ext cx="2103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USB4 v2.0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0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0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B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21"/>
          <p:cNvSpPr/>
          <p:nvPr/>
        </p:nvSpPr>
        <p:spPr>
          <a:xfrm>
            <a:off x="10241280" y="-1188720"/>
            <a:ext cx="3108960" cy="3108960"/>
          </a:xfrm>
          <a:prstGeom prst="ellipse">
            <a:avLst/>
          </a:prstGeom>
          <a:solidFill>
            <a:srgbClr val="415A7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1"/>
          <p:cNvSpPr/>
          <p:nvPr/>
        </p:nvSpPr>
        <p:spPr>
          <a:xfrm>
            <a:off x="11247120" y="182880"/>
            <a:ext cx="1737360" cy="1737360"/>
          </a:xfrm>
          <a:prstGeom prst="ellipse">
            <a:avLst/>
          </a:prstGeom>
          <a:solidFill>
            <a:srgbClr val="E9C46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1"/>
          <p:cNvSpPr txBox="1"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1"/>
          <p:cNvSpPr/>
          <p:nvPr/>
        </p:nvSpPr>
        <p:spPr>
          <a:xfrm>
            <a:off x="731520" y="1737360"/>
            <a:ext cx="384048" cy="384048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1"/>
          <p:cNvSpPr txBox="1"/>
          <p:nvPr/>
        </p:nvSpPr>
        <p:spPr>
          <a:xfrm>
            <a:off x="731520" y="17373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1"/>
          <p:cNvSpPr txBox="1"/>
          <p:nvPr/>
        </p:nvSpPr>
        <p:spPr>
          <a:xfrm>
            <a:off x="1325880" y="1664208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escolha de interface (SATA, eSATA, SAS, FireWire, USB, HBA) e de nível de RAID é uma decisão de arquitetura, não apenas de hardware.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1"/>
          <p:cNvSpPr/>
          <p:nvPr/>
        </p:nvSpPr>
        <p:spPr>
          <a:xfrm>
            <a:off x="731520" y="2788920"/>
            <a:ext cx="384048" cy="384048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1"/>
          <p:cNvSpPr txBox="1"/>
          <p:nvPr/>
        </p:nvSpPr>
        <p:spPr>
          <a:xfrm>
            <a:off x="731520" y="27889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1"/>
          <p:cNvSpPr txBox="1"/>
          <p:nvPr/>
        </p:nvSpPr>
        <p:spPr>
          <a:xfrm>
            <a:off x="1325880" y="2715768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Paralelismo e redundância competem pelos mesmos discos: striping maximiza desempenho, mirroring/paridade sacrificam capacidade ou escrita por confiabilidade.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1"/>
          <p:cNvSpPr/>
          <p:nvPr/>
        </p:nvSpPr>
        <p:spPr>
          <a:xfrm>
            <a:off x="731520" y="3840480"/>
            <a:ext cx="384048" cy="384048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1"/>
          <p:cNvSpPr txBox="1"/>
          <p:nvPr/>
        </p:nvSpPr>
        <p:spPr>
          <a:xfrm>
            <a:off x="731520" y="38404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1"/>
          <p:cNvSpPr txBox="1"/>
          <p:nvPr/>
        </p:nvSpPr>
        <p:spPr>
          <a:xfrm>
            <a:off x="1325880" y="3767328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MTTF, MTBF, MTTR e MTTDL permitem quantificar esse equilíbrio — e explicam a preferência crescente por RAID6 e RAID10 em discos de alta capacidade.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1"/>
          <p:cNvSpPr/>
          <p:nvPr/>
        </p:nvSpPr>
        <p:spPr>
          <a:xfrm>
            <a:off x="731520" y="4892040"/>
            <a:ext cx="384048" cy="384048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1"/>
          <p:cNvSpPr txBox="1"/>
          <p:nvPr/>
        </p:nvSpPr>
        <p:spPr>
          <a:xfrm>
            <a:off x="731520" y="48920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1"/>
          <p:cNvSpPr txBox="1"/>
          <p:nvPr/>
        </p:nvSpPr>
        <p:spPr>
          <a:xfrm>
            <a:off x="1325880" y="4818888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Níveis não padrão (1.5, 7, DP, S, Matrix) mostram como fabricantes adaptam os conceitos acadêmicos às suas próprias arquiteturas.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2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Post-Mortem — Uso de IA Generativa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2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Assistente utilizado: Claude (Anthropic)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2"/>
          <p:cNvSpPr/>
          <p:nvPr/>
        </p:nvSpPr>
        <p:spPr>
          <a:xfrm>
            <a:off x="548640" y="1600200"/>
            <a:ext cx="3520440" cy="429768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2"/>
          <p:cNvSpPr/>
          <p:nvPr/>
        </p:nvSpPr>
        <p:spPr>
          <a:xfrm>
            <a:off x="548640" y="1600200"/>
            <a:ext cx="3520440" cy="50292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2"/>
          <p:cNvSpPr txBox="1"/>
          <p:nvPr/>
        </p:nvSpPr>
        <p:spPr>
          <a:xfrm>
            <a:off x="548640" y="1600200"/>
            <a:ext cx="3520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 de prompts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2"/>
          <p:cNvSpPr txBox="1"/>
          <p:nvPr/>
        </p:nvSpPr>
        <p:spPr>
          <a:xfrm>
            <a:off x="777240" y="2377440"/>
            <a:ext cx="30632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Registro cronológico dos prompts-chave: envio do enunciado, dos arquivos de referência da disciplina, pesquisa de especificações atuais (SAS-4, USB4 v2.0) e geração do relatório/slides.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2"/>
          <p:cNvSpPr/>
          <p:nvPr/>
        </p:nvSpPr>
        <p:spPr>
          <a:xfrm>
            <a:off x="4389120" y="1600200"/>
            <a:ext cx="3520440" cy="429768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2"/>
          <p:cNvSpPr/>
          <p:nvPr/>
        </p:nvSpPr>
        <p:spPr>
          <a:xfrm>
            <a:off x="4389120" y="1600200"/>
            <a:ext cx="3520440" cy="50292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22"/>
          <p:cNvSpPr txBox="1"/>
          <p:nvPr/>
        </p:nvSpPr>
        <p:spPr>
          <a:xfrm>
            <a:off x="4389120" y="1600200"/>
            <a:ext cx="3520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Autoria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2"/>
          <p:cNvSpPr txBox="1"/>
          <p:nvPr/>
        </p:nvSpPr>
        <p:spPr>
          <a:xfrm>
            <a:off x="4617720" y="2377440"/>
            <a:ext cx="30632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Cada integrante documenta o que fez, quais decisões tomou e por quê — detalhado nas Seções 12.3 e 12.4 do relatório em PDF.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2"/>
          <p:cNvSpPr/>
          <p:nvPr/>
        </p:nvSpPr>
        <p:spPr>
          <a:xfrm>
            <a:off x="8229600" y="1600200"/>
            <a:ext cx="3520440" cy="429768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2700">
            <a:solidFill>
              <a:srgbClr val="D8DE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B263B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2"/>
          <p:cNvSpPr/>
          <p:nvPr/>
        </p:nvSpPr>
        <p:spPr>
          <a:xfrm>
            <a:off x="8229600" y="1600200"/>
            <a:ext cx="3520440" cy="50292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2"/>
          <p:cNvSpPr txBox="1"/>
          <p:nvPr/>
        </p:nvSpPr>
        <p:spPr>
          <a:xfrm>
            <a:off x="8229600" y="1600200"/>
            <a:ext cx="3520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Erros corrigidos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2"/>
          <p:cNvSpPr txBox="1"/>
          <p:nvPr/>
        </p:nvSpPr>
        <p:spPr>
          <a:xfrm>
            <a:off x="8458200" y="2377440"/>
            <a:ext cx="306324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6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B263B"/>
                </a:solidFill>
                <a:latin typeface="Calibri"/>
                <a:ea typeface="Calibri"/>
                <a:cs typeface="Calibri"/>
                <a:sym typeface="Calibri"/>
              </a:rPr>
              <a:t>Velocidades de interface verificadas via pesquisa web (não só memória do modelo); distinção formal MTTF x MTBF explicitada; níveis não padrão marcados como proprietários.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2"/>
          <p:cNvSpPr txBox="1"/>
          <p:nvPr/>
        </p:nvSpPr>
        <p:spPr>
          <a:xfrm>
            <a:off x="457200" y="6528816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Armazenamento DAS e RAID para SBD — UFRJ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2"/>
          <p:cNvSpPr txBox="1"/>
          <p:nvPr/>
        </p:nvSpPr>
        <p:spPr>
          <a:xfrm>
            <a:off x="11338560" y="6528816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79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B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3"/>
          <p:cNvSpPr/>
          <p:nvPr/>
        </p:nvSpPr>
        <p:spPr>
          <a:xfrm>
            <a:off x="10241280" y="-1188720"/>
            <a:ext cx="3108960" cy="3108960"/>
          </a:xfrm>
          <a:prstGeom prst="ellipse">
            <a:avLst/>
          </a:prstGeom>
          <a:solidFill>
            <a:srgbClr val="415A7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23"/>
          <p:cNvSpPr/>
          <p:nvPr/>
        </p:nvSpPr>
        <p:spPr>
          <a:xfrm>
            <a:off x="11247120" y="182880"/>
            <a:ext cx="1737360" cy="1737360"/>
          </a:xfrm>
          <a:prstGeom prst="ellipse">
            <a:avLst/>
          </a:prstGeom>
          <a:solidFill>
            <a:srgbClr val="E9C46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3"/>
          <p:cNvSpPr txBox="1"/>
          <p:nvPr/>
        </p:nvSpPr>
        <p:spPr>
          <a:xfrm>
            <a:off x="640080" y="27432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Obrigado!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3"/>
          <p:cNvSpPr txBox="1"/>
          <p:nvPr/>
        </p:nvSpPr>
        <p:spPr>
          <a:xfrm>
            <a:off x="640080" y="34290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Perguntas e debate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3"/>
          <p:cNvSpPr txBox="1"/>
          <p:nvPr/>
        </p:nvSpPr>
        <p:spPr>
          <a:xfrm>
            <a:off x="640080" y="62179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78DA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78DA9"/>
                </a:solidFill>
                <a:latin typeface="Calibri"/>
                <a:ea typeface="Calibri"/>
                <a:cs typeface="Calibri"/>
                <a:sym typeface="Calibri"/>
              </a:rPr>
              <a:t>Bernardo, Enzo, Gabriel, Guilherme, Raphael e Vivian  ·  Armazenamento DAS e RAID para SBD — UFRJ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