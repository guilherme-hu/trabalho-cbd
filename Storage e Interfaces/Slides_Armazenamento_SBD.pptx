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Leitura máx. (MB/s)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Óptico M-DISC</c:v>
                  </c:pt>
                  <c:pt idx="1">
                    <c:v>HDD HAMR 30 TB</c:v>
                  </c:pt>
                  <c:pt idx="2">
                    <c:v>Fita LTO-10</c:v>
                  </c:pt>
                  <c:pt idx="3">
                    <c:v>SSD SATA</c:v>
                  </c:pt>
                  <c:pt idx="4">
                    <c:v>Pen drive USB</c:v>
                  </c:pt>
                  <c:pt idx="5">
                    <c:v>SSD NVMe DC</c:v>
                  </c:pt>
                  <c:pt idx="6">
                    <c:v>SSD NVMe PCIe 5.0</c:v>
                  </c:pt>
                  <c:pt idx="7">
                    <c:v>DRAM DDR5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560</c:v>
                </c:pt>
                <c:pt idx="4">
                  <c:v>1000</c:v>
                </c:pt>
                <c:pt idx="5">
                  <c:v>7000</c:v>
                </c:pt>
                <c:pt idx="6">
                  <c:v>14700</c:v>
                </c:pt>
                <c:pt idx="7">
                  <c:v>96000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Escrita máx. (MB/s)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Óptico M-DISC</c:v>
                  </c:pt>
                  <c:pt idx="1">
                    <c:v>HDD HAMR 30 TB</c:v>
                  </c:pt>
                  <c:pt idx="2">
                    <c:v>Fita LTO-10</c:v>
                  </c:pt>
                  <c:pt idx="3">
                    <c:v>SSD SATA</c:v>
                  </c:pt>
                  <c:pt idx="4">
                    <c:v>Pen drive USB</c:v>
                  </c:pt>
                  <c:pt idx="5">
                    <c:v>SSD NVMe DC</c:v>
                  </c:pt>
                  <c:pt idx="6">
                    <c:v>SSD NVMe PCIe 5.0</c:v>
                  </c:pt>
                  <c:pt idx="7">
                    <c:v>DRAM DDR5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530</c:v>
                </c:pt>
                <c:pt idx="4">
                  <c:v>900</c:v>
                </c:pt>
                <c:pt idx="5">
                  <c:v>3000</c:v>
                </c:pt>
                <c:pt idx="6">
                  <c:v>13300</c:v>
                </c:pt>
                <c:pt idx="7">
                  <c:v>96000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MB/s (escala logarítmica)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PCIe ×4 (NVMe)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/>
                </c:pt>
                <c:pt idx="1">
                  <c:v>1000</c:v>
                </c:pt>
                <c:pt idx="2">
                  <c:v>1000</c:v>
                </c:pt>
                <c:pt idx="3">
                  <c:v>2000</c:v>
                </c:pt>
                <c:pt idx="4">
                  <c:v>3938</c:v>
                </c:pt>
                <c:pt idx="5">
                  <c:v>3938</c:v>
                </c:pt>
                <c:pt idx="6">
                  <c:v>7877</c:v>
                </c:pt>
                <c:pt idx="7">
                  <c:v>15754</c:v>
                </c:pt>
                <c:pt idx="8">
                  <c:v>30250</c:v>
                </c:pt>
                <c:pt idx="9">
                  <c:v>60500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Fibre Channel</c:v>
                </c:pt>
              </c:strCache>
            </c:strRef>
          </c:tx>
          <c:spPr>
            <a:solidFill>
              <a:srgbClr val="EDA100"/>
            </a:solidFill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200</c:v>
                </c:pt>
                <c:pt idx="2">
                  <c:v>400</c:v>
                </c:pt>
                <c:pt idx="3">
                  <c:v>800</c:v>
                </c:pt>
                <c:pt idx="4">
                  <c:v>800</c:v>
                </c:pt>
                <c:pt idx="5">
                  <c:v>3200</c:v>
                </c:pt>
                <c:pt idx="6">
                  <c:v>3200</c:v>
                </c:pt>
                <c:pt idx="7">
                  <c:v>6400</c:v>
                </c:pt>
                <c:pt idx="8">
                  <c:v>12425</c:v>
                </c:pt>
                <c:pt idx="9">
                  <c:v>12425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SAS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/>
                </c:pt>
                <c:pt idx="1">
                  <c:v/>
                </c:pt>
                <c:pt idx="2">
                  <c:v>300</c:v>
                </c:pt>
                <c:pt idx="3">
                  <c:v>300</c:v>
                </c:pt>
                <c:pt idx="4">
                  <c:v>600</c:v>
                </c:pt>
                <c:pt idx="5">
                  <c:v>1200</c:v>
                </c:pt>
                <c:pt idx="6">
                  <c:v>1200</c:v>
                </c:pt>
                <c:pt idx="7">
                  <c:v>2400</c:v>
                </c:pt>
                <c:pt idx="8">
                  <c:v>2400</c:v>
                </c:pt>
                <c:pt idx="9">
                  <c:v>2400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USB</c:v>
                </c:pt>
              </c:strCache>
            </c:strRef>
          </c:tx>
          <c:spPr>
            <a:solidFill>
              <a:srgbClr val="4A3AA7"/>
            </a:solidFill>
            <a:ln w="31750" cap="flat">
              <a:solidFill>
                <a:srgbClr val="4A3A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A3AA7"/>
              </a:solidFill>
              <a:ln w="9525" cap="flat">
                <a:solidFill>
                  <a:srgbClr val="4A3A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/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500</c:v>
                </c:pt>
                <c:pt idx="5">
                  <c:v>1212</c:v>
                </c:pt>
                <c:pt idx="6">
                  <c:v>2424</c:v>
                </c:pt>
                <c:pt idx="7">
                  <c:v>4850</c:v>
                </c:pt>
                <c:pt idx="8">
                  <c:v>9600</c:v>
                </c:pt>
                <c:pt idx="9">
                  <c:v>9600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SATA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/>
                </c:pt>
                <c:pt idx="1">
                  <c:v/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Taxa útil máxima (MB/s) — log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Preencher nomes completos e DRE de cada integrante antes de postar no 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blocos. Os dois centrais são os produtos pedidos no enunciado; o quarto é a nossa contribuição interpretativa.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Enquadrar: não é um trabalho de catálogo de hardware; é sobre quais premissas de projeto de SGBD envelheceram.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ordens de grandeza separam DRAM de SSD no eixo do tempo. Esse é o gráfico que organiza a apresentação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deste slide é o cálculo das 31 horas — é o que conecta física de disco a decisão de projeto (RAID 6 em vez de RAID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consequências para o projetista: amplificação, cauda e paralelismo. A terceira é a que mais afeta o gerente de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mais consequente do trabalho para SGBD transacional. Enfatizar que não é obsolescência do livro: é uma categoria de produto que o mercado retirou.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original antes da atualização para que a comparação faça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linha a linha. Destacar: (a) as linhas novas em azul; (b) a assimetria leitura/escrita do QLC — 7,0 contra 3,0 GB/s.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para o debate: a fita, tratada como resíduo nos livros, é a categoria com roadmap mais longo.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 logarítmico. O par leitura/escrita quase idêntico em DRAM, HDD e fita mostra que a assimetria é característica do flash, não do armazenamento em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mais contraria a expectativa da literatura didática.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a nossa defesa metodológica. Se alguém questionar os preços, a resposta está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estas três reduções, qualquer comparativo de interface publicado na web está errado por um fator de 8 a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Extrato. Chamar atenção para a única linha 'Paralela' — o SCSI — e para a coluna de latência, que é onde a história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reta do SATA a partir de 2009 é o argumento visual do slide seguinte sobre o NVMe.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que o grupo optou por documentar a correção em vez de reproduzir a afirmação. Vale como resposta à pergunta Q7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da apresentação. Se só uma ideia ficar, que seja esta: a vitória do NVMe é de arquitetura de filas, não de velocidade de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denso da apresentação. Vale gastar tempo: é a evidência que sustenta a conclusão de que latência, e não banda, governa o SBD.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do random_page_cost é o exemplo mais concreto: a Tabela 16.1 atualizada termina virando uma linha de arquivo de configuração.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de TPC-C não vem de banda: vem de latência × concorrência.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achado metodológico — é inesperado e costuma gerar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 os nomes dos integrantes no lugar de [INT. n].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E7: a IA não questiona espontaneamente uma premissa dada no enunciado. Foi preciso desconfiar e perguntar.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 As cinco questões estão na Seção 7 do documento, junto com mais duas.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 partir daqui não fazem parte da apresentação — servem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se perguntarem de onde vem qualquer número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uma conta, está aqui. Todas foram verificadas em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lista HBA, M.2 e U.2 entre as interfaces. Nenhum é protocolo — este slide explica a diferença de categoria sem fugir da 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o processo de verificação, este slide dá o quadro completo. Os 21 erros estão detalhados na Seção 9.4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858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DO RIO DE JANEIRO  ·  CONSTRUÇÃO DE BANCO DE DADOS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Dispositivos de Armazenamento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Físico para SBD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 e parâmetros para o Gerente de Armazenamento.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da Tabela 16.1 de Elmasri &amp; Navathe para o mercado de setembro de 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4224528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38912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4681728"/>
            <a:ext cx="6217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1]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2]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3]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4]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5] — DRE [00000000]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818120" y="1234440"/>
            <a:ext cx="3712464" cy="4910328"/>
          </a:xfrm>
          <a:prstGeom prst="roundRect">
            <a:avLst>
              <a:gd name="adj" fmla="val 147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0" y="15727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quanto o SSD corporativo custa a mais por TB que o HDD nearline no 3T26 — divergiram, não convergiram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455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7216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memórias persistentes byte-endereçáveis em produção: o Optane morreu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18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µs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5294376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custo do barramento PCIe num I/O de 20–70 µs — latência é mídia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254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—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8653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176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memória, mecânica do HDD, física do flash, o fim da SCM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88336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16.1 atualizada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0896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dispositivos comerciais de 2026, com preço por KB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621024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730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0416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variantes: USB, SATA, SAS, NVMe, M.2/U.2/EDSFF, HBA, FC, iSCSI, InfiniBand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548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4663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Armazenamento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49743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Bloco, buffer, latência de commit, modelo de custo, tiering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56875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99616" y="5596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499616" y="590702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autoria, erros da IA e correções aplicadas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SGBD é uma máquina de transformar I/O em respostas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buffer pool, WAL, otimizador de consultas — tudo existe porque o meio persistente é ordens de grandeza mais lento que a memória. Essa razão é o parâmetro que justifica a arquitetura inteira. E ela mudou.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preços da Tabela 16.1 do Elmasri &amp; Navathe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números do Capítulo 12 do Silberschatz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anos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defasagem que este trabalho mede e corrige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80560"/>
            <a:ext cx="10874959" cy="1508760"/>
          </a:xfrm>
          <a:prstGeom prst="roundRect">
            <a:avLst>
              <a:gd name="adj" fmla="val 363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trabalho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parâmetros físicos mudaram por várias ordens de grandeza, quais conclusões práticas dos livros-texto ainda valem — e quais deixaram de valer?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hierarquia continua existindo — com um buraco novo</a:t>
            </a:r>
            <a:endParaRPr lang="en-US" sz="3000" dirty="0"/>
          </a:p>
        </p:txBody>
      </p:sp>
      <p:pic>
        <p:nvPicPr>
          <p:cNvPr id="4" name="Image 0" descr="fig/f1h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81328"/>
            <a:ext cx="75895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481328"/>
            <a:ext cx="3072384" cy="4343400"/>
          </a:xfrm>
          <a:prstGeom prst="roundRect">
            <a:avLst>
              <a:gd name="adj" fmla="val 17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0574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da Tabela 16.1 atualizada, posicionada por tempo de acesso e preço por KB. Ambos os eixos são logarítmicos.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desce da esquerda superior para a direita inferior: pagar mais compra latência menor.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vazio no eixo horizontal entre DRAM (10⁻⁷ s) e SSD NVMe (5×10⁻⁵ s) é onde ficava o Intel Optane.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 magnético: a mecânica que define o modelo de custo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58444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 ms *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do braço até a trilha. * A Seagate REMOVEU o seek time do manual do Exos M — os ≈8,5 ms que somamos são estimativa nossa da classe.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0800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4,16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rpm: 60 ÷ 7.200 ÷ 2 = 4,17 ms; a Seagate publica 4,16. É o único parâmetro de tempo que ela ainda publica.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275–285 MB/s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externas. Bem menos nas internas, que têm menos setores.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 (4 KB)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0800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50–200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5624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Governado pela mecânica. Praticamente inalterado em duas décadas.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4553712"/>
            <a:ext cx="10874959" cy="1417320"/>
          </a:xfrm>
          <a:prstGeom prst="roundRect">
            <a:avLst>
              <a:gd name="adj" fmla="val 387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livros não enfatizam o bastante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D6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cresceu 4×; taxa sequencial, 1,4×; IOPS aleatório, nada. Varrer 8 TB a 200 MB/s levava 11 h; varrer 32 TB a 285 MB/s leva 31 h. Backup, reconstrução de RAID e full table scan pioraram — e é por isso que RAID 5 saiu de cena em discos grandes.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Flash: escrever é diferente de ler, e isso muda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página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µs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6168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página apagada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 µs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6500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bloco (256 KB–1 MB)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 ms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92608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uma página é impossível: é preciso apagar o bloco inteiro, e cada bloco suporta 10⁵–10⁶ apagamentos. Toda a arquitetura do SSD — FTL, garbage collection, wear leveling — existe por causa dessa única restrição.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3694176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Amplificação de escrita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639312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move dados: 4 KB lógicos custam mais que 4 KB físicos. É por isso que SGBDs da era do SSD (RocksDB, Cassandra) usam LSM-tree em vez de B⁺-tree in-place.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453542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535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cauda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041648" y="44805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é assíncrono e imprevisível. A mediana é ótima; o P99,9 pode ser 10× pior. SLA de banco quebra na cauda, não na média.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53766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321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interno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5321808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SSD atende 32+ requisições simultâneas. SATA: 13 mil IOPS a QD1, 98 mil a QD32. Emitir uma por vez desperdiça o dispositivo.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 · ACHADO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memória persistente que os livros anunciam não existe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12.1 do Silberschatz apresenta a storage class memory — 3D XPoint / Intel Optane — como o degrau que preencheria o vão entre DRAM e flash.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SSD começa a ser vendido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1216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54096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54096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PMem em soquete DIMM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4064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jul/2022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anuncia a saída do negócio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79792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79792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300 (Crow Pass) cancelada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fim/2025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embarques da série 200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370832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5537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bancos de dados transacionais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6460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de três ordens de grandeza entre DRAM (≈70 ns) e SSD NVMe (20–70 µs) foi reaberto. Um log em SCM permitiria ≈100.000 commits/s por thread; com NVMe o teto é ≈33.000. O CXL cobre parte do vão — mas do lado da memória, a 214–271 ns medidos (2–2,5× a DRAM local), e não como meio persistente de log.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a Tabela 16.1 original (2014)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737360"/>
                <a:gridCol w="2377440"/>
                <a:gridCol w="337413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Bandwidth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 Prices (2014)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 — 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GB/s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 – 20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SSD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 – 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USB stick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512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 –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Disk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GB – 8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 –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GB – 100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Tape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TB – 8,5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250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K – 30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jukebox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TB – 2,1 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MB/s – 1,2 PB/s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K – 1 M+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89204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enunciado pede: substituir cada tipo por produtos comerciais de 2026, atualizar capacidade e preço, separar a banda em leitura e escrita, e acrescentar a coluna de preço por kilobyte.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primário e secundário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1481328"/>
                <a:gridCol w="1051560"/>
                <a:gridCol w="1051560"/>
                <a:gridCol w="1051560"/>
                <a:gridCol w="1481328"/>
                <a:gridCol w="7315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SRAM L3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Ryzen 9 9950X3D2 / EPYC 9755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96–512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≈8,9 ns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700–14.800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3,0×10⁻³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desktop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Corsair DDR5-6000 CL30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16–96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270–1.100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RDIMM DDR5-6400 64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≈75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1.000–4.000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CXL 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CMM-D MD220 (E3.S)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214–271 ns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público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PCIe 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9100 PRO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249–1.099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Solidigm D5-P5336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7,68–122,88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 µs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16.246–33.249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Micron 9550 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7,68–30,72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1,1×10⁻⁶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870 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GB–8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 drive USB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Kingston DataTraveler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GB–1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≈0,1–0,5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HAMR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Seagate Exos M 30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24–36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≈12,7 ms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800–1.280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2,7×10⁻⁸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06577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—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marca: datasheet do fabricante.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nossa de ordem de grandeza (nenhum fabricante de SSD de consumo publica latência; a Seagate removeu o seek time do manual do Exos M).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 de datasheet — o QoS de percentil do mesmo produto é 110 µs (leitura) e 40 µs (escrita); a Samsung não publica nada do CMM-D, cuja faixa vem de medições revisadas por pares.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‡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derivado de 46,5 ciclos a 5,7 GHz — a AMD publica só o delta sobre o Zen 4.   Em azul: as três linhas novas do grupo.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terciário, e a coluna de preço por KB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651760"/>
                <a:gridCol w="1481328"/>
                <a:gridCol w="1207008"/>
                <a:gridCol w="1170432"/>
                <a:gridCol w="1051560"/>
                <a:gridCol w="1673352"/>
                <a:gridCol w="85953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WORM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M-DISC BD-XL 100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GB/disco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≈150–250 ms 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 MB/s (4×)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12,70 + 230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TB nativo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LTO-10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→ 40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260–300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TS4500 / Quantum i6000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927 PB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cotação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352044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razão que sustenta a hierarquia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78408" y="40233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621.000×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471830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 o preço por KB da SRAM do da fita LTO-9:  (US$ 199 ÷ 65.536 KiB) ÷ (US$ 87,99 ÷ 1,8×10¹⁰ KB) = 3,04×10⁻³ ÷ 4,89×10⁻⁹.  Não é o desempenho que sustenta o tiering: é essa razão de custo.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3520440"/>
            <a:ext cx="5276088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fita não morreu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04164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meio em que drive e mídia são precificados à parte: cada TB adicional custa US$ 5–10.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(revisado em nov/2025) até 365 TB nativos no LTO-14 — a maior vitalidade da hierarquia.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zero na estante, air gap físico contra ransomware, retenção declarada de 30 anos.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ANÁLISE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largura de banda foi o que realmente explodiu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536192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36192"/>
            <a:ext cx="3346704" cy="4343400"/>
          </a:xfrm>
          <a:prstGeom prst="roundRect">
            <a:avLst>
              <a:gd name="adj" fmla="val 163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gráfico mostra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560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banda a mais no SSD, contra a Tabela 16.1 original: de 750 MB/s para 14,7 GB/s.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1,4×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840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avanço do disco magnético no mesmo período: de 200 para 285 MB/s.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LTO &gt; HDD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supera o disco em taxa sequencial — não precisa posicionar braço entre blocos.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entre 2014 e 2026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66597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no projeto de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Optane / 3D XPoint descontinuado (2022–2025)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Removeu o degrau de memória persistente; reabriu o vão de 3 ordens de grandeza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CXL preenche o vão parcialmente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nível de memória a 214–271 ns (2–2,5× a DRAM local); buffer pool cresce além dos slots DIMM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ODA encerrado; Pioneer saiu dos leitores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virou nicho de arquivamento WORM de longuíssimo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 virou legado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satura em 550 MB/s; mantido apenas por retrofit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padrão; PCIe 6.0 no datacenter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GB/s no consumo; 28 GB/s no Micron 9650 (fev/2026)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HAMR entrou em 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saltou de 24 TB para 32–36 TB; 44 TB anunciado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lançado (30 → 40 TB nativos)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Arquivamento a US$ 5–10/TB; roadmap revisado até 365 TB nativos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 HDD divergiram em custo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18,6× por TB no 3T26 (era 7× no 3T25) — invalida a premissa de convergência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HONESTIDADE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metodológico: os preços de 2026 são de um pico anômalo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coleta ocorreu durante uma crise de oferta de memória e NAND causada pela realocação de capacidade fabril para HBM (aceleradores de IA) e por pedidos antecipados de hiperescaladores.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+575%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kit DDR5-6000 de 32 GB, de meados de 2025 a set/2026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845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spot do NAND, de out/2025 a fev/2026 — e 8,5× até março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do HDD em apenas quatro meses (15/set/2025 a 14/jan/2026, 12 modelos)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prêmio do SSD corporativo sobre o HDD por TB no 3T26 — foi 7× no 3T25 e 23× no 1T26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1325880"/>
          </a:xfrm>
          <a:prstGeom prst="roundRect">
            <a:avLst>
              <a:gd name="adj" fmla="val 413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7731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leitor deve usar a tabela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08406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razões entre tecnologias — quantas ordens de grandeza separam DRAM de fita — são estruturais e estáveis. Os valores absolutos, não. Registramos ainda uma inversão temporária: um pen drive de 1 TB (US$ 130/TB) está mais barato por terabyte que um SSD SATA de 1 TB (US$ 345/TB).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comparar interfaces: três reduções separam marketing de realidade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38528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7922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17922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GB/s = 8 Gb/s. Uma interface de 6 Gb/s nunca entrega 6 GB/s.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792224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Silberschatz escorrega aqui (§12.2).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816352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08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de linha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62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de controle para balanceamento DC e recuperação de clock.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96265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8b/10b custa 25%; 128b/130b custa 1,6%.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98678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133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Modulação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41330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NRZ = 1 bit/símbolo. PAM4 = 2 bits/símbolo, com FEC obrigatório.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4133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PAM4 está em FC 64G, IB HDR+, PCIe 6.0.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230368"/>
            <a:ext cx="10874959" cy="960120"/>
          </a:xfrm>
          <a:prstGeom prst="roundRect">
            <a:avLst>
              <a:gd name="adj" fmla="val 5714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SATA 3.0:  6,0 Gb/s bruto × 8/10 = 4,8 Gb/s úteis ÷ 8 = 600 MB/s          ·          PCIe 5.0 ×4:  32 GT/s × 4 lanes × 128/130 ÷ 8 = 15,754 GB/s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das interfaces — extrato de 56 variantes estudadas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58368"/>
                <a:gridCol w="1298448"/>
                <a:gridCol w="1298448"/>
                <a:gridCol w="1234440"/>
                <a:gridCol w="1115568"/>
                <a:gridCol w="1965960"/>
                <a:gridCol w="1517904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Ser./Par.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Topologia / nº disp.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em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3.2 Gen 2×2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2.424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Estrela hierárq., 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externo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USB4 v2.0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 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Roteado (tunneling)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externo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Ultra-320 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 LVD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Barramento,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Capacidade, backup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Express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(PCIe ×2)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≈0,3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Fracassou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SAS-4 (24G)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65.535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HDD, 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 +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15,75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≈0,25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 filas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OLTP, redo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Fibre Channel 64GFC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 ns/switch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 SMF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2²⁴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 roteável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PME, virtualização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XDR 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comutado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de IA/LLM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 / U.2 / EDSFF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2013–20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PCIe ×4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sem hot-swap, 8–11 W; EDSFF 12 V, até 70 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/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HBA (tri-modo, FC, CNA)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adaptador PCIe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IT expõe discos crus ao 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ZFS/Ceph, SAN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3492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itálico: as duas últimas linhas NÃO são protocolos — fator de forma e adaptador não têm taxa própria; expõem as lanes PCIe da linha correspondente. Estão na tabela porque constam da lista do enunciado. A tabela completa tem 56 linhas, com taxa bruta, hot-plug e alimentação pelo cabo.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família manteve a inclinação — e por isso todas as outras se mudaram para ela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572768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72768"/>
            <a:ext cx="3163824" cy="4206240"/>
          </a:xfrm>
          <a:prstGeom prst="roundRect">
            <a:avLst>
              <a:gd name="adj" fmla="val 173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4108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SATA parou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121408"/>
            <a:ext cx="2633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Requalificar conector, cabo e PHY custaria caro sem retorno.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overhead de 25% do 8b/10b; trocá-lo quebraria compatibilidade.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real é o AHCI — 1 fila de 32 comandos — e não o fio.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PCIe já existia, já era mais rápido e mais barato por GB/s.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4983480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anos sem mudança de velocidade — e ninguém se importou.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VERIFICAÇÃO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a uma afirmação do próprio enunciado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868680"/>
          </a:xfrm>
          <a:prstGeom prst="roundRect">
            <a:avLst>
              <a:gd name="adj" fmla="val 6316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7373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3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“SATA também é conhecida como NL-SAS.”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103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Factualmente incorreto.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NL-SAS = mecânica SATA nearline + protocolo SAS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743200"/>
          <a:ext cx="1087495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926080"/>
                <a:gridCol w="236829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(HDD)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/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/ 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Mídia e rotação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 (a mesma)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 / 15 K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(single-port)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Multipath / alta disponib.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STP / interposer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erro irrecuperável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8368" y="54406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prática: um array SAS com discos SATA precisa de STP ou de placas interposer e perde o caminho redundante. Com NL-SAS, não. Para um SGBD em cluster, é a diferença entre sobreviver ou não à falha de um controlador.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NVMe venceu — e não foi por largura de banda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291840"/>
                <a:gridCol w="3831336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AHCI / SATA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de submissão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por fila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Registradores MMIO por comando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(não cacheáveis)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Afinidade de núcleo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fila por núcleo — sem contenção de lock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comandos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(herdado do disco rotativo)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Enxuto, projetado para flash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315968"/>
            <a:ext cx="10874959" cy="1691640"/>
          </a:xfrm>
          <a:prstGeom prst="roundRect">
            <a:avLst>
              <a:gd name="adj" fmla="val 32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4988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em uma frase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4809744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um SGBD com alta concorrência, o gargalo do AHCI nunca foram os 600 MB/s: era o lock na fila única, disputado por todos os núcleos que querem emitir I/O. O NVMe elimina essa disputa por construção — dando a cada núcleo a sua própria fila.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de latência de uma leitura aleatória de 4 KB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72768"/>
                <a:gridCol w="1572768"/>
                <a:gridCol w="1572768"/>
                <a:gridCol w="1572768"/>
                <a:gridCol w="138074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local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 10 GbE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SAS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 de sistema + camada de bloco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+ submissão na fila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Travessia do barramento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200–400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da mídia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Controladora do alvo / RAID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30–80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18795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típica.   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99,99 medido pela Western Digital (4 KB, QD=1, mesma mídia) — a mediana é menor. As duas colunas de fabric são, portanto, conservadoras face às demais: isso reforça a conclusão (2), não a enfraquece.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5836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≈90% da latência é mídia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→ 6.0 não reduz latência de leitura aleatória. Só a mídia reduziria — e a mídia que faria isso saiu do mercado.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6168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9943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storage de rede, o protocolo domina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iSCSI por NVMe/TCP tem efeito de primeira ordem: 4× menos latência sobre a mesma mídia.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6500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0275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cauda importa mais que a média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0275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banco quebra no P99,9. Fabrics lossless (FC, IB) vencem o TCP pela variância, não pela média.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os números em decisões do Gerente de Armazenamento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7739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bloco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177393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HDD: 8–64 KB, para amortizar a busca de 12,7 ms.  ·  SSD: 4–16 KB, alinhado à página NAND.  ·  Fita: ≥1 MB.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9748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5351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2825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pool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282549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uma falta de página por vez usa ≈3% de um SSD NVMe. É preciso I/O assíncrono com muitas requisições em voo — daí io_uring e effective_io_concurrency.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49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0507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7705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087368" y="387705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custa 1/latência_do_fsync. Group commit é o que separa usar o dispositivo de desperdiçá-lo.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80060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56632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56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28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492861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random_page_cost = 4,0 codifica a premissa de disco magnético. Em SSD deve cair para 1,1–1,5, ou o planejador prefere varreduras que o hardware não favorece.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742432"/>
            <a:ext cx="10874959" cy="530352"/>
          </a:xfrm>
          <a:prstGeom prst="roundRect">
            <a:avLst>
              <a:gd name="adj" fmla="val 1034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5843016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 de commits por thread:  HDD ≈125/s  ·  SSD SATA ≈6.700/s  ·  NVMe local ≈33.000/s  ·  NVMe/TCP ≈8.200/s  ·  iSCSI ≈1.700/s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arquitetura de tiers para 2026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14600"/>
                <a:gridCol w="2240280"/>
                <a:gridCol w="3429000"/>
                <a:gridCol w="104241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típico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memória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+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/ CXL 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pool, tabelas de hash, catálogos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quente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(E3.S)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Redo log, tempdb, índices, tabelas OLTP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morno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alta capac.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4.0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Partições históricas, leitura intensiva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nearline 30 TB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6 Gb/s ou NL-SAS 12G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lake, partições antigas, backup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arquivo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12G / FC 32G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Retenção legal, air gap contra ransomware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480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6634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3.000×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52852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de preço por byte entre o tier 0 e o tier 4. É ela — e não a diferença de desempenho — que sustenta economicamente o tiering.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4480560"/>
            <a:ext cx="5276088" cy="16002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4645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empírica (PostgreSQL)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9560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local: 400 mil IOPS em 8 vCPU. Disco de rede precisaria de 112 vCPU — 14× mais.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TPC-C: 873 tps (NVMe local) contra 636 (Aurora) e 188 (RDS/EBS gp3).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conclusões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SCM saiu do mercado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Optane foi descontinuado entre 2022 e 2025 e nada o substituiu. O teto de commits por thread continua ditado pela latência do NVMe.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745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SSD e HDD divergiram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18,6× em US$/TB no 3T26, contra a expectativa de convergência. O tiering ficou mais necessário, não menos.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Banda deixou de ser o parâmetro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&lt;1 µs de 20–70 µs é barramento. Explica o SATA parado, a vitória do NVMe e a irrelevância do PCIe 6.0 para OLTP.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fita é a mais viva do baixo da pirâmide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LTO-10 a 40 TB nativos, roadmap até 365 TB, US$ 5–10/TB. Para retenção legal e air gap, não há substituto.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metodológico: fabricantes publicam cada vez menos parâmetros de latência. Um trabalho equivalente feito em 2014 teria mais dados disponíveis do que este, feito em 2026.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como usamos a IA e o que decidimos nós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que determinaram o conteúdo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121408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“marque o que é datasheet, o que é medição e o que é estimativa; se não encontrar, diga.”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“distinga Gb/s de GB/s e cite a codificação de linha.”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“verifique se ‘SATA = NL-SAS’ é correto.”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“liste o que você NÃO conseguiu encontrar.”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— “verificador adversarial: não confirme nada por plausibilidade; ordene por gravidade o que derrubaria o trabalho.”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27632"/>
            <a:ext cx="5276088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 — quem decidiu o quê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2140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1] — coordenação; decidiu adotar faixas em vez de valores pontuais.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2] — fundamentos; decidiu articular os dois livros-texto.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3] — Tabela 16.1; decidiu a convenção binária/decimal e as linhas novas.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4] — interfaces; decidiu usar taxa por direção no FC; detectou o erro do NL-SAS.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5] — gerente de armazenamento e Post-Mortem.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4069080"/>
            <a:ext cx="10874959" cy="1965960"/>
          </a:xfrm>
          <a:prstGeom prst="roundRect">
            <a:avLst>
              <a:gd name="adj" fmla="val 279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4224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lições sobre o uso de IA neste tipo de trabalho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535424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origem de cada número é o que torna o trabalho auditável.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as lacunas explicitamente é tão importante quanto pedir os dados.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reproduz premissas erradas contidas no próprio pedido — o erro do NL-SAS só apareceu porque perguntamos.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longas contêm contradições internas; só a leitura cruzada as revela.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estruturais não vieram prontas: resultaram de comparar tabelas produzidas separadamente.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segunda IA, instruída a ATACAR o texto, achou 5 erros graves que a IA autora não viu — a lição que levamos.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 e as correções aplicadas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3840480"/>
                <a:gridCol w="63733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gerado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Reportou 64GFC como 12.800 MB/s sem qualificar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Identificada a convenção full-duplex da FCIA; adotada a taxa por direção (6.400 MB/s)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Ecoou a afirmação do enunciado de que SATA = NL-SAS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 dirigida; erro documentado com tabela comparativa e consequência prática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o seek time do Exos M como dado de datasheet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Seagate removeu o dado; remarcado como estimativa somada à latência rotacional publicada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throughput de tape library como spec de fabricante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IBM nem Quantum publicam; reclassificado como derivação nossa e teto teórico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“Roadmap do LTO até 913 TB nativos no LTO-14”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em dobro: 913 TB é comprimido (365 × 2,5); o nativo é 365 TB, e o roadmap mudou em nov/2025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Atribuiu ≈140 ns de latência ao módulo CXL Samsung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fonte: a Samsung não publica. Medições revisadas por pares dão 214–271 ns — reforça nossa tese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SSD/HDD como “≈16× em 2026”, sem trimestre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Volátil: 7× no 3T25, 23× no 1T26, 16× no 2T26, 18,6× no 3T26. Razão sem data não é dado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Janelas erradas na alta do HDD e do NAND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HDD: 46% em quatro meses (não seis). NAND: 5× a partir de out/2025 (não ago)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resumo dizia “39 variantes” de interface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tabela tinha 49 linhas e passou a 56 com os fatores de forma e os HBA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E18–E21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Quatro erros de RÓTULO: o número certo descrevendo outra coisa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QoS do Solidigm como latência típica · P99,99 da WD como média · capacidades misturadas do 9100 PRO · ciclos do Zen 5 como dado, sendo derivação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797296"/>
            <a:ext cx="108749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laranja: os achados da rodada de verificação adversarial (Seção 9.5) — uma segunda IA instruída a derrubar o trabalho. Os 21 erros e quem detectou cada um estão na Seção 9.4, e o quadro completo no backup B4. Também documentamos uma imprecisão do próprio Silberschatz (§12.2: “6 gigabytes per second” para o SATA-3).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ao debate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46504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1691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custo do otimizador deveria ser calibrado automaticamente, em vez de depender de um administrador que talvez não saiba que random_page_cost existe?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6060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55117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sentido continuar ensinando o modelo de I/O por contagem de blocos, ou o modelo de 2026 seria latência × profundidade de fila?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465576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410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morte do Optane foi falha de mercado ou de tecnologia — e o que impede que a lacuna seja reaberta indefinidamente?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27024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CXL viabilizar buffer pools de dezenas de terabytes, o que muda num SGBD que hoje assume que os dados não cabem na memória?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5184648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512978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formalismo de otimização de consultas que otimize percentil (P99) em vez de custo esperado?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" y="5943600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Documento completo, com as tabelas integrais e o Post-Mortem, entregue em PDF.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51760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61188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dos dados · derivações aritméticas · fatores de forma e HBA · registro completo de erros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PROVENIÊNCIA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número da Tabela 16.1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91056"/>
          <a:ext cx="10874959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965960"/>
                <a:gridCol w="639165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 origem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aparece na tabela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do fabricante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marcação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 e taxas do 9100 PRO, 870 EVO, D5-P5336, 9550 PRO, DT Max, Exos M; latência rotacional de 4,16 ms; taxas nativas do LTO-9 e LTO-10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Citada no texto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 TB/s de L3 do Zen 5 (Chips and Cheese); 214–271 ns do CXL 2.0 (ASPLOS); 41–177 µs do NVMe-oF (Western Digital)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explicitada na nota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Preço/KB (preço ÷ capacidade em KB); 51,2 GB/s por módulo DDR5-6400; 51,2 GB/s agregados da tape library (128 drives × 400 MB/s); 927 PB (23.170 × 40 TB); latência do cache em 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 de ordem de grandeza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Marcada com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do SSD de consumo; ≈8,5 ms de busca do HDD; ≈0,1–0,5 ms do pen drive; ≈150–250 ms do leitor óptico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módulo CXL e de tape library (só sob cotação); banda agregada do MD220; velocidade de leitura do M-DISC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5412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adotamos: nenhuma célula fica sem origem declarada, e “não encontramos” é resposta aceitável — preencher com estimativa não rastreável é o que este trabalho critica. As dez lacunas estão na Nota N10 do documento.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DERIVAÇÕES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contas, por extenso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KB (SRAM)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US$ 199 ÷ 65.536 KiB = 3,04×10⁻³ /KB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entre 9950X3D2 (192 MB L3, US$ 899) e 9950X3D (128 MB, US$ 700)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topo/base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79652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3,04×10⁻³ ÷ 4,89×10⁻⁹ = 621.000×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 contra cartucho LTO-9 (US$ 87,99 ÷ 1,8×10¹⁰ KB)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÷ 7.200 ÷ 2 = 4,16 ms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 — publicado pela Seagate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192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disco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TB ÷ 285 MB/s = 31,2 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8 TB ÷ 200 MB/s = 11,1 h em 2014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3.0 útil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7296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 Gb/s × 8/10 ÷ 8 = 600 MB/s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8b/10b, 80% de eficiência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8192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×4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GT/s × 4 × 128/130 ÷ 8 = 15,754 GB/s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128b/130b, 98,46%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útil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22,5 Gb/s × 128/150 ÷ 8 = 2.400 MB/s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“24G” é marca; a taxa é 22,5 Gb/s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1967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 de commits/s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÷ latência do fsync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30 µs → 33.333/s;  SATA 150 µs → 6.667/s;  HDD 8 ms → 125/s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611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DDR5-6000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17296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6.000 MT/s × 8 B × 2 canais = 96 GB/s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canais no kit de desktop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8192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L3 do Zen 5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46,5 ciclos ÷ 5,7 GHz = 8,16 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51967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46,5 = 50 (Zen 4) − 3,5 (delta AMD); +4 ciclos do V-Cache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M.2, U.2, EDSFF, HBA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Fatores de forma e HBA — o que não é protocolo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188720"/>
                <a:gridCol w="2194560"/>
                <a:gridCol w="373989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Hot-swap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Tensão / potência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(M-key)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V — 8 a 11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Boot, cliente,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U.2 (SFF-8639)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Servidor, gaveta frontal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U.3 (SFF-TA-1001)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Baia tri-modo: SAS, SATA ou 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E1.S / E1.L (EDSFF)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16 a 40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1U; E1.L é a “régua” de 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E3.S / E3.S 2T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ou ×8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a 70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U.2; o 2T aceita módulo CXL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04164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EDSFF está substituindo o U.2: SSDs PCIe 5.0/6.0 passam de 25 W e a lata de 2,5 polegadas não dissipa. O M.2, além de não ter hot-swap, só tem 3,3 V.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" y="4498848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não é interface nem protocolo — é o adaptador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497433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em modo IT expõe os discos crus ao SO, sem cache nem metadados de RAID — é o que ZFS, Ceph e réplica por software exigem. Em modo RAID, faz RAID em hardware com cache protegido.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 de durabilidade: HBA RAID com cache NÃO protegido por bateria pode confirmar um fsync antes da persistência. O SGBD acredita ter cumprido a durabilidade; a queda de energia prova o contrário.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REGISTRO COMPLETO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erros, em uma página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0934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37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grupo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a E12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32257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Detectados ao reproduzir contas, cruzar seções e conferir datasheets. Predominam erros de atribuição de origem.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68496" y="175564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proxy de preço da SRAM · E2 convenção binária/decimal · E3 Optane mantido na tabela · E4 cronologia do LTO-10 · E5 64GFC em full-duplex · E6 SAS-4 como “24 Gb/s” · E7 SATA = NL-SAS · E8 seek time do Exos M · E9 preço de DRAM contraditório · E10 throughput de tape library · E11 leitura = escrita sem verificar · E12 estimativa com cara de dado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302666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154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conteúdo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447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E13 a E17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7398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Sobreviveram à revisão da IA autora e caíram na 1ª passagem de um verificador instruído a atacar o texto.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968496" y="317296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 LTO-14 com 913 TB “nativos” (são 365; 913 é comprimido, e o roadmap mudou em nov/2025) · E14 latência de 140 ns do CXL sem fonte (medido: 214–271 ns) · E15 razão SSD/HDD sem trimestre · E16 janelas erradas de HDD e NAND · E17 contagem de interfaces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572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rótulo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864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E18 a E21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mais insidiosos: o número existe e resiste a uma busca — apenas não significa o que o texto dizia.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459028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E18 QoS de percentil do Solidigm citado como latência típica · E19 números da Western Digital como média, sendo P99,99 · E20 capacidades misturadas do Samsung 9100 PRO · E21 ciclos de cache do Zen 5 como dado publicado, sendo derivação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90702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documentamos um erro que não foi da IA: o próprio Silberschatz (§12.2) escreve “6 gigabytes per second” para o SATA-3 — são 6 gigabits. A verificação contra fonte primária é necessária independentemente de quem escreveu o texto.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Dispositivos de Armazenamento Fisico para SBD</dc:title>
  <dc:subject>PptxGenJS Presentation</dc:subject>
  <dc:creator>Grupo CBD/UFRJ</dc:creator>
  <cp:lastModifiedBy>Grupo CBD/UFRJ</cp:lastModifiedBy>
  <cp:revision>1</cp:revision>
  <dcterms:created xsi:type="dcterms:W3CDTF">2026-09-04T18:32:10Z</dcterms:created>
  <dcterms:modified xsi:type="dcterms:W3CDTF">2026-09-04T18:32:10Z</dcterms:modified>
</cp:coreProperties>
</file>