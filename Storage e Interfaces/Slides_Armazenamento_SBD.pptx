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Leitura máx. (MB/s)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Óptico M-DISC</c:v>
                </c:pt>
                <c:pt idx="1">
                  <c:v>HDD HAMR 30 TB</c:v>
                </c:pt>
                <c:pt idx="2">
                  <c:v>Fita LTO-10</c:v>
                </c:pt>
                <c:pt idx="3">
                  <c:v>SSD SATA</c:v>
                </c:pt>
                <c:pt idx="4">
                  <c:v>Pen drive USB</c:v>
                </c:pt>
                <c:pt idx="5">
                  <c:v>SSD NVMe DC</c:v>
                </c:pt>
                <c:pt idx="6">
                  <c:v>SSD NVMe PCIe 5.0</c:v>
                </c:pt>
                <c:pt idx="7">
                  <c:v>DRAM DDR5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</c:v>
                </c:pt>
                <c:pt idx="1">
                  <c:v>275</c:v>
                </c:pt>
                <c:pt idx="2">
                  <c:v>400</c:v>
                </c:pt>
                <c:pt idx="3">
                  <c:v>560</c:v>
                </c:pt>
                <c:pt idx="4">
                  <c:v>1000</c:v>
                </c:pt>
                <c:pt idx="5">
                  <c:v>7000</c:v>
                </c:pt>
                <c:pt idx="6">
                  <c:v>14700</c:v>
                </c:pt>
                <c:pt idx="7">
                  <c:v>96000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Escrita máx. (MB/s)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Óptico M-DISC</c:v>
                </c:pt>
                <c:pt idx="1">
                  <c:v>HDD HAMR 30 TB</c:v>
                </c:pt>
                <c:pt idx="2">
                  <c:v>Fita LTO-10</c:v>
                </c:pt>
                <c:pt idx="3">
                  <c:v>SSD SATA</c:v>
                </c:pt>
                <c:pt idx="4">
                  <c:v>Pen drive USB</c:v>
                </c:pt>
                <c:pt idx="5">
                  <c:v>SSD NVMe DC</c:v>
                </c:pt>
                <c:pt idx="6">
                  <c:v>SSD NVMe PCIe 5.0</c:v>
                </c:pt>
                <c:pt idx="7">
                  <c:v>DRAM DDR5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18</c:v>
                </c:pt>
                <c:pt idx="1">
                  <c:v>275</c:v>
                </c:pt>
                <c:pt idx="2">
                  <c:v>400</c:v>
                </c:pt>
                <c:pt idx="3">
                  <c:v>530</c:v>
                </c:pt>
                <c:pt idx="4">
                  <c:v>900</c:v>
                </c:pt>
                <c:pt idx="5">
                  <c:v>3000</c:v>
                </c:pt>
                <c:pt idx="6">
                  <c:v>13300</c:v>
                </c:pt>
                <c:pt idx="7">
                  <c:v>96000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60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0"/>
          <c:min val="0"/>
        </c:scaling>
        <c:delete val="0"/>
        <c:axPos val="b"/>
        <c:majorGridlines>
          <c:spPr>
            <a:ln w="7620" cap="flat">
              <a:solidFill>
                <a:srgbClr val="DFE3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606E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55606E"/>
                    </a:solidFill>
                    <a:latin typeface="Calibri"/>
                  </a:rPr>
                  <a:t>MB/s (escala linear)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Folha de rosto. Preencher nomes completos e DRE de cada integrante antes de postar no 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blocos. Os dois centrais são os produtos pedidos no enunciado; o quarto é a nossa contribuição interpretativa.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Enquadrar: não é um trabalho de catálogo de hardware; é sobre quais premissas de projeto de SGBD envelheceram.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ordens de grandeza separam DRAM de SSD no eixo do tempo. Esse é o gráfico que organiza a apresentação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forte deste slide é o cálculo das 31 horas — é o que conecta física de disco a decisão de projeto (RAID 6 em vez de RAID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consequências para o projetista: amplificação, cauda e paralelismo. A terceira é a que mais afeta o gerente de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achado mais consequente do trabalho para SGBD transacional. Enfatizar que não é obsolescência do livro: é uma categoria de produto que o mercado retirou.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original antes da atualização para que a comparação faça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completa no relatório, incluindo RDIMM, CXL, Micron 9550 e USB. Fonte do MSRP do 9100 PRO sem dissipador: https://news.samsung.com/us/samsung-announces-9100-pro-series-ssds-with-breakthrough-pcie-5-0-performance/ . O preço histórico não atende sozinho ao requisito de preço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Provocação para o debate: a fita, tratada como resíduo nos livros, é a categoria com roadmap mais longo.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Eixo logarítmico. O par leitura/escrita quase idêntico em DRAM, HDD e fita mostra que a assimetria é característica do flash, não do armazenamento em geral.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última linha é a que mais contraria a expectativa da literatura didática.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estas três reduções, qualquer comparativo de interface publicado na web está errado por um fator de 8 a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Extrato. Chamar atenção para a única linha 'Paralela' — o SCSI — e para a coluna de latência, que é onde a história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Registrar que o grupo optou por documentar a correção em vez de reproduzir a afirmação. Vale como resposta à pergunta Q7 do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 da apresentação. Se só uma ideia ficar, que seja esta: a vitória do NVMe é de arquitetura de filas, não de velocidade de fio.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mais denso da apresentação. Vale gastar tempo: é a evidência que sustenta a conclusão de que latência, e não banda, governa o SBD.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do random_page_cost é o exemplo mais concreto: a Tabela 16.1 atualizada termina virando uma linha de arquivo de configuração.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diferença de TPC-C não vem de banda: vem de latência × concorrência.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 achado metodológico — é inesperado e costuma gerar discussão.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divisão final registra os seis integrantes, suas seções e decisões principais.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 As cinco questões estão na Seção 7 do documento, junto com mais duas.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a partir daqui não fazem parte da apresentação — servem para responder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se perguntarem de onde vem qualquer número da tabela.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pedirem uma conta, está aqui. Todas foram verificadas em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lista HBA, M.2 e U.2 entre as interfaces. Nenhum é protocolo — este slide explica a diferença de categoria sem fugir da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858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FEDERAL DO RIO DE JANEIRO  ·  CONSTRUÇÃO DE BANCO DE DADOS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3444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Dispositivos de Armazenamento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Físico para SBD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089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 conexão e parâmetros para o Gerente de Armazenamento.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da Tabela 16.1 de Elmasri &amp; Navathe — dados consultados em 05/09/2026.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4224528"/>
            <a:ext cx="6766560" cy="1920240"/>
          </a:xfrm>
          <a:prstGeom prst="roundRect">
            <a:avLst>
              <a:gd name="adj" fmla="val 2857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3891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DO GRUPO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4681728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Brandão Pozzato Carvalho Costa — DRE 123289593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de Carvalho Sampaio — DRE 123386206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Schmitz Corrêa Rizawinsk — DRE 123225573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En Shih Hu — DRE 123224674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Henrique da Silva Pereira — DRE 123420783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Vivian Maria da Silva e Souza — DRE 123205793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818120" y="1234440"/>
            <a:ext cx="3712464" cy="4910328"/>
          </a:xfrm>
          <a:prstGeom prst="roundRect">
            <a:avLst>
              <a:gd name="adj" fmla="val 1478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0" y="15727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KB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bytes: unidade comum para a comparação de custo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31455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SCM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3721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Optane foi descontinuado; CXL de DRAM é volátil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7183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µs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529437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custo do barramento PCIe num I/O de 20–70 µs — latência é mídia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62544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 — Setembro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apresentação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55648"/>
            <a:ext cx="10874959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56816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18653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217627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memória, mecânica do HDD, física do flash, o fim da SCM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2688336"/>
            <a:ext cx="10874959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89504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99616" y="27980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16.1 atualizada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10896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dispositivos comerciais de 2026, com preço por KB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621024"/>
            <a:ext cx="10874959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2219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99616" y="37307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 conexão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0416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variantes: USB, SATA, SAS, NVMe, M.2/U.2/EDSFF, HBA, FC, iSCSI, InfiniBand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4553712"/>
            <a:ext cx="10874959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75488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99616" y="4663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Armazenamento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499616" y="497433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Bloco, buffer, latência de commit, modelo de custo, tiering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5486400"/>
            <a:ext cx="10874959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687568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99616" y="5596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499616" y="5907024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autoria, erros da IA e correções aplicadas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SGBD é uma máquina de transformar I/O em respostas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72768"/>
            <a:ext cx="108749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Índices, buffer pool, WAL, otimizador de consultas — tudo existe porque o meio persistente é ordens de grandeza mais lento que a memória. Essa razão é o parâmetro que justifica a arquitetura inteira. E ela mudou.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69748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41071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dos preços da Tabela 16.1 do Elmasri &amp; Navathe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248716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69748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341071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dos números do Capítulo 12 do Silberschatz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65008" y="248716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9328" y="269748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anos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39328" y="341071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defasagem que este trabalho mede e corrige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480560"/>
            <a:ext cx="10874959" cy="1508760"/>
          </a:xfrm>
          <a:prstGeom prst="roundRect">
            <a:avLst>
              <a:gd name="adj" fmla="val 3636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4663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trabalho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983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os parâmetros físicos mudaram por várias ordens de grandeza, quais conclusões práticas dos livros-texto ainda valem — e quais deixaram de valer?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FUNDAMENTOS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hierarquia continua existindo — com um buraco novo</a:t>
            </a:r>
            <a:endParaRPr lang="en-US" sz="3000" dirty="0"/>
          </a:p>
        </p:txBody>
      </p:sp>
      <p:pic>
        <p:nvPicPr>
          <p:cNvPr id="4" name="Image 0" descr="fig/f1hi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758952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481328"/>
            <a:ext cx="3072384" cy="4343400"/>
          </a:xfrm>
          <a:prstGeom prst="roundRect">
            <a:avLst>
              <a:gd name="adj" fmla="val 178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057400"/>
            <a:ext cx="254203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tecnologia da Tabela 16.1 atualizada, posicionada por tempo de acesso e preço por KB. Ambos os eixos são logarítmicos.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fronteira desce da esquerda superior para a direita inferior: pagar mais compra latência menor.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vazio no eixo horizontal entre DRAM (10⁻⁷ s) e SSD NVMe (5×10⁻⁵ s) é onde ficava o Intel Optane.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FUNDAMENTOS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 magnético: a mecânica que define o modelo de custo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773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84448" y="17190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4–10 ms *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1579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 do braço até a trilha. * A Seagate REMOVEU o seek time do manual do Exos M — os ≈8,5 ms que somamos são estimativa nossa da classe.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81928" y="1627632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6248" y="1773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rotacional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208008" y="17190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4,16 ms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1579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rotação a 7.200 rpm: 60 ÷ 7.200 ÷ 2 = 4,17 ms; a Seagate publica 4,16. É o único parâmetro de tempo que ela ainda publica.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044952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3191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3136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275–285 MB/s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575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externas. Bem menos nas internas, que têm menos setores.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81928" y="3044952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6248" y="3191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IOPS (4 KB)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08008" y="3136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50–200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56248" y="3575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Governado pela mecânica. Praticamente inalterado em duas décadas.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4553712"/>
            <a:ext cx="10874959" cy="1417320"/>
          </a:xfrm>
          <a:prstGeom prst="roundRect">
            <a:avLst>
              <a:gd name="adj" fmla="val 3871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" y="4718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livros não enfatizam o bastante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5029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cresceu 4×; taxa sequencial, 1,4×; IOPS aleatório, nada. Varrer 8 TB a 200 MB/s levava 11 h; varrer 32 TB a 285 MB/s leva 31 h. Backup, reconstrução de RAID e full table scan pioraram — e é por isso que RAID 5 saiu de cena em discos grandes.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FUNDAMENTOS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Flash: escrever é diferente de ler, e isso muda 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página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482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dezenas de µs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61688" y="1627632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página apagada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0482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≈100 µs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065008" y="1627632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 bloco (256 KB–1 MB)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482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2–5 ms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92608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Sobrescrever uma página é impossível: é preciso apagar o bloco inteiro, e a endurance depende da tecnologia e do produto. Toda a arquitetura do SSD — FTL, garbage collection, wear leveling — existe por causa dessa única restrição.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8368" y="3694176"/>
            <a:ext cx="329184" cy="32918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3639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Amplificação de escrita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3639312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GC move dados: 4 KB lógicos custam mais que 4 KB físicos. É por isso que SGBDs da era do SSD (RocksDB, Cassandra) usam LSM-tree em vez de B⁺-tree in-place.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535424"/>
            <a:ext cx="329184" cy="32918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535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de cauda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041648" y="448056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GC é assíncrono e imprevisível. A mediana é ótima; o P99,9 pode ser 10× pior. SLA de banco quebra na cauda, não na média.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5376672"/>
            <a:ext cx="329184" cy="32918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5376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5321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 interno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041648" y="532180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SSD atende 32+ requisições simultâneas. SATA: 13 mil IOPS a QD1, 98 mil a QD32. Emitir uma por vez desperdiça o dispositivo.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FUNDAMENTOS · ACHADO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memória persistente que os livros anunciam não existe mais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12.1 do Silberschatz apresenta a storage class memory — 3D XPoint / Intel Optane — como o degrau que preencheria o vão entre DRAM e flash.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468880"/>
            <a:ext cx="2029968" cy="1600200"/>
          </a:xfrm>
          <a:prstGeom prst="roundRect">
            <a:avLst>
              <a:gd name="adj" fmla="val 3429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95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62656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Optane SSD começa a ser vendido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71216" y="2468880"/>
            <a:ext cx="2029968" cy="1600200"/>
          </a:xfrm>
          <a:prstGeom prst="roundRect">
            <a:avLst>
              <a:gd name="adj" fmla="val 3429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54096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95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54096" y="2962656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Optane PMem em soquete DIMM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84064" y="2468880"/>
            <a:ext cx="2029968" cy="1600200"/>
          </a:xfrm>
          <a:prstGeom prst="roundRect">
            <a:avLst>
              <a:gd name="adj" fmla="val 3429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66944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jul/2022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66944" y="2962656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anuncia a saída do negócio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96912" y="2468880"/>
            <a:ext cx="2029968" cy="1600200"/>
          </a:xfrm>
          <a:prstGeom prst="roundRect">
            <a:avLst>
              <a:gd name="adj" fmla="val 3429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79792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479792" y="2962656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300 (Crow Pass) cancelada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09760" y="2468880"/>
            <a:ext cx="2029968" cy="1600200"/>
          </a:xfrm>
          <a:prstGeom prst="roundRect">
            <a:avLst>
              <a:gd name="adj" fmla="val 3429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fim/2025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2962656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embarques da série 200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370832"/>
            <a:ext cx="10874959" cy="1600200"/>
          </a:xfrm>
          <a:prstGeom prst="roundRect">
            <a:avLst>
              <a:gd name="adj" fmla="val 3429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" y="45537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para bancos de dados transacionais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86460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vão de três ordens de grandeza entre DRAM (≈70 ns) e SSD NVMe (20–70 µs) foi reaberto. Um log em SCM permitiria ≈100.000 commits/s por thread; com NVMe o teto é ≈33.000. O CXL cobre parte do vão — mas do lado da memória, a 214–271 ns medidos (2–2,5× a DRAM local), e não como meio persistente de log.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TABELA 16.1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de partida: a Tabela 16.1 original (2014)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45920"/>
          <a:ext cx="10874959" cy="914400"/>
        </p:xfrm>
        <a:graphic>
          <a:graphicData uri="http://schemas.openxmlformats.org/drawingml/2006/table">
            <a:tbl>
              <a:tblPr/>
              <a:tblGrid>
                <a:gridCol w="2583684"/>
                <a:gridCol w="1879043"/>
                <a:gridCol w="1487575"/>
                <a:gridCol w="2035630"/>
                <a:gridCol w="288902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Bandwidth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Commodity Prices (2014)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Memory — 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 – 1 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GB/s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US$ 100 – 20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Memory — SSD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GB – 1 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µs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 MB/s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 – 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Memory — USB stick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 – 512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µs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MB/s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 – 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Magnetic Disk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GB – 8 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MB/s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US$ 70 – 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GB – 100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MB/s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Magnetic Tape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 TB – 8,5 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80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– 250 MB/s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US$ 2,5 K – 30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Tape jukebox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TB – 2,1 EB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80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MB/s – 1,2 PB/s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 K – 1 M+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4892040"/>
            <a:ext cx="10874959" cy="10972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78408" y="5074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enunciado pede: substituir cada tipo por produtos comerciais de 2026, atualizar capacidade e preço, separar a banda em leitura e escrita, e acrescentar a coluna de preço por kilobyte.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DADOS COMPLETOS E FONTES NO RELATÓRIO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16.1: síntese dos dispositivos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91640"/>
          <a:ext cx="10874959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920240"/>
                <a:gridCol w="1920240"/>
                <a:gridCol w="2560320"/>
                <a:gridCol w="2050999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Capacidade-base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/ escrita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US$/KB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 L3 (proxy)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MiB adicionais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≈9 ns (derivado)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≈1,4 / 1,4 TB/s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2,97×10⁻³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DDR5 desktop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GiB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ns (referência)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/ 96 GB/s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1,6×10⁻⁵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9100 PRO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TB, sem dissipador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µs (livro)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 / 13,3 GB/s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2,00×10⁻⁷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Solidigm D5-P5336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61,44 TB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µs (livro)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 / 3,0 GB/s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2,6×10⁻⁷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870 EVO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µs (derivado)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 / 530 MB/s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3,4×10⁻⁷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Seagate Exos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TB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ms (livro)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 / 275 MB/s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2,7×10⁻⁸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486400"/>
            <a:ext cx="108749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KB = 1.000 bytes em todas as linhas. Preço/KB do 9100 PRO: US$ 199,99 (MSRP de lançamento). Preços históricos e proxies não são cotações atuais. Tempos marcados como livro seguem a alternativa autorizada pelo enunciado.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TABELA 16.1 · SETEMBRO DE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16.1 atualizada — terciário, e a coluna de preço por KB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74959" cy="914400"/>
        </p:xfrm>
        <a:graphic>
          <a:graphicData uri="http://schemas.openxmlformats.org/drawingml/2006/table">
            <a:tbl>
              <a:tblPr/>
              <a:tblGrid>
                <a:gridCol w="1560797"/>
                <a:gridCol w="2446655"/>
                <a:gridCol w="1366752"/>
                <a:gridCol w="1113650"/>
                <a:gridCol w="1079903"/>
                <a:gridCol w="970225"/>
                <a:gridCol w="1543924"/>
                <a:gridCol w="793054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 comercial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US$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US$/KB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Óptico WORM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Verbatim M-DISC BD-XL 100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GB/disco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ms (livro)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publicada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≈18 MB/s (4×)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12,70 + 230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1,3×10⁻⁷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Fita LTO-9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Cartucho Ultrium LTO-9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TB nativo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25–121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MB/s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MB/s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+ drive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4,9×10⁻⁹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Fita LTO-10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Cartucho Ultrium LTO-10 (2026)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→ 40 TB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25–121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MB/s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MB/s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260–300 + drive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9,3×10⁻⁹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Tape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TS4500 / Quantum i6000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926,8 PB; 2,317 EB a 2,5:1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25–121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≈51,2 GB/s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≈51,2 GB/s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cotação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352044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78408" y="3703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razão que sustenta a hierarquia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78408" y="40233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607.000×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4718304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separam o preço por KB da SRAM do da fita LTO-9:  (US$ 199 ÷ 67.108,864 KB) ÷ (US$ 87,99 ÷ 1,8×10¹⁰ KB) = 2,97×10⁻³ ÷ 4,89×10⁻⁹.  Não é o desempenho que sustenta o tiering: é essa razão de custo.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3520440"/>
            <a:ext cx="5276088" cy="2377440"/>
          </a:xfrm>
          <a:prstGeom prst="roundRect">
            <a:avLst>
              <a:gd name="adj" fmla="val 230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3703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fita não morreu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4041648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e mídia são precificados à parte, assim como no armazenamento óptico.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(revisado em nov/2025) até 365 TB nativos no LTO-14 — a maior vitalidade da hierarquia.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zero na estante, air gap físico contra ransomware, retenção declarada de 30 anos.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TABELA 16.1 · ANÁLISE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largura de banda foi o que realmente explodiu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58368" y="1536192"/>
          <a:ext cx="73152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536192"/>
            <a:ext cx="3346704" cy="4343400"/>
          </a:xfrm>
          <a:prstGeom prst="roundRect">
            <a:avLst>
              <a:gd name="adj" fmla="val 163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gráfico mostra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20×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2560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banda a mais no SSD, contra a Tabela 16.1 original: de 750 MB/s para 14,7 GB/s.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1,4×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840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o avanço do disco magnético no mesmo período: de 200 para 275 MB/s.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LTO &gt; HDD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fita supera o disco em taxa sequencial — não precisa posicionar braço entre blocos.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TABELA 16.1 · SÍNTESE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mudou entre 2014 e 2026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200"/>
          <a:ext cx="10874959" cy="914400"/>
        </p:xfrm>
        <a:graphic>
          <a:graphicData uri="http://schemas.openxmlformats.org/drawingml/2006/table">
            <a:tbl>
              <a:tblPr/>
              <a:tblGrid>
                <a:gridCol w="4207301"/>
                <a:gridCol w="666765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Mudança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no projeto de SBD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Optane / 3D XPoint descontinuado (2022–2025)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Removeu o degrau de memória persistente; reabriu o vão de 3 ordens de grandeza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CXL preenche o vão parcialmente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 nível de memória a 214–271 ns (2–2,5× a DRAM local); buffer pool cresce além dos slots DIMM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Sony ODA encerrado; Pioneer saiu dos leitores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Óptico virou nicho de arquivamento WORM de longuíssimo 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SATA virou legado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satura em 550 MB/s; mantido apenas por retrofit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 5.0 padrão; PCIe 6.0 no datacenter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 GB/s no consumo; 28 GB/s no Micron 9650 (fev/2026)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HAMR entrou em produção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HDD saltou de 24 TB para 32–36 TB; 44 TB anunciado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LTO-10 lançado (30 → 40 TB nativos)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Arquivamento a US$ 5–10/TB; roadmap revisado até 365 TB nativos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e HDD divergiram em 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18,6× por TB em 05/09/2026; observação parcial do 3T26 (era 7× no 3T25)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comparar interfaces: três reduções separam marketing de realidade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38528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7922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33088" y="179222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GB/s = 8 Gb/s. Uma interface de 6 Gb/s nunca entrega 6 GB/s.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522208" y="179222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Silberschatz escorrega aqui (§12.2).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816352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310896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29626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de linha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33088" y="296265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de controle para balanceamento DC e recuperação de clock.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22208" y="29626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8b/10b custa 25%; 128b/130b custa 1,6%.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986784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4279392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41330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Modulação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133088" y="41330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NRZ = 1 bit/símbolo. PAM4 = 2 bits/símbolo, com FEC obrigatório.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522208" y="41330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PAM4 está em FC 64G, IB HDR+, PCIe 6.0.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5230368"/>
            <a:ext cx="10874959" cy="960120"/>
          </a:xfrm>
          <a:prstGeom prst="roundRect">
            <a:avLst>
              <a:gd name="adj" fmla="val 5714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4128" y="5486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SATA 3.0:  6,0 Gb/s bruto × 8/10 = 4,8 Gb/s úteis ÷ 8 = 600 MB/s          ·          PCIe 5.0 ×4:  32 GT/s × 4 lanes × 128/130 ÷ 8 = 15,754 GB/s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Interfaces: síntese comparativa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91640"/>
          <a:ext cx="1087495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74520"/>
                <a:gridCol w="2286000"/>
                <a:gridCol w="2103120"/>
                <a:gridCol w="2233879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útil máxima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/ meio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/ limite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3.2 Gen 2×2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2.424 MB/s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Cabo certificado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externo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Ultra-320 SCSI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MB/s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 LVD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 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MB/s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 e SSD SATA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SAS-4 (24G)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2.400 MB/s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Backplane e discos SAS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 5.0 ×4 / NVMe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/ protocolo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15,75 GB/s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Placa/backplane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64GFC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6.400 MB/s por direção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Óptica 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FC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da rede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roteável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Blocos sobre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NVMe/TCP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da rede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roteável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Comandos NVMe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InfiniBand XDR 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Gb/s nominal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do cabo/óptica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 e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760720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Extrato. O relatório contém todas as interfaces exigidas, suas variantes e as condições de latência. M.2/U.2/EDSFF são fatores de forma; HBA é adaptador. Hot-plug depende da plataforma.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INTERFACES · VERIFICAÇÃO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 a uma afirmação do próprio enunciado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4959" cy="868680"/>
          </a:xfrm>
          <a:prstGeom prst="roundRect">
            <a:avLst>
              <a:gd name="adj" fmla="val 6316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3C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“SATA também é conhecida como NL-SAS.”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10312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Factualmente incorreto.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NL-SAS = mecânica SATA nearline + protocolo SAS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743200"/>
          <a:ext cx="1087495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926080"/>
                <a:gridCol w="236829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 (HDD)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NL-SAS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corporativo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/ protocolo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 / 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/ SCSI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/ SCSI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Mídia e rotação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Nearline 7.200 rpm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Nearline 7.200 rpm (a mesma)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 / 15 K rpm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(single-port)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(dual-port)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(dual-port)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Multipath / alta disponib.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STP / interposer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erro irrecuperável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10⁻¹⁴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10⁻¹⁵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10⁻¹⁶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58368" y="5440680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prática: um array SAS com discos SATA precisa de STP ou de placas interposer e perde o caminho redundante. Com NL-SAS, não. Para um SGBD em cluster, é a diferença entre sobreviver ou não à falha de um controlador.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NVMe venceu — e não foi por largura de banda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27632"/>
          <a:ext cx="10874959" cy="914400"/>
        </p:xfrm>
        <a:graphic>
          <a:graphicData uri="http://schemas.openxmlformats.org/drawingml/2006/table">
            <a:tbl>
              <a:tblPr/>
              <a:tblGrid>
                <a:gridCol w="3749986"/>
                <a:gridCol w="3292671"/>
                <a:gridCol w="3832303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AHCI / SATA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 de submissão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Comandos por fila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Registradores MMIO por comando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(não cacheáveis)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Afinidade de núcleo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fila por núcleo — sem contenção de 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de comandos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 (herdado do disco rotativo)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Enxuto, projetado para flash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4315968"/>
            <a:ext cx="10874959" cy="1691640"/>
          </a:xfrm>
          <a:prstGeom prst="roundRect">
            <a:avLst>
              <a:gd name="adj" fmla="val 3243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24128" y="44988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argumento em uma frase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4809744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AHCI oferece uma fila por porta. NVMe permite filas paralelas, reduzindo contenção entre núcleos. O ganho real depende do driver, do dispositivo e da carga.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INTERFACES · SÍNTESE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Orçamento de latência de uma leitura aleatória de 4 KB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74959" cy="914400"/>
        </p:xfrm>
        <a:graphic>
          <a:graphicData uri="http://schemas.openxmlformats.org/drawingml/2006/table">
            <a:tbl>
              <a:tblPr/>
              <a:tblGrid>
                <a:gridCol w="3201208"/>
                <a:gridCol w="1573165"/>
                <a:gridCol w="1573165"/>
                <a:gridCol w="1573165"/>
                <a:gridCol w="1573165"/>
                <a:gridCol w="13810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NVMe local (a)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NVMe/RoCE (b)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NVMe/TCP (b)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iSCSI 10 GbE (a)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HDD SAS (a)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 de sistema + camada de bloco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+ submissão na fila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20–50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Travessia do barramento / fabric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50–120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200–400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 da mídia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20–70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20–70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20–70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20–70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≈4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Controladora do alvo / RAID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10–30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10–30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30–80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20–70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41–163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122–177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500–800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" y="4187952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típica.    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99,99 medido pela Western Digital (4 KB, QD=1, mesma mídia) — a mediana é menor. As duas colunas de fabric são, portanto, conservadoras face às demais: isso reforça a conclusão (2), não a enfraquece.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8368" y="457200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" y="47000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NVMe local, ≈90% da latência é mídia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51572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5.0 → 6.0 não reduz latência de leitura aleatória. Só a mídia reduziria — e a mídia que faria isso saiu do mercado.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1688" y="457200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99432" y="47000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storage de rede, o protocolo domina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99432" y="51572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iSCSI por NVMe/TCP tem efeito de primeira ordem: 4× menos latência sobre a mesma mídia.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65008" y="457200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02752" y="47000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cauda importa mais que a média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302752" y="51572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banco quebra no P99,9. Fabrics lossless (FC, IB) vencem o TCP pela variância, não pela média.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GERENTE DE ARMAZENAMENTO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Traduzindo os números em decisões do Gerente de Armazenamento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01952"/>
            <a:ext cx="402336" cy="40233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17739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de bloco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087368" y="1773936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HDD: 8–64 KB, para amortizar a busca de 12,7 ms.  ·  SSD: 4–16 KB, alinhado à página NAND.  ·  Fita: ≥1 MB.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2697480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953512"/>
            <a:ext cx="402336" cy="40233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28254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pool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087368" y="2825496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uma falta de página por vez usa ≈3% de um SSD NVMe. É preciso I/O assíncrono com muitas requisições em voo — daí io_uring e effective_io_concurrency.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749040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05072"/>
            <a:ext cx="402336" cy="40233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38770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Durabilidade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087368" y="3877056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commit custa 1/latência_do_fsync. Group commit é o que separa usar o dispositivo de desperdiçá-lo.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4800600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056632"/>
            <a:ext cx="402336" cy="40233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36192" y="49286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4928616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random_page_cost deve ser calibrado por workload, cache e medições. 1,1–1,5 é apenas faixa inicial ilustrativa para SSD, não regra universal.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5742432"/>
            <a:ext cx="10874959" cy="530352"/>
          </a:xfrm>
          <a:prstGeom prst="roundRect">
            <a:avLst>
              <a:gd name="adj" fmla="val 10345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" y="5843016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ilustrativo 1/fsync (sem group commit/cache/CPU): HDD ≈125/s · SATA ≈6.700/s · NVMe ≈33.000/s · NVMe/TCP ≈8.200/s · iSCSI ≈1.700/s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GERENTE DE ARMAZENAMENTO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arquitetura de tiers para 2026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45920"/>
          <a:ext cx="10874959" cy="914400"/>
        </p:xfrm>
        <a:graphic>
          <a:graphicData uri="http://schemas.openxmlformats.org/drawingml/2006/table">
            <a:tbl>
              <a:tblPr/>
              <a:tblGrid>
                <a:gridCol w="1646335"/>
                <a:gridCol w="2515234"/>
                <a:gridCol w="2240845"/>
                <a:gridCol w="3429865"/>
                <a:gridCol w="1042679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típico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US$/KB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memória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 + CXL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DDR5 / CXL 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pool, tabelas de hash, catálogos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quente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NVMe TLC (E3.S)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 5.0 ×4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 log, tempdb, índices, tabelas OLTP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10⁻⁶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morno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NVMe QLC alta capac.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 4.0 ×4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Partições históricas, leitura intensiva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frio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HDD nearline 30 TB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 6 Gb/s ou NL-SAS 12G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lake, partições antigas, backup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arquivo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Fita LTO-10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12G / FC 32G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Retenção legal, air gap contra ransomware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448056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24128" y="466344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3.000×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52852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razão de preço por byte entre o tier 0 e o tier 4. É ela — e não a diferença de desempenho — que sustenta economicamente o tiering.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4480560"/>
            <a:ext cx="5276088" cy="1600200"/>
          </a:xfrm>
          <a:prstGeom prst="roundRect">
            <a:avLst>
              <a:gd name="adj" fmla="val 342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4645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empírica (PostgreSQL)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495604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local: 400 mil IOPS em 8 vCPU. Disco de rede precisaria de 112 vCPU — 14× mais.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TPC-C: 873 tps (NVMe local) contra 636 (Aurora) e 188 (RDS/EBS gp3).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conclusões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96596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9476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SCM saiu do mercado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5603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Optane foi descontinuado entre 2022 e 2025 e nada o substituiu. O teto de commits por thread continua ditado pela latência do NVMe.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81928" y="16916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74536" y="196596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74536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96328" y="19476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SSD e HDD divergiram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25603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18,6× em US$/TB na consulta de 05/09/2026; o 3T26 ainda não estava encerrado.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84048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41148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096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Banda deixou de ser o parâmetro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4709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NVMe local, &lt;1 µs de 20–70 µs é barramento. Explica o SATA parado, a vitória do NVMe e a irrelevância do PCIe 6.0 para OLTP.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81928" y="384048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74536" y="41148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74536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96328" y="4096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fita é a mais viva do baixo da pirâmide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74536" y="4709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LTO-10 a 40 TB nativos, roadmap até 365 TB, US$ 5–10/TB. Para retenção legal e air gap, não há substituto.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598932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metodológico: fabricantes publicam cada vez menos parâmetros de latência. Um trabalho equivalente feito em 2014 teria mais dados disponíveis do que este, feito em 2026.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POST-MORTEM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Post-Mortem — como usamos a IA e o que decidimos nós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1792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que determinaram o conteúdo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121408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“marque o que é datasheet, o que é medição e o que é estimativa; se não encontrar, diga.”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“distinga Gb/s de GB/s e cite a codificação de linha.”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— “verifique se ‘SATA = NL-SAS’ é correto.”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— “liste o que você NÃO conseguiu encontrar.”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— “verificador adversarial: não confirme nada por plausibilidade; ordene por gravidade o que derrubaria o trabalho.”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27632"/>
            <a:ext cx="5276088" cy="2286000"/>
          </a:xfrm>
          <a:prstGeom prst="roundRect">
            <a:avLst>
              <a:gd name="adj" fmla="val 24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6248" y="17922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 — quem decidiu o quê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121408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— coordenação, preços e conclusão.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— fundamentos e leitura dos capítulos-base.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— Tabela 16.1 e cálculo de preço por KB.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Vivian — interfaces, Fibre Channel e correção do NL-SAS.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— verificação adversarial, scripts e revisão final.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— gerente de armazenamento e consolidação do Post-Mortem.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4069080"/>
            <a:ext cx="10874959" cy="1965960"/>
          </a:xfrm>
          <a:prstGeom prst="roundRect">
            <a:avLst>
              <a:gd name="adj" fmla="val 2791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4224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lições sobre o uso de IA neste tipo de trabalho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535424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a origem de cada número é o que torna o trabalho auditável.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as lacunas explicitamente é tão importante quanto pedir os dados.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reproduz premissas erradas contidas no próprio pedido — o erro do NL-SAS só apareceu porque perguntamos.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longas contêm contradições internas; só a leitura cruzada as revela.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conclusões estruturais não vieram prontas: resultaram de comparar tabelas produzidas separadamente.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segunda IA, instruída a ATACAR o texto, achou 5 erros graves que a IA autora não viu — a lição que levamos.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ao debate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46504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1691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custo do otimizador deveria ser calibrado automaticamente, em vez de depender de um administrador que talvez não saiba que random_page_cost existe?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26060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551176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sentido continuar ensinando o modelo de I/O por contagem de blocos, ou o modelo de 2026 seria latência × profundidade de fila?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34107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morte do Optane foi falha de mercado ou de tecnologia — e o que impede que a lacuna seja reaberta indefinidamente?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4325112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427024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CXL viabilizar buffer pools de dezenas de terabytes, o que muda num SGBD que hoje assume que os dados não cabem na memória?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51846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512978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formalismo de otimização de consultas que otimize percentil (P99) em vez de custo esperado?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5943600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232A35"/>
          </a:solidFill>
          <a:ln w="12700">
            <a:solidFill>
              <a:srgbClr val="232A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4128" y="6053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  ·  Documento completo, com as tabelas integrais e o Post-Mortem, entregue em PDF.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651760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61188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Proveniência dos dados · derivações aritméticas · fatores de forma e HBA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PROVENIÊNCIA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cada número da Tabela 16.1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91056"/>
          <a:ext cx="10874959" cy="914400"/>
        </p:xfrm>
        <a:graphic>
          <a:graphicData uri="http://schemas.openxmlformats.org/drawingml/2006/table">
            <a:tbl>
              <a:tblPr/>
              <a:tblGrid>
                <a:gridCol w="2515234"/>
                <a:gridCol w="1966456"/>
                <a:gridCol w="6393269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de origem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aparece na tabela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Datasheet do fabricante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marcação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Capacidades e taxas do 9100 PRO, 870 EVO, D5-P5336, 9550 PRO, DT Max, Exos M; latência rotacional de 4,16 ms; taxas nativas do LTO-9 e LTO-10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Medição publicada por terceiro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Citada no texto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 TB/s de L3 do Zen 5 (Chips and Cheese); 214–271 ns do CXL 2.0 (ASPLOS); 41–177 µs do NVMe-oF (Western Digital)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Derivação nossa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explicitada na nota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Preço/KB; 51,2 GB/s por módulo DDR5-6400; 51,2 GB/s da library; 926,8 PB (23.170 × 40 TB); 2,317 EB só no cenário 2,5:1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mantida do livro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Marcada como livro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Referências da Tabela 16.1: SSD 50 µs, HDD 10 ms, USB 100 µs, óptico 180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encontrado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de módulo CXL e de tape library (só sob cotação); banda agregada do MD220; velocidade de leitura do M-DISC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" y="5541264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Limites: MSRP histórico não é cotação atual. CXL e biblioteca de fita não têm preço confirmado e não entram na comparação de custo. Ver notas metodológicas do relatório.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DERIVAÇÕES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contas, por extenso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por KB (SRAM)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172968" y="17099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US$ 199 ÷ 67.108,864 KB = 2,97×10⁻³ /KB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entre 9950X3D2 (192 MB L3, US$ 899) e 9950X3D (128 MB, US$ 700)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81928" y="1627632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topo/base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796528" y="17099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2,97×10⁻³ ÷ 4,89×10⁻⁹ = 607.000×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contra cartucho LTO-9 (US$ 87,99 ÷ 1,8×10¹⁰ KB)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2523744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rotacional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172968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÷ 7.200 ÷ 2 = 4,16 ms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07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rotação a 7.200 rpm — publicado pela Seagate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81928" y="2523744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9672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de disco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96528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TB ÷ 285 MB/s = 31,2 h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2907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8 TB ÷ 200 MB/s = 11,1 h em 2014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3419856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3.0 útil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172968" y="3502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6,0 Gb/s × 8/10 ÷ 8 = 600 MB/s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38039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8b/10b, 80% de eficiência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81928" y="3419856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5.0 ×4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796528" y="3502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GT/s × 4 × 128/130 ÷ 8 = 15,754 GB/s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38039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128b/130b, 98,46%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" y="431596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" y="4398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SAS-4 útil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172968" y="43982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22,5 Gb/s × 128/150 ÷ 8 = 2.400 MB/s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47000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“24G” é marca; a taxa é 22,5 Gb/s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81928" y="431596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19672" y="4398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ilustrativo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796528" y="43982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÷ latência do fsync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519672" y="47000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group commit, cache protegido, fila e CPU; não é throughput previsto do SGBD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" y="5212080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6112" y="5294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DDR5-6000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172968" y="52943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6.000 MT/s × 8 B × 2 canais = 96 GB/s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96112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canais no kit de desktop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81928" y="5212080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19672" y="5294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L3 do Zen 5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796528" y="52943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(46,5 + 4) ÷ 5,6 GHz = 9,02 ns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519672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GHz é o boost oficial; ciclos continuam sendo derivação, não especificação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M.2, U.2, EDSFF, HBA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Fatores de forma e HBA — o que não é protocolo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200"/>
          <a:ext cx="10874959" cy="914400"/>
        </p:xfrm>
        <a:graphic>
          <a:graphicData uri="http://schemas.openxmlformats.org/drawingml/2006/table">
            <a:tbl>
              <a:tblPr/>
              <a:tblGrid>
                <a:gridCol w="2378040"/>
                <a:gridCol w="1371946"/>
                <a:gridCol w="1189020"/>
                <a:gridCol w="2195114"/>
                <a:gridCol w="3740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de forma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Hot-swap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Tensão / potência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M.2 2280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 (M-key)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 V — 8 a 11 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Boot, cliente, cache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U.2 (SFF-8639)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V — 25 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Servidor, gaveta frontal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U.3 (SFF-TA-1001)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V — 25 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Baia tri-modo: SAS, SATA ou NVMe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E1.S / E1.L (EDSFF)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V — 16 a 40 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1U; E1.L é a “régua” de capacidade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E3.S / E3.S 2T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 ou ×8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V — 25 a 70 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Sucessor do U.2; o 2T aceita módulo CXL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" y="404164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EDSFF está substituindo o U.2: SSDs PCIe 5.0/6.0 passam de 25 W e a lata de 2,5 polegadas não dissipa. O M.2, além de não ter hot-swap, só tem 3,3 V.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368" y="4498848"/>
            <a:ext cx="10874959" cy="1600200"/>
          </a:xfrm>
          <a:prstGeom prst="roundRect">
            <a:avLst>
              <a:gd name="adj" fmla="val 3429"/>
            </a:avLst>
          </a:prstGeom>
          <a:solidFill>
            <a:srgbClr val="14181F"/>
          </a:solidFill>
          <a:ln w="12700">
            <a:solidFill>
              <a:srgbClr val="1418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24128" y="4663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 não é interface nem protocolo — é o adaptador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4974336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 em modo IT expõe os discos crus ao SO, sem cache nem metadados de RAID — é o que ZFS, Ceph e réplica por software exigem. Em modo RAID, faz RAID em hardware com cache protegido.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 de durabilidade: HBA RAID com cache NÃO protegido por bateria pode confirmar um fsync antes da persistência. O SGBD acredita ter cumprido a durabilidade; a queda de energia prova o contrário.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Dispositivos de Armazenamento Fisico para SBD</dc:title>
  <dc:subject>PptxGenJS Presentation</dc:subject>
  <dc:creator>Grupo CBD/UFRJ</dc:creator>
  <cp:lastModifiedBy>Grupo CBD/UFRJ</cp:lastModifiedBy>
  <cp:revision>1</cp:revision>
  <dcterms:created xsi:type="dcterms:W3CDTF">2026-09-09T01:57:16Z</dcterms:created>
  <dcterms:modified xsi:type="dcterms:W3CDTF">2026-09-09T01:57:16Z</dcterms:modified>
</cp:coreProperties>
</file>