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Folha de rosto. Apresentar o grupo e o objeto do trabalho: comparar NAS e SAN como arquiteturas de armazenamento físico para SBD, cobrindo protocolos, AST, object storage e a recomendação por nível secundário e terciário.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Deixar claro desde o início que a apresentação segue a lista do enunciado item a item. Mencionar que o relatório traz uma tabela de checklist mapeando cada exigência à seção correspondente.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slide-chave. Se o professor perguntar uma coisa só, é esta. A diferença entre NAS e SAN não é o cabo nem a banda: é ONDE a fronteira de rede corta a pilha de E/S. Todas as outras diferenças (protocolo, custo, compartilhamento, modelo de falha) decorrem daí.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a figura da esquerda para a direita. Em DAS não há rede no caminho. Em SAN a rede carrega blocos SCSI ou NVMe. Em NAS a rede carrega operações de arquivo. As caixas sombreadas são as camadas que deixam de ser responsabilidade do servidor de banco de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régua contra a qual NAS e SAN devem ser avaliados — e não um benchmark genérico. Destacar o item 2: é a LATÊNCIA do fsync, não a banda, que limita a taxa de commits em OLTP. E o item 3: torn page é o motivo de existir o doublewrite buffer do InnoDB e o full_page_writes do PostgreSQL.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Elmasri &amp; Navathe: os dispositivos NAS 'são, de fato, servidores que não fornecem nenhum dos serviços comuns de servidor, mas simplesmente permitem a adição de armazenamento para compartilhamento de arquivos'. O NAS head é a interface entre o sistema e os clientes de rede.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Ponto de arguição provável: 'qual a diferença entre SMB e CIFS?'. Resposta: nenhuma de natureza — a Microsoft documenta que o CIFS é um DIALETO do SMB. CIFS designa a família SMB 1. Ao especificar 'SMB/CIFS' num projeto novo em 2026, o que se está de fato especificando é SMB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Marcos: NFSv3 é SEM ESTADO e deixa o travamento fora do protocolo (NLM), o que torna a recuperação após falha frágil. NFSv4 integra travamento e usa uma única porta (2049), o que o torna atravessável por firewall. NFSv4.1 traz sessões com semântica exactly-once e pNFS.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PERGUNTA PROVÁVEL, e a primeira versão deste deck não sabia responder: 'explique como o AFP FUNCIONA — não o que aconteceu com ele'. O enunciado pede 'como funciona cada uma das soluções', e nós tínhamos só o obituário. Resposta: protocolo de sessão COM ESTADO, sobre TCP/548 via DSI; comandos bifurcados por fork (FPOpenFork, FPRead/FPWrite) porque o arquivo do Mac tem data fork e resource fork; metadados do Finder como atributos de primeira classe; travamento por intervalo de bytes com FPByteRangeLock, mas amarrado à SESSÃO. Segunda armadilha: cliente ≠ servidor. Dizer 'removido no Big Sur' erra por cinco anos — removeu o SERVIDOR.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ler a tabela inteira: destacar a linha de coerência de cache (é a que explica o dNFS) e a de custo (é a que explica por que NAS domina data warehouse).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Citar Silberschatz: a SAN dá aos servidores 'uma visão lógica de um disco muito grande e muito confiável'. E Elmasri: 'os dispositivos ligados à SAN aparecem como dispositivos SCSI'. É uma ilusão deliberada, e é ela que faz a SAN funcionar — o SGBD não precisa saber que há uma rede no caminho.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Decisão consciente do grupo: o enunciado lista 'FC Switch' entre as variações de protocolo, mas a norma T11 o define como topologia. Atendemos o item E explicamos a distinção. PERGUNTA PROVÁVEL sobre a caixa de latência: 'dois saltos ainda são locally switched?' — resposta honesta: não, dois saltos implicam ISL, que não é comutação local; por isso o escopo está declarado no slide e a latência da controladora do array está fora da conta. Outra pergunta provável: 'a fabric escala a milhões de endereços?' — o espaço é 2^24, mas o campo Domain_ID tem 239 valores válidos e os fornecedores suportam algumas dezenas de domínios por fabric. É verdade teórica, não prática.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MAIOR RISCO DE PERGUNTA. Três coisas para ter na ponta da língua. (1) A prova de que a FCIA publica full-duplex é FÍSICA: a vazão publicada excede a taxa de linha, e uma direção não pode transportar mais bits do que a linha sinaliza. (2) A FCIA NÃO declara isso em lugar nenhum — a leitura é DERIVAÇÃO NOSSA, e dizemos. (3) A convenção X GFC = X×100 MB/s QUEBRA na Gen 8, porque a linha ficou em 112,2 Gb/s e não nos 115,6 que dobrar exigiria. Nossa primeira versão publicava a tabela de 2016 e afirmava 'fator exatamente 2' — as duas coisas erradas, e é o erro mais grave que cometemos.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 são precisos sobre o efeito de mercado: o iSCSI impactou principalmente empresas de pequeno e médio porte, e as grandes foram lentas por causa do investimento prévio em FC. Norma vigente: RFC 7143 (2014), que obsoleta a RFC 3720 — nossa primeira versão citou a 3720.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Confusão comum e provável alvo de pergunta: iSCSI SUBSTITUI o FC (não há fabric em lugar nenhum); FCIP PRESERVA o FC (as duas pontas são fabrics completas, e o túnel as FUNDE em uma só). Daí o risco operacional: um evento de reconfiguração num sítio se propaga ao outro — por isso existem FC routing e IVR.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ATENÇÃO: o professor tem o livro aberto. Por isso a citação está COMPLETA no slide, e não recortada. Nossa primeira versão apresentava 'três razões pelas quais o livro está errado', e duas delas estavam no próprio parágrafo, três linhas depois da frase que citávamos. A segunda rodada de verificação pegou, e é o tipo de recorte que derruba um trabalho em trinta segundos. O que resta são duas imprecisões REAIS e específicas — e a segunda é a de consequência prática: quem aceitar a analogia vai tentar usar FCoE entre data centers. Não dá.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ALTO RETORNO. Três leituras para conduzir com o ponteiro. (1) iSCSI e FCoE NÃO são variantes um do outro: o iSCSI carrega COMANDOS SCSI sobre TCP/IP; o FCoE carrega o QUADRO FC INTEIRO sobre Ethernet. (2) FCIP e FCoE carregam a MESMA coisa — o quadro FC — e diferem só em sobre o quê: por isso um é roteável e o outro não. (3) O NAS é o único em que o topo da pilha NÃO é comando SCSI: são operações de arquivo. É essa última diferença que decide tudo o mais no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fechamento da parte de protocolos. Serve para o avaliador conferir item a item que os oito protocolos do enunciado foram tratados. Se houver pergunta sobre um deles, voltar ao slide específico.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 observação de convergência: quase todo array corporativo hoje é unificado — o mesmo equipamento apresenta LUNs por FC/iSCSI E compartilhamentos por NFS/SMB sobre o mesmo pool. A pergunta virou 'qual protocolo para cada carga?', que é uma pergunta melhor.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 definem AST e citam o FAST da EMC. Fomos ao white paper e extraímos os parâmetros exatos: fatia de 256 MB, análise horária, janela de relocação diária 17h–1h, quatro políticas. Proveniência: documentação de fabricante, produto identificado.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de contribuição própria do grupo, e o mais provável de gerar debate. A consequência contra-intuitiva: o AST pode classificar como FRIO exatamente o dado mais QUENTE do banco, porque esse dado mora permanentemente no buffer pool e quase nunca é relido do disco. O que chega ao array é o RESÍDUO que o cache do SGBD não absorveu.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Origem acadêmica correta: CMU (Gibson et al., 1996) e OceanStore em Berkeley (Kubiatowicz et al., 2000). Observação: o que venceu NÃO foi o comando OSD do T10 — foi a API HTTP do S3. O armazenamento por objetos venceu pelo verbo HTTP, não pelo comando SCSI.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Elmasri &amp; Navathe: 'como o armazenamento por objetos força o travamento a ocorrer no nível do objeto, não está claro quão adequado ele é para processamento concorrente de transações em sistemas de alta vazão'. Continua correto. Mas nos domínios em que a latência não importa, venceu completamente.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Decisão do grupo: estruturar por perfil de carga, porque é ele — e não o tamanho da organização — que determina se o motor precisa de bloco ou de arquivo. Se houver uma única mensagem a levar: escolha pela unidade de abstração que o Database Engine precisa controlar, não pela velocidade do enlace.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Provocação deliberada para o debate. A pergunta 'NAS ou SAN?' pressupõe que o motor escreva páginas. Quando o motor deixa de escrever páginas e passa a escrever só log, a pergunta muda de objeto. ATENÇÃO AO RÓTULO, e é provável pergunta: os números NÃO são vazão — são TOTAIS DE UMA JANELA DE 30 MINUTOS, numa carga SysBench só de escrita, sobre 100 GB, numa r3.8xlarge. Se perguntarem 'em quanto tempo?', a resposta é 30 minutos. Nossa primeira versão omitia isso e a segunda rodada de verificação pegou.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Detalhe revelador: a taxa comprimida do LTO-10 é declarada 'usando a interface Fibre Channel de 32 Gb'. A biblioteca de fitas moderna é um DISPOSITIVO DA SAN — o nível terciário não é um mundo à parte, é conectado pela mesma fabric, e o dimensionamento do enlace precisa contemplar a janela de 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transparente: não tivemos acesso ao vídeo específico mostrado em aula. Em vez de supor qual era, declaramos o critério e o aplicamos. Casos citados apenas em material de divulgação foram descartados. Essa é a decisão de honestidade metodológica do grupo.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com respeito — são livros excelentes e o campo se move rápido. A do SATA-3 se prova sozinha dentro da própria frase: se fossem 6 GB/s, seriam 6.000 MB/s, e não os 600 MB/s que o mesmo período afirma. ATENÇÃO: NÃO listamos mais o FCoE como 'erro do livro' — o parágrafo do Elmasri já qualifica a analogia em dois pontos, e nossa versão anterior citava recortado. O que restou está no slide 15, e é menor e honesto. A do LTO foi achada pelo nosso script de verificação, não pela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com as três conclusões e emendar direto nas perguntas para o debate.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Oferecer para a discussão em sala e no fórum do AVA. Não são perguntas retóricas: são pontos em que o grupo não tem resposta fechada.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a pergunta 'descreva a sequência de quadros de um comando FCP'. O ponto que rende: a escrita tem o XFER_RDY a mais, e é isso que aparece na latência de fsync do log.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duas perguntas prováveis e específicas. NDMP é o elo que liga NAS, SAN e nível terciário — e é a resposta correta para 'como se faz backup de um NAS'. hard vs soft é a resposta concreta ao requisito 5 do slide 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para perguntas sobre RAID (que ocupa uma seção inteira do Elmasri e quase não aparece no corpo) e sobre o que faz a fabric dupla realmente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defesa. Se houver pergunta sobre a origem de qualquer número do deck, ele está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para perguntas sobre contas.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sobre o Post-Mortem. A família (d) é a que mais ensinou: são erros de ENQUADRAMENTO, não de fato. Em todos os três, cada afirmação isolada era verdadeira — o erro estava no que ficou de fora. Nenhuma verificação de fatos detecta isso.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sobre o processo. As duas cláusulas do prompt são o que faz a técnica funcionar.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defesa caso o professor pergunte sobre a divisão de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603504"/>
            <a:ext cx="10874959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Arquiteturas de Armazenamento Físico</a:t>
            </a:r>
            <a:endParaRPr lang="en-US" sz="3100" dirty="0"/>
          </a:p>
          <a:p>
            <a:pPr indent="0" marL="0">
              <a:lnSpc>
                <a:spcPct val="106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Sistemas de Banco de Dados</a:t>
            </a:r>
            <a:endParaRPr lang="en-US" sz="3100" dirty="0"/>
          </a:p>
        </p:txBody>
      </p:sp>
      <p:sp>
        <p:nvSpPr>
          <p:cNvPr id="3" name="Shape 1"/>
          <p:cNvSpPr/>
          <p:nvPr/>
        </p:nvSpPr>
        <p:spPr>
          <a:xfrm>
            <a:off x="658368" y="1920240"/>
            <a:ext cx="3108960" cy="0"/>
          </a:xfrm>
          <a:prstGeom prst="line">
            <a:avLst/>
          </a:prstGeom>
          <a:noFill/>
          <a:ln w="33020">
            <a:solidFill>
              <a:srgbClr val="EB683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58368" y="2066544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(Network Attached Storage) e SAN (Storage Area Network)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58368" y="246888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D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Construção de Banco de Dados  ·  IM / DCC — UFRJ  ·  Prof. Milton Ramirez</a:t>
            </a:r>
            <a:endParaRPr lang="en-US" sz="1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017520"/>
          <a:ext cx="7863840" cy="914400"/>
        </p:xfrm>
        <a:graphic>
          <a:graphicData uri="http://schemas.openxmlformats.org/drawingml/2006/table">
            <a:tbl>
              <a:tblPr/>
              <a:tblGrid>
                <a:gridCol w="603504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completo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Bernardo Brandão Pozzato Carvalho Costa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123289593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Enzo de Carvalho Sampaio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123386206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Schmitz Corrêa Rizawinsk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123225573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En Shih Hu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123224674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 Henrique da Silva Pereira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123311073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Vivian Maria da Silva e Souza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E7EBF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123205793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3A44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81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58368" y="6053328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D99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Rio de Janeiro  ·  Setembro de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tem 20 itens obrigatórios; cada um tem lugar marcado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81328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636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distinção que decide tudo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92224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x arquivo, e o que o Database Engine exige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847527" y="166420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900" dirty="0"/>
          </a:p>
        </p:txBody>
      </p:sp>
      <p:sp>
        <p:nvSpPr>
          <p:cNvPr id="12" name="Shape 9"/>
          <p:cNvSpPr/>
          <p:nvPr/>
        </p:nvSpPr>
        <p:spPr>
          <a:xfrm>
            <a:off x="658368" y="2267712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35000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578608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 + SMB/CIFS, NFS e AFP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10847527" y="2450592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658368" y="3054096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841248" y="313639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41248" y="3364992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 + FC, FC Switch, iSCSI, FCIP e FCoE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10847527" y="3236976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900" dirty="0"/>
          </a:p>
        </p:txBody>
      </p:sp>
      <p:sp>
        <p:nvSpPr>
          <p:cNvPr id="20" name="Shape 17"/>
          <p:cNvSpPr/>
          <p:nvPr/>
        </p:nvSpPr>
        <p:spPr>
          <a:xfrm>
            <a:off x="658368" y="3840480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392277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 e Object Storage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4151376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Tiering automatizado e o terceiro paradigma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10847527" y="4023360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658368" y="4626864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841248" y="470916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</a:t>
            </a:r>
            <a:endParaRPr lang="en-US" sz="1250" dirty="0"/>
          </a:p>
        </p:txBody>
      </p:sp>
      <p:sp>
        <p:nvSpPr>
          <p:cNvPr id="26" name="Text 23"/>
          <p:cNvSpPr txBox="1"/>
          <p:nvPr/>
        </p:nvSpPr>
        <p:spPr>
          <a:xfrm>
            <a:off x="841248" y="4937760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secundário (online) e terciário (offline)</a:t>
            </a:r>
            <a:endParaRPr lang="en-US" sz="1100" dirty="0"/>
          </a:p>
        </p:txBody>
      </p:sp>
      <p:sp>
        <p:nvSpPr>
          <p:cNvPr id="27" name="Text 24"/>
          <p:cNvSpPr txBox="1"/>
          <p:nvPr/>
        </p:nvSpPr>
        <p:spPr>
          <a:xfrm>
            <a:off x="10847527" y="4809744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900" dirty="0"/>
          </a:p>
        </p:txBody>
      </p:sp>
      <p:sp>
        <p:nvSpPr>
          <p:cNvPr id="28" name="Shape 25"/>
          <p:cNvSpPr/>
          <p:nvPr/>
        </p:nvSpPr>
        <p:spPr>
          <a:xfrm>
            <a:off x="658368" y="5413248"/>
            <a:ext cx="10874959" cy="713232"/>
          </a:xfrm>
          <a:prstGeom prst="roundRect">
            <a:avLst>
              <a:gd name="adj" fmla="val 769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841248" y="549554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Exemplos reais e correções</a:t>
            </a:r>
            <a:endParaRPr lang="en-US" sz="1250" dirty="0"/>
          </a:p>
        </p:txBody>
      </p:sp>
      <p:sp>
        <p:nvSpPr>
          <p:cNvPr id="30" name="Text 27"/>
          <p:cNvSpPr txBox="1"/>
          <p:nvPr/>
        </p:nvSpPr>
        <p:spPr>
          <a:xfrm>
            <a:off x="841248" y="5724144"/>
            <a:ext cx="10509199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documentados + 3 correções ao material-fonte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10847527" y="5596128"/>
            <a:ext cx="502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DFE3E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não é de velocidade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de unidade de abstração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81328"/>
            <a:ext cx="10874959" cy="1225296"/>
          </a:xfrm>
          <a:prstGeom prst="roundRect">
            <a:avLst>
              <a:gd name="adj" fmla="val 4478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32688" y="1609344"/>
            <a:ext cx="10326319" cy="9692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move a fronteira de rede ABAIXO do sistema de arquivos: o servidor recebe blocos e continua dono do sistema de arquivos.</a:t>
            </a:r>
            <a:endParaRPr lang="en-US" sz="15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move a fronteira ACIMA: o servidor recebe arquivos, e o sistema de arquivos é do dispositivo de armazenamento.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58368" y="2889504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41248" y="297180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 — semântica de BLOCO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841248" y="3200400"/>
            <a:ext cx="5440680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SGBD controla alocação, ordenação de escrita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atomicidade de página. Rede dedicada.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Compartilhar exige FS de cluster.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739128" y="2889504"/>
            <a:ext cx="5806440" cy="1417320"/>
          </a:xfrm>
          <a:prstGeom prst="roundRect">
            <a:avLst>
              <a:gd name="adj" fmla="val 3871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922008" y="297180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— semântica de ARQUIVO</a:t>
            </a:r>
            <a:endParaRPr lang="en-US" sz="1250" dirty="0"/>
          </a:p>
        </p:txBody>
      </p:sp>
      <p:sp>
        <p:nvSpPr>
          <p:cNvPr id="15" name="Text 12"/>
          <p:cNvSpPr txBox="1"/>
          <p:nvPr/>
        </p:nvSpPr>
        <p:spPr>
          <a:xfrm>
            <a:off x="6922008" y="3200400"/>
            <a:ext cx="5440680" cy="10332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dispositivo é dono do FS: aloca, faz journaling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arbitra travamento. Compartilhamento nativo.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Coerência de cache é fraca por padrão.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449884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Consequência: a escolha certa é a que o Database Engine precisa controlar — não a que tem o cabo mais rápido.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658368" y="493776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Silberschatz et al., §12.2; Elmasri &amp; Navathe, §16.11.1 e §16.11.2.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rede corta a pilha de E/S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não corta; SAN corta abaixo do FS; NAS corta acima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pic>
        <p:nvPicPr>
          <p:cNvPr id="8" name="Image 0" descr="fig/pilh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1426464"/>
            <a:ext cx="10600639" cy="41605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58368" y="570585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própria a partir das definições de Silberschatz §12.2 e Elmasri &amp; Navathe §16.11.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Database Engine exige do armazenamento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requisitos, em ordem de rigidez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63040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453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Acesso em blocos/páginas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73936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KiB no PostgreSQL e Oracle; 16 KiB no InnoDB. Toda a modelagem de custo de E/S é construída sobre essa unidade.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395728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4780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Durabilidade sob comando (fsync)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706624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commit só retorna com o log em mídia não volátil. É a LATÊNCIA dessa chamada — não a banda — que limita a vazão de OLTP.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328416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41071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Atomicidade da escrita de página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3639312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energia cai no meio de uma página de 16 KiB, é preciso detectar e reparar. InnoDB: doublewrite buffer. PostgreSQL: full_page_writes.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261104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3434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Travamento previsível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4572000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cluster com armazenamento compartilhado, vários nós escrevem nos mesmos blocos. Tem de ser correto sob falha de nó.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" y="5193792"/>
            <a:ext cx="10874959" cy="859536"/>
          </a:xfrm>
          <a:prstGeom prst="roundRect">
            <a:avLst>
              <a:gd name="adj" fmla="val 6383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527608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Comportamento sob falha transitória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504688"/>
            <a:ext cx="10509199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caminho some por 30 s: bloqueia, erra, ou devolve sucesso falso? A diferença decide se a instância sobrevive.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— como funciona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dispositivo é dono do sistema de arquivos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44752"/>
            <a:ext cx="10874959" cy="4590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NAS head possui discos organizados internamente, tipicamente em RAID — Elmasri &amp; Navathe registram suporte típico a RAID 0, 1 e 5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esse armazenamento, o NAS head MONTA E OPERA UM SISTEMA DE ARQUIVOS PRÓPRIO (WAFL, ZFS, XFS…)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 sistema de arquivos é exportado pela LAN por SMB/CIFS, NFS ou AFP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cliente monta o compartilhamento e enxerga arquivos e diretórios — emite open/read/write/close/lock, não comandos de bloco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3749040"/>
            <a:ext cx="10874959" cy="1170432"/>
          </a:xfrm>
          <a:prstGeom prst="roundRect">
            <a:avLst>
              <a:gd name="adj" fmla="val 4688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3895344"/>
            <a:ext cx="10399471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 que decide tudo: quem executa a alocação de blocos, o journaling de metadados e o controle de concorrência de arquivo é o DISPOSITIVO NAS, não o servidor de banco de dados. O servidor delega.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508406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&amp; Navathe, §16.11.2; Silberschatz et al., §12.2.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 — SMB/CIFS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CIFS não é outro protocolo: é o nome que a Microsoft deu, em 1996, à família SMB 1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44752"/>
          <a:ext cx="10874959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2148840"/>
                <a:gridCol w="712317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Introduzido em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que trouxe de relevante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1.0 (CIFS)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Anos 1980–90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 original; verboso, muitas idas e voltas por operação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Vista / Server 2008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Reescrita: comandos reduzidos, requisições compostas, créditos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2.1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7 / 2008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Leasing de arquivo (cache de cliente mais agressivo e correto)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8 / Server 2012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Direct (RDMA), Multichannel, transparent failover, AES-128-CCM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8.1 / 2012 R2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E/S pequena e aleatória; SMB1 pode ser removido por completo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 3.1.1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10 / Server 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 negociação pré-autenticação; AES-128-GCM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443984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572000"/>
            <a:ext cx="10399471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com SGBD: a Microsoft suporta arquivos do SQL Server 2012+ em fileshare SMB — bancos de sistema e de usuário. Exige SMB 3.0 transparent failover para carga crítica. FILESTREAM NÃO é suportado. Só caminhos UNC.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61441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Microsoft Learn — [MS-SMB2] e 'Install SQL Server with SMB Fileshare Storage'.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II — NFS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protocolo NAS que aparece em instalações sérias de banco de dados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1234440"/>
                <a:gridCol w="1874520"/>
                <a:gridCol w="6528816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Versão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Introduzida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vigente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 determinante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1094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Sobre UDP; offsets de 32 bits (limite de 2 GiB por arquivo)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1995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1813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 bits, escrita assíncrona com COMMIT. SEM ESTADO: travamento fora do protocolo (NLM)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7530 (2015)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ESTADO. Travamento e ACLs no protocolo; operações COMPOUND; porta única 2049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8881 (2020)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Sessões dão semântica exactly-once (com SEQUENCE à frente); pNFS separa metadados de 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NFSv4.2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7862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Cópia no servidor, arquivos esparsos, hole punching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3785616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Cuidado ao ler: “norma vigente” é a RFC EM VIGOR, muitas vezes uma reedição — por isso a v4.2 (2016) parece anteceder a v4.1 (2020). A cronologia real está na coluna “introduzida”.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658368" y="4133088"/>
            <a:ext cx="10874959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96112" y="4224528"/>
            <a:ext cx="10399471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calcanhar de Aquiles é a coerência de cache: o NFS usa close-to-open. O manual nfs(5) do Linux é explícito — “se coerência absoluta de cache entre clientes for necessária, as aplicações devem usar travamento de arquivo” ou “abrir seus arquivos com a flag O_DIRECT”. É por isso que a Oracle reimplementou o cliente NFS DENTRO do motor: o Direct NFS (dNFS), com suporte a NFSv3, v4, v4.1 e pNFS.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requisito 5 (comportamento sob falha transitória) tem resposta concreta aqui: a opção de montagem hard vs soft. Com hard, a E/S bloqueia até o servidor voltar; com soft, retorna erro e o SGBD pode corromper. Para banco, a recomendação dos fornecedores é hard.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572414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RFCs do IETF; man 5 nfs (Linux); Oracle Database Installation Guide 19c.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NAS III — AFP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por que existiu, e por que acabou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5806440" cy="2212848"/>
          </a:xfrm>
          <a:prstGeom prst="roundRect">
            <a:avLst>
              <a:gd name="adj" fmla="val 2479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5389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682496"/>
            <a:ext cx="5440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Sessão COM ESTADO: FPLogin → FPOpenVol →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operações sobre identificadores de sessão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Sobre TCP porta 548, enquadrado pelo DSI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Comandos BIFURCADOS por fork: FPOpenFork,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FPRead / FPWrite — o arquivo do Mac tem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data fork e resource fork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Metadados do Finder como atributos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primeira classe, não emulação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FPByteRangeLock, mas com semântica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SESSÃO: o travamento morre com ela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371600"/>
            <a:ext cx="5806440" cy="2212848"/>
          </a:xfrm>
          <a:prstGeom prst="roundRect">
            <a:avLst>
              <a:gd name="adj" fmla="val 2479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45389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existiu — e o que nunca teve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682496"/>
            <a:ext cx="544068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EXISTIU porque SMB1 e NFS da época não sabiam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representar o resource fork sem truques (arquivos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._nome, AppleDouble), e o resultado era corrupção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silenciosa de metadados.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NUNCA TEVE: RDMA, múltiplos canais, disponibilidade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contínua com failover transparente, nem travamento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independente de sessão. Parou no conjunto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de um protocolo de escritório.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730752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81304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11 (2020)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041648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Removido o SERVIDOR AFP: um Mac deixa de poder compartilhar pastas por AFP.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425696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50799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15.5 (mai./2025)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4736592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Depreciado o CLIENTE. Texto da Apple: “Apple Filing Protocol (AFP) client is deprecated and will be removed in a future version of macOS.”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58368" y="5120640"/>
            <a:ext cx="10874959" cy="621792"/>
          </a:xfrm>
          <a:prstGeom prst="roundRect">
            <a:avLst>
              <a:gd name="adj" fmla="val 882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41248" y="52029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macOS 27 (jun./2026)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841248" y="5431536"/>
            <a:ext cx="10509199" cy="2377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betas já não trazem o cliente AFP — encerrando também o Time Machine em Time Capsule e AirPort Disk.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658368" y="5833872"/>
            <a:ext cx="10874959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Relevância para SBD: NENHUMA — e isso é o achado. Nenhum dos quatro SGBDs de maior participação o lista como configuração suportada. O motivo é técnico: sem travamento independente de sessão e sem disponibilidade contínua, falha os requisitos 4 e 5 do slide 4. Para NAS com clientes Apple: SMB 3.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— vantagens e desvantagens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 a ótica de um SBD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44752"/>
          <a:ext cx="10874959" cy="914400"/>
        </p:xfrm>
        <a:graphic>
          <a:graphicData uri="http://schemas.openxmlformats.org/drawingml/2006/table">
            <a:tbl>
              <a:tblPr/>
              <a:tblGrid>
                <a:gridCol w="5436108"/>
                <a:gridCol w="5436108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Desvantagens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 a rede Ethernet/IP existente: sem HBA, sem switch FC, sem equipe especializada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 por banda com o tráfego de aplicação, salvo VLAN ou rede física separada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Compartilhamento concorrente nativo, sem FS de cluster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Coerência de cache fraca por padrão (close-to-open); exige O_DIRECT ou cliente dedicado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Provisionamento simples: criar compartilhamento e dar permissão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Camada extra de FS no caminho: metadados, travamento e journaling somam latência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Independência de sistema operacional dos clientes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Escrita atômica de página não é garantida pelo protocolo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Instantâneos e clones no nível de arquivo, com granularidade compreensível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Nem todo recurso do SGBD funciona (FILESTREAM não é suportado sobre SMB)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custo por TB útil, de aquisição e de operação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SMB 3 transparent failover / NFSv4.1 para sobreviver a falhas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79729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Elaboração própria a partir de Elmasri &amp; Navathe §16.11.2, Microsoft Learn e man 5 nfs.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— como funciona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servidor vê um dispositivo de bloco cru, indistinguível de um disco local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44752"/>
            <a:ext cx="10874959" cy="4590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array agrega discos em pools protegidos por RAID ou codificação de apagamento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pool, o administrador recorta volumes e os apresenta como LUNs (Logical Unit Numbers)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rede dedicada transporta COMANDOS SCSI (ou NVMe) entre iniciador no servidor e alvo no array</a:t>
            </a:r>
            <a:endParaRPr lang="en-US" sz="140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4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SO vê um dispositivo de bloco cru: /dev/sdb. Formata com o próprio FS, ou entrega cru ao SGBD (é o que o Oracle ASM faz)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58368" y="3749040"/>
            <a:ext cx="5806440" cy="146304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383133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Controle de acesso em duas camadas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059936"/>
            <a:ext cx="54406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Zoneamento (no switch): quais iniciadores veem quais alvos.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 masking (no array): quais LUNs cada iniciador enxerga.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Juntos, impedem que o servidor de teste monte o LUN de produção.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39128" y="3749040"/>
            <a:ext cx="5806440" cy="1463040"/>
          </a:xfrm>
          <a:prstGeom prst="roundRect">
            <a:avLst>
              <a:gd name="adj" fmla="val 3750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22008" y="383133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Rede sem perdas por BB_Credit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922008" y="4059936"/>
            <a:ext cx="5440680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porta só transmite se tiver crédito; o crédito volta quando 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receptor libera um buffer. Sem descarte por congestionamento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isso que permite dispensar o TCP. Brocade G710: 2000 buffers.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537667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Silberschatz et al. §12.2; Elmasri &amp; Navathe §16.11.1; Broadcom, Brocade G710 Product Brief.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Topologias FC — o “FC Switch” do enunciado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Tecnicamente é uma TOPOLOGIA, não um protocolo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63040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4533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Ponto-a-ponto (FC-P2P)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73936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dispositivos ligados diretamente. Banda integralmente dedicada, conectividade de dois nós apenas. Uso residual.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633472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DFE3E8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71576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Arbitrated loop (FC-AL)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944368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 NL_Ports + 1 FL_Port = 127 endereços num anel compartilhado. Banda compartilhada; inserir um nó reinicializa o anel (LIP) e pausa a E/S. OBSOLETA.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803904"/>
            <a:ext cx="10874959" cy="1078992"/>
          </a:xfrm>
          <a:prstGeom prst="roundRect">
            <a:avLst>
              <a:gd name="adj" fmla="val 5085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8862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Switched fabric (FC-SW)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114800"/>
            <a:ext cx="10509199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topologia real de qualquer SAN FC moderna. Comutação cut-through, banda dedicada por porta, roteamento FSPF, zoneamento, 24 bits de endereço. Prática padrão: DUAS fabrics fisicamente independentes (SAN A / SAN B).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974336"/>
            <a:ext cx="10874959" cy="969264"/>
          </a:xfrm>
          <a:prstGeom prst="roundRect">
            <a:avLst>
              <a:gd name="adj" fmla="val 5660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96112" y="5084064"/>
            <a:ext cx="10399471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Datasheet Brocade G710: “Latency for locally switched ports is 460 ns (including FEC)” — UM SALTO, comutação local.  Derivação nossa, escopo declarado: 2 × 0,46 µs ÷ 20 µs = 4,6% do acesso, contra o PISO da faixa de latência de SSD (20–100 µs) do Silberschatz.  O que isso prova: a COMUTAÇÃO não é o gargalo. O que NÃO prova: que “a rede” seja 5% — o número exclui HBA, ISL, propagação e o tempo da CONTROLADORA do array, que nenhum fabricante publica de forma comparável (lacuna declarada).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Velocidades FC — a armadilha de rótulo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números diferentes atendem por “128GFC”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1508760"/>
                <a:gridCol w="2011680"/>
                <a:gridCol w="2331720"/>
                <a:gridCol w="1005840"/>
                <a:gridCol w="1234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Produto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FCIA (MB/s)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 direção (derivado)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Taxa de linha (GBd)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Mercado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64GFC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28,9 PAM-4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128GFC  (serial, Gen 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24.850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12.425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56,1 PAM-4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128GFC  (ISL, 4 vias)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12.800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× 28,05 NRZ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3712464"/>
            <a:ext cx="5806440" cy="2084832"/>
          </a:xfrm>
          <a:prstGeom prst="roundRect">
            <a:avLst>
              <a:gd name="adj" fmla="val 2632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77824" y="3803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prova é de física, não de opinião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77824" y="4096512"/>
            <a:ext cx="548640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16GFC:  3.200 MB/s = 25,6 Gb/s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linha sinaliza 14,025 Gb/s.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128GFC:  24.850 MB/s = 198,8 Gb/s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a linha sinaliza 112,2 Gb/s.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direção não pode transportar mais bits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que a linha sinaliza → é a SOMA DOS DOIS SENTIDOS.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739128" y="3712464"/>
            <a:ext cx="5806440" cy="2084832"/>
          </a:xfrm>
          <a:prstGeom prst="roundRect">
            <a:avLst>
              <a:gd name="adj" fmla="val 2632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958584" y="3803904"/>
            <a:ext cx="5486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convenção quebra na Gen 8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6958584" y="4096512"/>
            <a:ext cx="5486400" cy="16093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Até o 64GFC:  X GFC = X × 100 MB/s por direção.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128GFC:  24.850 ÷ 2 = 12.425, e não 12.800.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Razão = 1,94, não 2,00.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a linha ficou em 112,2 Gb/s: a FCIA registra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dobrar exigiria 115,6 Gb/s, “inviável para fechar</a:t>
            </a:r>
            <a:endParaRPr lang="en-US" sz="115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link budget”. O nome “128” é arredondamento.</a:t>
            </a:r>
            <a:endParaRPr lang="en-US" sz="1150" dirty="0"/>
          </a:p>
        </p:txBody>
      </p:sp>
      <p:sp>
        <p:nvSpPr>
          <p:cNvPr id="15" name="Text 11"/>
          <p:cNvSpPr txBox="1"/>
          <p:nvPr/>
        </p:nvSpPr>
        <p:spPr>
          <a:xfrm>
            <a:off x="658368" y="5888736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Proveniência: FCIA Fibre Channel Roadmap, speedmap v24 (jul./2023), consultado em set./2026. O terceiro “128GFC” é o legado do FC-PI-8 rev. 1.4: 12.800 MB/s, que a T11 decidiu não atualizar.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 — iSCSI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cru sobre Ethernet comum, e roteável na Internet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426464"/>
            <a:ext cx="10874959" cy="46085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 comandos SCSI dentro de TCP/IP — norma vigente: RFC 7143 (2014), que obsoleta a RFC 3720 (2004)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Iniciador (servidor) e alvo (array) identificados por IQN: iqn.2026-09.br.ufrj.dcc:servidor01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porta 3260 · autenticação CHAP · confidencialidade opcional por IPsec · descoberta por SendTargets ou iSNS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Vantagem citada pelo livro: “não requer o cabeamento especial necessário ao Fibre Channel e pode operar a distâncias maiores usando a infraestrutura de rede existente”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58368" y="3913632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3995928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custo: a pilha TCP/IP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4224528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Processamento no host, controle de congestionamento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perda de quadros sob congestão.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739128" y="3913632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922008" y="3995928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três mitigações modernas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6922008" y="4224528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TOE / HBA iSCSI dedicada (pilha no adaptador)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iSER — iSCSI Extensions for RDMA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DCB no switch: classe Ethernet sem perdas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" y="563270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IETF RFC 7143; Elmasri &amp; Navathe, §16.11.3.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II — FCIP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substitui o FC: é um TÚNEL entre duas fabrics FC distantes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26464"/>
            <a:ext cx="5806440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087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iSCSI substitui o FC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37360"/>
            <a:ext cx="5440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servidor não tem HBA de Fibre Channel.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Fala SCSI sobre TCP/IP de ponta a ponta.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existe fabric FC em lugar nenhum.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426464"/>
            <a:ext cx="5806440" cy="1481328"/>
          </a:xfrm>
          <a:prstGeom prst="roundRect">
            <a:avLst>
              <a:gd name="adj" fmla="val 370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50876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FCIP preserva o FC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737360"/>
            <a:ext cx="54406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pontas são fabrics FC completas, com HBAs,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WWNs e zoneamento. O túnel carrega quadros FC pela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WAN IP e FUNDE as duas fabrics em uma só.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658368" y="3072384"/>
            <a:ext cx="1087495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Norma: IETF RFC 3821 (2004). Caso de uso real, e único: replicação entre sítios para recuperação de desastre.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658368" y="3493008"/>
            <a:ext cx="10874959" cy="1956816"/>
          </a:xfrm>
          <a:prstGeom prst="roundRect">
            <a:avLst>
              <a:gd name="adj" fmla="val 2804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96112" y="3602736"/>
            <a:ext cx="10399471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 distância decide entre síncrono e assíncrono — derivação nossa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96112" y="3895344"/>
            <a:ext cx="10399471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Velocidade da luz em fibra ≈ 2 × 10⁸ m/s (índice ≈ 1,5). Replicação síncrona só confirma o commit após ida e volta: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= 2d / (2 × 10⁸)   →   d = 100 km   →   RTT = 2 × 10⁵ / 2 × 10⁸ = 1,0 ms</a:t>
            </a: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endParaRPr lang="en-US" sz="12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ms por 100 km, só de propagação. Para um commit local de ~100 µs, replicar a 100 km multiplica a latência por mais de dez. É a razão FÍSICA de a replicação síncrona ser restrita a campus e área metropolitana — e de a intercontinental ser obrigatoriamente assíncrona, com RPO &gt; 0.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Protocolo SAN III — FCoE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Precisando o livro-texto — com o parágrafo inteiro à vista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5240">
            <a:solidFill>
              <a:srgbClr val="DFE3E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96112" y="1444752"/>
            <a:ext cx="10399471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&amp; Navathe, §16.11.3 — o parágrafo inteiro: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896112" y="1700784"/>
            <a:ext cx="10399471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“FCoE […] pode ser pensado como iSCSI sem o IP. Ele usa muitos elementos de SCSI e FC (assim como o iSCSI), mas NÃO INCLUI COMPONENTES TCP/IP. […] Ele tira proveito de uma tecnologia Ethernet CONFIÁVEL que usa buffering e controle de fluxo FIM-A-FIM para evitar pacotes descartados.”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523744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livro já qualifica a analogia em dois pontos. Uma crítica que ignorasse isso seria um espantalho. Restam duas imprecisões reais: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2889504"/>
            <a:ext cx="10874959" cy="1353312"/>
          </a:xfrm>
          <a:prstGeom prst="roundRect">
            <a:avLst>
              <a:gd name="adj" fmla="val 405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97180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controle de fluxo não é “fim-a-fim” — é ENLACE A ENLACE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200400"/>
            <a:ext cx="1050919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mecanismo é o IEEE 802.1Qbb (PFC): o quadro PAUSE atua entre DOIS VIZINHOS ADJACENTES, por prioridade. Não há realimentação origem→destino como no TCP. É isso que produz o congestion spreading: um alvo lento propaga pausas para trás e degrada tráfego não relacionado que compartilhe o caminho.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334256"/>
            <a:ext cx="10874959" cy="1353312"/>
          </a:xfrm>
          <a:prstGeom prst="roundRect">
            <a:avLst>
              <a:gd name="adj" fmla="val 4054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441655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FCoE NÃO é roteável em L3; iSCSI é — e o livro não diz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4645152"/>
            <a:ext cx="10509199" cy="9692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FCoE é um EtherType próprio (0x8906) direto no quadro Ethernet: sem cabeçalho IP, não há o que rotear. Vive num domínio de camada 2. O iSCSI, sobre TCP/IP, atravessa LAN, WAN e Internet. CONSEQUÊNCIA: para ligar dois data centers, o caminho é FCIP ou iSCSI — nunca FCoE.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81558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Normas: T11 FC-BB-5 = ANSI/INCITS 462-2010 (EtherType 0x8906); IEEE 802.1Qbb. Categoria: análise do grupo apoiada em norma — juízo técnico, não citação.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cada protocolo coloca dentro de quê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pilhas lado a lado — a figura que dispensa três explicações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  <p:pic>
        <p:nvPicPr>
          <p:cNvPr id="8" name="Image 0" descr="fig/encapsulamen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389888"/>
            <a:ext cx="10692079" cy="395020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58368" y="5468112"/>
            <a:ext cx="10874959" cy="603504"/>
          </a:xfrm>
          <a:prstGeom prst="roundRect">
            <a:avLst>
              <a:gd name="adj" fmla="val 9091"/>
            </a:avLst>
          </a:prstGeom>
          <a:solidFill>
            <a:srgbClr val="F4F5F7"/>
          </a:solidFill>
          <a:ln w="1397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541264"/>
            <a:ext cx="10399471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Regra de leitura: azul = carga SCSI · laranja = quadro Fibre Channel inteiro · cinza = pilha Ethernet/IP comum.  Quem tem IP na pilha, roteia. Quem não tem, não sai do domínio de camada 2.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protocolos do enunciado, lado a lado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item exigido é uma LINHA da tabela — não uma menção em prosa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731520"/>
                <a:gridCol w="2331720"/>
                <a:gridCol w="2331720"/>
                <a:gridCol w="960120"/>
                <a:gridCol w="2825496"/>
              </a:tblGrid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Protocolo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 / origem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Roteável L3?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Aplicabilidade a SGBD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SMB/CIFS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[MS-SMB2]; CIFS = SMB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Suportado (SQL Server 2012+); exige transparent failover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8881 (v4.1)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Suportado com O_DIRECT ou cliente próprio (Oracle dNFS)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Proprietário Apple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Nenhuma — protocolo encerrado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FCP sobre FC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 (FC-FS, FC-PI)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SCSI em quadros FC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Referência para OLTP crítico e cluster compartilhado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 Switch (FC-SW)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T11 — é TOPOLOGIA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(transporta FCP)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Obrigatória em produção: 2 fabrics independentes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7143 (2014)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Comandos SCSI em TCP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Muito adequada com rede dedicada ou segregada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 3821 (2004)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Quadros FC em TCP/IP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é caminho primário: túnel para replicação entre sítios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FCoE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FC-BB-5 = INCITS 462-2010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Quadros FC em Ethernet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Viável mas raro; não atravessa data centers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92531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Normas verificadas na fonte primária; ver referências do relatório.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× SAN — as dimensões que decidem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a convergência que os próprios livros já anunciavam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89888"/>
          <a:ext cx="1087495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14216"/>
                <a:gridCol w="411480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 de abstração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(LUN)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 do sistema de arquivos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dispositivo de armazenamento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 Ethernet/IP compartilhada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Dedicada (FC) ou Ethernet segregada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Compartilhamento entre servidores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Nativo; o dispositivo arbitra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Exige FS de cluster ou LVM ciente de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Travamento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protocolo (NLM/NFSv4; oplocks no SMB)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servidor — a SAN não sabe o que é arquivo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Coerência de cache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Fraca por padrão (close-to-open)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se aplica: o cache é do servidor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relativo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(usa infraestrutura existente)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Maior (HBA, switch, cabeamento, pessoal)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Caso de uso típico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DW, backup, dev/homologação, médio porte com dNFS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 crítico, cluster compartilhado, latência de commit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486400"/>
            <a:ext cx="10874959" cy="658368"/>
          </a:xfrm>
          <a:prstGeom prst="roundRect">
            <a:avLst>
              <a:gd name="adj" fmla="val 8333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577840"/>
            <a:ext cx="10399471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Convergência: quase todo array corporativo é unificado. “Comprar NAS ou SAN?” virou “qual protocolo apresentar para cada carga?” — pergunta melhor, porque admite respostas diferentes para o tablespace e para a área de dump.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AST — Automated Storage Tiering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funciona, com os parâmetros reais de um produto documentado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10874959" cy="4645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“Move automaticamente dados entre diferentes tipos de armazenamento — SATA, SAS e SSDs — dependendo da necessidade” (Elmasri &amp; Navathe, §16.11.4)</a:t>
            </a:r>
            <a:endParaRPr lang="en-US" sz="13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3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Existe porque a hierarquia de armazenamento é uma escada de preço por byte, e o acesso é altamente enviesado: comprar flash para o banco inteiro é pagar pelo pior caso em 100% da capacidade</a:t>
            </a:r>
            <a:endParaRPr lang="en-US" sz="13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487168"/>
          <a:ext cx="10874959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665976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 (Dell EMC Unity FAST VP)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documentado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Granularidade de relocação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Fatias (slices) de 256 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Extreme Performance (flash) · Performance (SAS 10K/15K) · Capacity (NL-SAS 7,2K)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Frequência de análise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“Uma vez por hora, o FAST VP analisa os dados coletados e classifica cada fatia”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Janela de relocação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Agendada; padrão diário, das 17h à 1h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Highest Available · Auto-Tier · START HIGH THEN AUTO-TIER (padrão) · Lowest Available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658368" y="557784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Proveniência: Dell Technologies, white paper técnico H15086.3 — “Dell EMC Unity: FAST Technology Overview”.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tensão que nenhum dos três livros menciona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SGBD já faz tiering — e faz melhor, mais rápido e com mais informação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08176"/>
            <a:ext cx="3441802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90472"/>
            <a:ext cx="30760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Granularidade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19072"/>
            <a:ext cx="3076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manager: página de 8–16 KiB.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VP: fatia de 256 MB.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16.384× maior (256 MiB ÷ 16 KiB).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74490" y="1408176"/>
            <a:ext cx="3441802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557370" y="1490472"/>
            <a:ext cx="307604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Latência de reação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4557370" y="1719072"/>
            <a:ext cx="307604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manager: reage AO ACESSO.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AST: reage numa janela de HORAS.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90611" y="1408176"/>
            <a:ext cx="3442716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273491" y="1490472"/>
            <a:ext cx="307695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Informação semântica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273491" y="1719072"/>
            <a:ext cx="3076956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Buffer manager sabe que aquela página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nó raiz de um índice B+.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array vê apenas offsets de LBA.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3182112"/>
            <a:ext cx="10874959" cy="1133856"/>
          </a:xfrm>
          <a:prstGeom prst="roundRect">
            <a:avLst>
              <a:gd name="adj" fmla="val 4839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3310128"/>
            <a:ext cx="10362895" cy="8778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contra-intuitiva: o AST enxerga a carga FILTRADA pelo buffer pool. O que chega ao array é o resíduo que o cache do SGBD não absorveu — então um bloco genuinamente quente pode nunca aparecer como quente para o AST. O AST pode classificar como frio exatamente o dado mais quente do banco.</a:t>
            </a:r>
            <a:endParaRPr lang="en-US" sz="1350" dirty="0"/>
          </a:p>
        </p:txBody>
      </p:sp>
      <p:sp>
        <p:nvSpPr>
          <p:cNvPr id="19" name="Text 16"/>
          <p:cNvSpPr txBox="1"/>
          <p:nvPr/>
        </p:nvSpPr>
        <p:spPr>
          <a:xfrm>
            <a:off x="658368" y="4407408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prática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4663440"/>
            <a:ext cx="10874959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HABILITAR em data warehouse e em consolidação de muitos bancos: o padrão de acesso é estável na escala de dias, que é a escala do AST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 (ou fixar em Highest Available Tier) para redo/WAL, tempdb e índices críticos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OLTP, CACHING (o dado é copiado, reage em segundos) é quase sempre melhor que TIERING (o dado muda de lugar, reage em horas)</a:t>
            </a:r>
            <a:endParaRPr lang="en-US" sz="12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Object-Based Storage — o terceiro paradigma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mão de coisas, deliberadamente, para ganhar escala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651760"/>
                <a:gridCol w="2834640"/>
                <a:gridCol w="328269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(SAN)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 (NAS)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Unidade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de tamanho fixo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Arquivo em hierarquia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com metadados e ID global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Endereçamento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LUN + LBA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 hierárquico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Espaço de nomes plano (bucket + chave)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Interface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SCSI / NVMe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POSIX, SMB, NFS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HTTP REST (PUT, GET, DELETE)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parcial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qualquer bloco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Sim, qualquer offset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— o objeto é substituído inteiro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 típica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 a PB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 a PB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EXABYTES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Metadados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Nenhum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Fixos (dono, datas, permissões)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Arbitrários, definidos pela aplicação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443984"/>
            <a:ext cx="10874959" cy="1188720"/>
          </a:xfrm>
          <a:prstGeom prst="roundRect">
            <a:avLst>
              <a:gd name="adj" fmla="val 4615"/>
            </a:avLst>
          </a:prstGeom>
          <a:solidFill>
            <a:srgbClr val="F4F5F7"/>
          </a:solidFill>
          <a:ln w="1651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535424"/>
            <a:ext cx="10399471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essencial: o S3 NÃO é mais eventualmente consistente.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96112" y="4791456"/>
            <a:ext cx="1039947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dezembro de 2020 a AWS documenta “consistência forte read-after-write automaticamente”, valendo também para listagem. Durabilidade projetada: 99,999999999% (11 noves). Qualquer texto que ainda afirme consistência eventual está desatualizado em mais de cinco anos — e essa era uma das afirmações da NOSSA primeira versão.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658368" y="5779008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Fontes: Elmasri &amp; Navathe §16.11.5; Amazon S3 FAQs (consultado em set./2026).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 storage: onde não serve e onde venceu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ressalva do livro continua correta — mas por razões que vale detalhar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08176"/>
            <a:ext cx="5806440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90472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não serve como armazenamento primário de OLTP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19072"/>
            <a:ext cx="544068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atualização parcial: alterar uma linha exigiria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reescrever o objeto inteiro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Latência uma ordem de grandeza acima — Silberschatz: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“dezenas a centenas de milissegundos […] não é ideal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como armazenamento subjacente para bancos de dados”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Sem fsync nem ordenação de escrita entre objetos: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não há como exprimir “grave o log antes da página”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Granularidade de travamento incompatível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739128" y="1408176"/>
            <a:ext cx="5806440" cy="2377440"/>
          </a:xfrm>
          <a:prstGeom prst="roundRect">
            <a:avLst>
              <a:gd name="adj" fmla="val 230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922008" y="1490472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venceu, e venceu completamente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6922008" y="1719072"/>
            <a:ext cx="5440680" cy="1993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Camada de armazenamento de data warehouses em nuvem: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objetos imutáveis em formato colunar (Parquet, ORC) com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metadados transacionais por cima (Iceberg, Delta Lake).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Escrever uma vez, ler muitas, varrer grandes extensões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Destino de backup e arquivamento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Repositórios de dados não estruturados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968496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F4F5F7"/>
          </a:solidFill>
          <a:ln w="13970">
            <a:solidFill>
              <a:srgbClr val="DFE3E8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96112" y="4078224"/>
            <a:ext cx="10399471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Derivação nossa, para dar escala aos 11 noves: perda esperada de 10⁻¹¹ dos objetos por ano → para 10⁷ objetos, 10⁷ × 10⁻¹¹ = 10⁻⁴ perdas/ano, ou uma perda esperada a cada 10.000 anos. Ressalva de rótulo: é durabilidade PROJETADA (“designed for”), não medida — e não protege contra exclusão acidental nem ransomware.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658368" y="508406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 de atualização: o exemplo do livro (Seagate Kinetic) não obteve tração comercial. O padrão de fato tornou-se a API HTTP do S3.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— nível secundário (storage online)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perfil de CARGA, não por porte de empresa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3063240"/>
                <a:gridCol w="2423160"/>
                <a:gridCol w="5385816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Perfil de carga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Recomendação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Justificativa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OLTP crítico, alta taxa de commit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(FC ou iSCSI dedicado)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latência de fsync do log governa a vazão. Bloco cru tira o FS remoto do caminho crítico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Cluster com armazenamento compartilhado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 (bloco)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Vários nós escrevem nos mesmos blocos com coordenação do SGBD (Oracle ASM sobre LUNs)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Relacional de médio porte, OLTP moderado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 ou SAN, indiferente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NFSv4.1 + O_DIRECT (ou dNFS) a diferença é operacionalmente irrelevante. Decida por custo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warehouse, OLAP, varredura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custo dominante é banda, não latência. Compartilhamento nativo entre nós é vantagem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Dev, homologação, muitas instâncias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Provisionamento simples, clones finos por instantâneo, sem requisito de latência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Dump, export, staging de ETL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Semântica de arquivo é exatamente a abstração desejada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Banco em nuvem gerenciado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Bloco de rede (= SAN)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Volumes de bloco em nuvem são SAN sob outro nome: iniciador no host, alvo remoto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58368" y="5742432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Princípio: a rede FC contribui com &lt;5% da latência de um acesso NVMe. A diferença real entre as arquiteturas é semântica, não de velocidade.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observação que mais surpreende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pode ser abandonado por inteiro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26464"/>
            <a:ext cx="10874959" cy="1005840"/>
          </a:xfrm>
          <a:prstGeom prst="roundRect">
            <a:avLst>
              <a:gd name="adj" fmla="val 5455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914400" y="1536192"/>
            <a:ext cx="10362895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“As únicas escritas que cruzam a rede são registros de redo log. Nenhuma página é jamais escrita a partir da camada de banco de dados.”   —   “O log é o banco de dados, e quaisquer páginas que o sistema de armazenamento materialize são simplesmente um cache.”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2542032"/>
            <a:ext cx="10874959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Condições do experimento (Tabela 1 do artigo): SysBench SÓ DE ESCRITA · 100 GB · instância r3.8xlarge · JANELA DE 30 MINUTOS.</a:t>
            </a:r>
            <a:endParaRPr lang="en-US" sz="1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852928"/>
          <a:ext cx="10874959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017520"/>
                <a:gridCol w="3008376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Totais em 30 minutos (Tabela 1 do artigo)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MySQL espelhado sobre EBS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Aurora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Transações no período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780.000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27.378.000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de E/S por transação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658368" y="4041648"/>
            <a:ext cx="10874959" cy="1243584"/>
          </a:xfrm>
          <a:prstGeom prst="roundRect">
            <a:avLst>
              <a:gd name="adj" fmla="val 4412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96112" y="4133088"/>
            <a:ext cx="10399471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Conferência da conta (regra do grupo: refazer toda conta citada, inclusive de artigo revisado por pares):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27.378.000 ÷ 780.000 = 35,1×  ✓  confere com o “35 vezes mais transações” do artigo.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7,4 ÷ 0,95 = 7,79 → 7,8×, e o artigo enuncia “7,7 vezes menos”. Divergência de arredondamento, registrada.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658368" y="5394960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Proveniência: medição publicada em artigo revisado por pares — Verbitski et al., SIGMOD 2017. Também: 6 cópias em 3 AZs, quórum 4/6 escrita e 3/6 leitura, segmentos de 10 GB.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Recomendação — nível terciário (storage offline)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 e objeto em classe de arquivamento; a resposta certa é combinar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71600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3602736"/>
                <a:gridCol w="493776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Fita (LTO em biblioteca)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Objeto em classe de arquivamento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TB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Menor no longo prazo; capital inicial alto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 por TB-mês no Deep Archive (set./2026); sem capital inicial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de recuperação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Baixo e previsível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COBRADO POR VOLUME RECUPERADO — é o que quebra orçamentos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Prazo de recuperação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a horas (montagem + busca sequencial)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a 48 h no Deep Archive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Isolamento contra ransomware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VANTAGEM DECISIVA: cartucho fora do drive é air gap FÍSICO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de object lock / WORM. A proteção é lógica, não física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Longevidade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limitada a poucas gerações; exige migração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Migração é responsabilidade do provedor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4315968"/>
            <a:ext cx="10874959" cy="1225296"/>
          </a:xfrm>
          <a:prstGeom prst="roundRect">
            <a:avLst>
              <a:gd name="adj" fmla="val 4478"/>
            </a:avLst>
          </a:prstGeom>
          <a:solidFill>
            <a:srgbClr val="F4F5F7"/>
          </a:solidFill>
          <a:ln w="15240">
            <a:solidFill>
              <a:srgbClr val="EB6834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4407408"/>
            <a:ext cx="10399471" cy="10607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 obrigatório: NATIVO ≠ COMPRIMIDO. LTO-10 = 30 e 40 TB NATIVOS (75 e 100 TB comprimidos a 2,5:1). A razão 2,5:1 é ASSUMIDA, não medida — dados já comprimidos pelo SGBD raramente passam de 1,2:1.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DA NOSSA VERIFICAÇÃO POR SCRIPT: a especificação do LTO não fecha. As capacidades batem a 2,5:1 (30×2,5=75 e 40×2,5=100), mas a taxa publicada — 400 MB/s nativos e 1.200 MB/s comprimidos “a 2,5:1” — exigiria 3:1, porque 400×2,5 = 1.000. Não adivinhamos qual era: adotamos só a taxa NATIVA de 400 MB/s.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614416"/>
            <a:ext cx="10874959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Recomendação: não escolher — combinar. Regra 3-2-1: (1) backup em disco no NAS para restauração rápida; (2) cópia em objeto para retenção de meses a anos; (3) cópia em fita com cartucho ejetado — a única cópia inalcançável por um atacante com credenciais válidas.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Exemplos reais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 declarado: só entram casos com documentação primária verificável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371600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45389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CERN — três paradigmas em escala de exabyte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682496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“Processava, em média, um petabyte por dia durante o LHC Run 2”; plano de “mais de 600 petabytes” no Run 3; instâncias EOS excedendo “sete bilhões de arquivos (junho de 2022)”. EOS (disco) + CTA (fita) + Ceph (bloco/objeto).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505456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58775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 — a migração de volta para infraestrutura própria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2816352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PB de dados de usuário para o Magic Pocket. Precisão: o texto do Dropbox diz “90% dos dados de clientes” em jul./2016. Contraexemplo instrutivo — mas NÃO generalizável: exige escala de exabyte e equipe dedicada.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3639312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372160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 Direct NFS — NAS levado a sério para banco de dados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3950208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Oracle suporta produção sobre NFS, desde que pelo seu próprio cliente, com NFSv3, v4, v4.1 e pNFS. É a melhor evidência da tese: NAS entrega abstração alta demais — serve QUANDO O MOTOR PARTICIPA DA DECISÃO.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58368" y="4773168"/>
            <a:ext cx="10874959" cy="1060704"/>
          </a:xfrm>
          <a:prstGeom prst="roundRect">
            <a:avLst>
              <a:gd name="adj" fmla="val 5172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41248" y="485546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 sobre SMB 3 — SAN dispensada em ambiente Windows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41248" y="5084064"/>
            <a:ext cx="10509199" cy="6766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oficial desde o SQL Server 2012, com requisito de transparent failover para carga crítica. É o caminho pelo qual muitas instalações Windows substituíram a SAN FC por um Scale-Out File Server sobre Ethernet.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658368" y="5815584"/>
            <a:ext cx="10874959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fontes primárias listadas nas referências do relatório.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Divergências encontradas nas fontes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nos livros da disciplina, uma de envelhecimento, duas em fontes de fabricante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335024"/>
          <a:ext cx="10874959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3063240"/>
                <a:gridCol w="2926080"/>
                <a:gridCol w="2962656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Afirmação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Correção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 prática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Silberschatz §12.2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“SATA-3 nominalmente suporta 6 GIGABYTES por segundo, permitindo até 600 megabytes por segundo”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São 6 GIGABITS/s. A própria frase prova: 6 Gb/s ÷ 8 × (8/10) = 600 MB/s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 de bit/byte por fator 8. Verificar UNIDADE antes de valor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§16.2.1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“SATA agora é chamado de NL-SAS, de nearline SAS”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NL-SAS = mecânica/mídia SATA 7.200 rpm COM interface e protocolo SAS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Array SAS com discos SATA exige STP/interposer e PERDE multipath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§16.11.3 (precisão, não erro)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“…controle de fluxo FIM-A-FIM para evitar pacotes descartados”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PFC (802.1Qbb) é ENLACE A ENLACE, não fim-a-fim. E o livro não menciona a não-roteabilidade em L3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Explica o congestion spreading; e impede usar FCoE entre data centers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Elmasri §16.2.4 (dado datado)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“LTO-6 […] cartucho de 2,5 TB com taxa de 160 MB/s”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LTO-10: 40 TB e 400 MB/s nativos — 16× a capacidade, 2,5× a taxa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um cartucho cheio passou de 4,3 h para 27,8 h: +6,4×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 Program (fabricante)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“400 MB/s nativos e 1.200 MB/s comprimidos A 2,5:1”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fecha: 400 × 2,5 = 1.000. Os 1.200 exigiriam 3:1. As capacidades, essas, fecham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Adotamos só a taxa nativa. Achado do nosso script de verificação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658368" y="5138928"/>
            <a:ext cx="10874959" cy="841248"/>
          </a:xfrm>
          <a:prstGeom prst="roundRect">
            <a:avLst>
              <a:gd name="adj" fmla="val 6522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96112" y="5230368"/>
            <a:ext cx="10399471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 de nomenclatura: a grafia normativa do T11 é “FIBRE Channel”, com -re, porque o padrão não exige fibra óptica (as primeiras variantes rodavam sobre cobre). Silberschatz escreve “Fiber Channel FC” e Elmasri alterna entre as duas no mesmo capítulo. O enunciado, corretamente, reconhece as duas: “FC (Fibre/Fiber Channel)”.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coisas para levar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658368" y="1444752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" y="1527048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O argumento de velocidade envelheceu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841248" y="1755648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460 ns por salto de COMUTAÇÃO LOCAL, contra 20–100 µs de uma leitura aleatória em SSD: menos de 5% do acesso, mesmo no cenário mais favorável ao argumento contrário. (A conta não inclui HBA, ISL nem a controladora do array — escopo declarado.)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sobra como diferença é SEMÂNTICO — quem garante atomicidade, quem arbitra travamento, o que acontece quando o caminho oscila. É por isso que a Microsoft fala em transparent failover, e não em banda; e que a Oracle reimplementou o cliente NFS dentro do motor.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658368" y="2871216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41248" y="295351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O rótulo é tão importante quanto o valor</a:t>
            </a:r>
            <a:endParaRPr lang="en-US" sz="1250" dirty="0"/>
          </a:p>
        </p:txBody>
      </p:sp>
      <p:sp>
        <p:nvSpPr>
          <p:cNvPr id="13" name="Text 10"/>
          <p:cNvSpPr txBox="1"/>
          <p:nvPr/>
        </p:nvSpPr>
        <p:spPr>
          <a:xfrm>
            <a:off x="841248" y="3182112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 campo inteiramente normatizado, encontramos quatro casos em que dois números CORRETOS descrevem coisas diferentes: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FCIA full-duplex × T11 por direção (2×) · LTO nativo × comprimido (2,5×) · gigabyte × gigabit (8×) · cliente × servidor do AFP (5 anos).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é erro de pesquisa: todos são erros de LEITURA, e passariam por uma revisão que só conferisse se o número está na fonte.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58368" y="4297680"/>
            <a:ext cx="10874959" cy="1316736"/>
          </a:xfrm>
          <a:prstGeom prst="roundRect">
            <a:avLst>
              <a:gd name="adj" fmla="val 4167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1248" y="4379976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A pergunta do enunciado está sendo reformulada pela indústria</a:t>
            </a:r>
            <a:endParaRPr lang="en-US" sz="1250" dirty="0"/>
          </a:p>
        </p:txBody>
      </p:sp>
      <p:sp>
        <p:nvSpPr>
          <p:cNvPr id="16" name="Text 13"/>
          <p:cNvSpPr txBox="1"/>
          <p:nvPr/>
        </p:nvSpPr>
        <p:spPr>
          <a:xfrm>
            <a:off x="841248" y="4608576"/>
            <a:ext cx="10509199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AST tenta resolver no array, com 256 MiB e latência de horas, um problema que o buffer manager já resolve com 8–16 KiB e latência de acesso — 16.384 a 32.768× de diferença.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object storage abandonou bloco E arquivo, e venceu onde a latência não importa. E o Aurora mostrou que, quando o motor deixa de escrever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páginas, a escolha entre bloco e arquivo perde parte do sentido. Continua havendo resposta certa para cada carga — mas a fronteira se moveu.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Questões em aberto para o debate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perguntas que consideramos genuinamente abertas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893247" y="63550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658368" y="1389888"/>
            <a:ext cx="10874959" cy="46451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 rede FC é &lt;5% da latência de um acesso NVMe, o que ainda justifica economicamente uma fabric FC dedicada — isolamento operacional, ou inércia de investimento?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AST pode ser CONTRAPRODUCENTE para OLTP? Deveria existir uma interface que exponha as estatísticas do buffer manager ao array — ou o storage deve permanecer deliberadamente ignorante?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 é a granularidade certa para tiering? 256 MB é 16.384× uma página de 16 KiB. Ou o problema é que tiering e caching são mecanismos diferentes vendidos com o mesmo nome?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o S3 fornecendo consistência forte desde 2020, qual é a PRÓXIMA barreira real ao objeto como camada primária de um SGBD: latência, imutabilidade, ou ausência de ordenação entre objetos?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convergência (FCoE) fracassou, ou só mudou de nome? O NVMe/TCP promete o mesmo com outra pilha. O que mudou tecnicamente — ou é a mesma aposta com sigla nova?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Fita ainda tem futuro, ou o air gap é o último argumento? 40 TB a 400 MB/s = 27,8 h para ler um cartucho cheio. A capacidade cresce e a velocidade não.</a:t>
            </a:r>
            <a:endParaRPr lang="en-US" sz="1250" dirty="0"/>
          </a:p>
          <a:p>
            <a:pPr marL="342900" indent="-342900">
              <a:lnSpc>
                <a:spcPct val="118000"/>
              </a:lnSpc>
              <a:buSzPct val="100000"/>
              <a:buChar char="•"/>
            </a:pPr>
            <a:r>
              <a:rPr lang="en-US" sz="1250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o Aurora mostrou que “o log é o banco de dados”, por que os SGBDs tradicionais não seguiram? Limitação técnica, ou só faz sentido quando o mesmo fornecedor controla motor e armazenamento?</a:t>
            </a:r>
            <a:endParaRPr lang="en-US" sz="12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funciona o FCP, quadro a quadro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por que uma escrita custa uma ida e volta a mais que uma leitura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932688"/>
          </a:xfrm>
          <a:prstGeom prst="roundRect">
            <a:avLst>
              <a:gd name="adj" fmla="val 5882"/>
            </a:avLst>
          </a:prstGeom>
          <a:solidFill>
            <a:srgbClr val="F4F5F7"/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96112" y="1517904"/>
            <a:ext cx="1039947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LEITURA:    FCP_CMND  (inic.→alvo, carrega o CDB SCSI e o LUN)   →   FCP_DATA  (alvo→inic.)   →   FCP_RSP  (status, fecha a troca)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96112" y="1883664"/>
            <a:ext cx="1039947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ESCRITA:   FCP_CMND   →   FCP_XFER_RDY  (o alvo diz quantos bytes pode receber)   →   FCP_DATA   →   FCP_RSP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58368" y="2523744"/>
            <a:ext cx="5806440" cy="1499616"/>
          </a:xfrm>
          <a:prstGeom prst="roundRect">
            <a:avLst>
              <a:gd name="adj" fmla="val 3659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260604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camadas de controle de fluxo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2834640"/>
            <a:ext cx="544068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XFER_RDY → por COMANDO, na camada FC-4.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BB_Credit → por QUADRO, na camada FC-2,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portas adjacentes.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São independentes: o congestionamento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não é visível na outra.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39128" y="2523744"/>
            <a:ext cx="5806440" cy="1499616"/>
          </a:xfrm>
          <a:prstGeom prst="roundRect">
            <a:avLst>
              <a:gd name="adj" fmla="val 3659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2606040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útil por quadro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922008" y="2834640"/>
            <a:ext cx="5440680" cy="11155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Máximo de 2.112 bytes por quadro FC.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bloco de 16 KiB do InnoDB ocupa,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portanto, cerca de 8 quadros.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58368" y="4187952"/>
            <a:ext cx="10874959" cy="1700784"/>
          </a:xfrm>
          <a:prstGeom prst="roundRect">
            <a:avLst>
              <a:gd name="adj" fmla="val 3226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4279392"/>
            <a:ext cx="103628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Dimensionamento por BB_Credit a 10 km — derivação nossa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914400" y="4572000"/>
            <a:ext cx="10362895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Elmasri cita “até 10 km de separação” como vantagem da SAN. Quantos créditos isso exige?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km × 5 µs/km = 50 µs por sentido.   A 32GFC (3.200 MB/s por direção):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× 10⁻⁶ s × 3,2 × 10⁹ B/s = 160 KB em voo   →   160.000 ÷ 2.112 ≈ 76 quadros.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Contando o retorno do crédito: ≈ 150 BB_Credits para manter o enlace cheio.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Brocade G710 tem 2.000 — mais de uma ordem de grandeza acima. Quando os créditos acabam o enlace NÃO descarta: ele PARA. É o slow drain.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perguntas de NAS que o corpo do deck não responde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para “como se faz backup de um NAS?” e “e se o servidor sumir?”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41248" y="1508760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se faz backup de um NAS? — NDMP (Network Data Management Protocol)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841248" y="1737360"/>
            <a:ext cx="10509199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NAS corporativo não roda agente de backup. O NDMP separa o canal de CONTROLE (o servidor de backup orquestra) do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canal de DADOS (o NAS escreve DIRETO no drive de fita, sem que os dados atravessem o servidor de backup).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análogo, no mundo de arquivo, da separação metadados/dados do pNFS e do NASD — e é o elo que liga NAS, SAN e nível terciário.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145536"/>
            <a:ext cx="10874959" cy="1389888"/>
          </a:xfrm>
          <a:prstGeom prst="roundRect">
            <a:avLst>
              <a:gd name="adj" fmla="val 3947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3227832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se o servidor NFS sumir por 30 segundos? — a opção de montagem hard vs soft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456432"/>
            <a:ext cx="10509199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hard: a E/S BLOQUEIA até o servidor voltar. O processo trava, mas nada é corrompido.  soft: a E/S RETORNA ERRO após os timeouts,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o SGBD pode registrar uma escrita como perdida. Para banco de dados, a recomendação dos fornecedores é hard.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resposta concreta ao requisito 5 do slide 4 — e o análogo, no lado SAN, é no_path_retry / fast_io_fail_tmo no multipath.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58368" y="4681728"/>
            <a:ext cx="10874959" cy="1298448"/>
          </a:xfrm>
          <a:prstGeom prst="roundRect">
            <a:avLst>
              <a:gd name="adj" fmla="val 4225"/>
            </a:avLst>
          </a:prstGeom>
          <a:solidFill>
            <a:srgbClr val="F4F5F7"/>
          </a:solidFill>
          <a:ln w="12700">
            <a:solidFill>
              <a:srgbClr val="55606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41248" y="4764024"/>
            <a:ext cx="10509199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terciário: onde NAS e SAN entram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841248" y="4992624"/>
            <a:ext cx="10509199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A biblioteca de fitas é DISPOSITIVO DE SAN — o LTO-10 declara sua taxa “usando a interface Fibre Channel de 32 Gb”. A janela de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 disputa a mesma fabric da produção.   (2) O estágio intermediário é NAS: disk-to-disk-to-tape, e o primeiro disco é um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compartilhamento de arquivos.   (3) O NDMP é o protocolo que faz a ponte. A pergunta “NAS ou SAN no terciário?” tem, portanto, resposta: os dois, em papéis distintos.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e multipath: o que a SAN pressupõe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mecanismos fora da discussão de protocolo e dentro da de arquitetura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810512"/>
          </a:xfrm>
          <a:prstGeom prst="roundRect">
            <a:avLst>
              <a:gd name="adj" fmla="val 3030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517904"/>
            <a:ext cx="103628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D9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penalidade de escrita aplicada ao WAL — derivação nossa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914400" y="1810512"/>
            <a:ext cx="10362895" cy="13533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Custo, em operações físicas, de uma escrita aleatória de um bloco: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 → 2          RAID 5 → 4  (2 leituras + 2 escritas)          RAID 6 → 6  (3 + 3)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log é escrito sequencialmente e sincronizado a CADA COMMIT. Sob RAID 5, toda descarga de log que não preencha uma faixa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completa paga 4× — e é justamente a taxa de commits que ela limita.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Silberschatz §12.5: “o RAID nível 1 é popular para aplicações como o armazenamento de arquivos de log num sistema de banco de</a:t>
            </a:r>
            <a:endParaRPr lang="en-US" sz="11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dados, já que oferece o melhor desempenho de escrita”.   Regra: log em RAID 1/10, dados em RAID 5/6.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58368" y="3383280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41248" y="346557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Multipath e ALUA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841248" y="3694176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fabrics só produzem disponibilidade se houver,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servidor, uma camada que reconheça que os dois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caminhos levam ao MESMO LUN: DM-Multipath (Linux),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MPIO (Windows). O ALUA deixa o array informar quais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caminhos são otimizados.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739128" y="3383280"/>
            <a:ext cx="5806440" cy="1572768"/>
          </a:xfrm>
          <a:prstGeom prst="roundRect">
            <a:avLst>
              <a:gd name="adj" fmla="val 3488"/>
            </a:avLst>
          </a:prstGeom>
          <a:solidFill>
            <a:srgbClr val="F4F5F7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922008" y="3465576"/>
            <a:ext cx="5440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parâmetro que decide tudo</a:t>
            </a:r>
            <a:endParaRPr lang="en-US" sz="1250" dirty="0"/>
          </a:p>
        </p:txBody>
      </p:sp>
      <p:sp>
        <p:nvSpPr>
          <p:cNvPr id="17" name="Text 14"/>
          <p:cNvSpPr txBox="1"/>
          <p:nvPr/>
        </p:nvSpPr>
        <p:spPr>
          <a:xfrm>
            <a:off x="6922008" y="3694176"/>
            <a:ext cx="54406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no_path_retry / fast_io_fail_tmo: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“enfileirar indefinidamente” CONGELA a instância;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“falhar imediatamente” ABORTA transações.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decisão de projeto, não padrão a aceitar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é o análogo SAN do hard vs soft do NFS.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" y="5120640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isto importa para o AST: é a mesma razão pela qual a política do volume de redo deve ser FIXADA, e não deixada ao critério estatístico do array.</a:t>
            </a:r>
            <a:endParaRPr lang="en-US" sz="12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Proveniência de todos os números apresentados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valor pertence a uma de cinco categorias — a quinta é legítima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540496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Números deste deck que pertencem a ela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Especificação normativa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RFCs 1094 / 1813 / 7530 / 8881 / 7862 / 7143 / 3821; T11 FC-BB-5 (INCITS 462-2010); dialetos SMB; portas 445, 2049, 548, 3260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Datasheet de fabricante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Brocade G710: 460 ns e 2000 buffers · Dell EMC Unity FAST VP: 256 MB, análise horária, 17h–1h, 4 políticas · LTO-10: 30/40 TB nativos, 400 MB/s · S3: 11 noves, Deep Archive US$1/TB-mês e 12–48 h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Medição publicada por terceiro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 SIGMOD 2017: 27.378.000 vs 780.000 transações; 0,95 vs 7,4 IOs/transação · CERN: 1 PB/dia processado no Run 2, &gt;600 PB no Run 3, 7 bilhões de arquivos (jun./2022)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Derivação nossa (conta à mostra)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16GFC: 14,025 × 64/66 ÷ 8 = 1.700 MB/s · FCIP: 2d ÷ 2×10⁸ = 1 ms por 100 km · 256 MiB ÷ 16 KiB = 16.384 · 40 TB ÷ 400 MB/s = 27,8 h · 10⁷ × 10⁻¹¹ = 1 perda / 10.000 anos · 7,4 ÷ 0,95 = 7,8×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ENCONTRADO (declarado)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exata de lançamento do macOS 27 em comunicado formal da Apple · Anúncio de descontinuação da Seagate Kinetic · Tabela numérica completa do FCIA speedmap v24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derivações aritméticas, passo a passo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um número for questionado, a conta está aqui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331720"/>
                <a:gridCol w="8540496"/>
              </a:tblGrid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Grandeza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16GFC por direção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14,025 GBd × 64/66 = 13,60 Gb/s ; 13,60 ÷ 8 = 1,70 GB/s = 1.700 MB/s. Excede em 6,3% o nominal de 1.600, que é CONVENÇÃO T11 (X GFC × 100), não resultado da conta.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FCIA = full-duplex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Speedmap 16GFC = 3.200 MB/s ; 3.200 ÷ 1.600 = 2,00 exato. Idem 8GFC (1.600 ÷ 800) e 64GFC (12.800 ÷ 6.400). DERIVAÇÃO NOSSA — a FCIA não declara isso.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Latência de rede FC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saltos × 460 ns = 0,46–0,92 µs. Acesso NVMe = 20–100 µs. 0,92 ÷ 20 = 4,6% → a rede é &lt;5% do tempo do acesso.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FCIP: síncrono × assíncrono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c/n = 3×10⁸ ÷ 1,5 = 2×10⁸ m/s. RTT = 2 × 100.000 m ÷ 2×10⁸ m/s = 1,0 ms por 100 km. Commit local ~100 µs → fator &gt; 10.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 × buffer manager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MiB ÷ 16 KiB = 268.435.456 ÷ 16.384 = 16.384 exatos. (Em MB decimais seriam 15.625 — adotamos a leitura binária, e declaramos.)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Leitura de um LTO-10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× 10¹² bytes ÷ 400 × 10⁶ B/s = 100.000 s = 27,8 h.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noves em escala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10⁷ objetos × 10⁻¹¹ perdas/objeto·ano = 10⁻⁴ perdas/ano = 1 perda esperada a cada 10.000 anos.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Aurora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27.378.000 ÷ 780.000 = 35,1× (artigo diz 35×, confere). 7,4 ÷ 0,95 = 7,79 → 7,8× (artigo diz 7,7×, divergência de arredondamento).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83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LTO-10 — a fonte NÃO fecha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Capacidades: 30 × 2,5 = 75 ✓ e 40 × 2,5 = 100 ✓. Taxa: 400 × 2,5 = 1.000, mas o LTO publica 1.200 “a 2,5:1” (exigiria 3:1). Adotamos só a taxa nativa.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as 33 correções, por família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foi “alucinação”; todas foram erros bem mais difíceis de detectar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08176"/>
          <a:ext cx="10874959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548640"/>
                <a:gridCol w="5120640"/>
                <a:gridCol w="2551176"/>
              </a:tblGrid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Qtd.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Antídoto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(a) Rótulo errado sobre número certo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full-duplex × por direção · 64b/66b × 256b/257b · Server 2019 × versão 1709 (SAC) · 126 × 127 no FC-AL · CERN “gravou” × “processou” · Aurora sem os 30 min · “&lt;5%” sem a controladora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“Este número mede o quê, em que condições?”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(b) Desatualização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cliente AFP · speedmap v21 · RFC 3720 · RFC 5661 · S3 “eventualmente consistente”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Carimbar data; reverificar qual norma vige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(c) Excesso de confiança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CIFS ≡ SMB 1.0 · Aurora 7,7× não reconferido · Dropbox “concluiu em 2016” · Kinetic “descontinuada” · custos sem proveniência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Refazer TODA conta citada, inclusive de artigo revisado por pares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498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(d) RECORTE — os 3 mais graves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Lacuna declarada que não existia · “fator exatamente 2” além dos casos tabelados · FCoE citando o livro só até a frase conveniente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Ler o parágrafo INTEIRO: “o que ficou de fora?”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658368" y="5504688"/>
            <a:ext cx="10874959" cy="768096"/>
          </a:xfrm>
          <a:prstGeom prst="roundRect">
            <a:avLst>
              <a:gd name="adj" fmla="val 7143"/>
            </a:avLst>
          </a:prstGeom>
          <a:solidFill>
            <a:srgbClr val="14181F"/>
          </a:solidFill>
          <a:ln w="12700">
            <a:solidFill>
              <a:srgbClr val="14181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914400" y="5577840"/>
            <a:ext cx="10362895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lição: verificar FATOS é necessário e não é suficiente. A segunda pergunta não é “isto é verdade?” e sim “O QUE FOI DEIXADO DE FORA PARA QUE ISTO PARECESSE VERDADE?”.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primeira uma IA responde bem. A segunda exige adotar a perspectiva de quem quer derrubar o trabalho — e foi o que o prompt da segunda rodada instruiu.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Post-Mortem — as duas rodadas de verificação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Rodada 1: 48 afirmações, 16 correções · Rodada 2: simulação da correção, 15 correções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658368" y="1426464"/>
            <a:ext cx="10874959" cy="1389888"/>
          </a:xfrm>
          <a:prstGeom prst="roundRect">
            <a:avLst>
              <a:gd name="adj" fmla="val 3947"/>
            </a:avLst>
          </a:prstGeom>
          <a:solidFill>
            <a:srgbClr val="F4F5F7"/>
          </a:solidFill>
          <a:ln w="16510">
            <a:solidFill>
              <a:srgbClr val="EB683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14400" y="1536192"/>
            <a:ext cx="10362895" cy="11704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“Você é um verificador de fatos adversarial. Verifique cada afirmação abaixo com busca web e classifique como CONFIRMADO (com URL), IMPRECISO (com o valor correto), NÃO VERIFICÁVEL ou FALSO. Seja implacável: o objetivo é encontrar erros antes que o professor os encontre. Não confirme nada por plausibilidade — só com fonte. Se não achar fonte, diga NÃO VERIFICÁVEL, o que já é um achado. Ao final, ordene por gravidade o que um avaliador rigoroso poderia usar para derrubar o trabalho.”</a:t>
            </a:r>
            <a:endParaRPr lang="en-US" sz="1250" dirty="0"/>
          </a:p>
        </p:txBody>
      </p:sp>
      <p:sp>
        <p:nvSpPr>
          <p:cNvPr id="11" name="Text 8"/>
          <p:cNvSpPr txBox="1"/>
          <p:nvPr/>
        </p:nvSpPr>
        <p:spPr>
          <a:xfrm>
            <a:off x="658368" y="2944368"/>
            <a:ext cx="10874959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essas duas cláusulas: “não confirme por plausibilidade” impede a validação complacente, que é o modo de falha natural de um verificador automático. “Ordene por gravidade” força a perspectiva do avaliador — é o que transforma uma lista de reparos numa lista de riscos.</a:t>
            </a:r>
            <a:endParaRPr lang="en-US" sz="125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3529584"/>
          <a:ext cx="10874959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520440"/>
                <a:gridCol w="515721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Rodada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Papel do verificador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— verificação de fatos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“Não confirme nada por plausibilidade — só com fonte.”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afirmações: 43 CONFIRMADO (11 com ressalva), 3 IMPRECISO, 1 FALSO, 1 NÃO VERIFICÁVEL → 16 correções, 3 graves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— simulação da correção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“As correções que o grupo alega ter encontrado nos livros estão certas mesmo?”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correções, 3 GRAVÍSSIMAS — todas de enquadramento, invisíveis à rodada 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 correções aplicadas (ver slide anterior)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658368" y="5870448"/>
            <a:ext cx="10874959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4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Custo-benefício: as duas rodadas somaram ~25% do esforço e produziram 31 das 33 correções. A rodada 2 encontrou o erro mais grave do trabalho — uma lacuna que declaramos e que não existia — e ele está registrado no corpo do relatório, não apagado.</a:t>
            </a:r>
            <a:endParaRPr lang="en-US" sz="11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58368" y="384048"/>
            <a:ext cx="10874959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181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Autoria — quem fez o quê e quem decidiu o quê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932688"/>
            <a:ext cx="10874959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Detalhe completo na Seção 13.3 do relatório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solidFill>
            <a:srgbClr val="F4F5F7"/>
          </a:solidFill>
          <a:ln w="8890">
            <a:solidFill>
              <a:srgbClr val="DFE3E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116007" y="402336"/>
            <a:ext cx="1417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B68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BACKUP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658368" y="6272784"/>
            <a:ext cx="10874959" cy="0"/>
          </a:xfrm>
          <a:prstGeom prst="line">
            <a:avLst/>
          </a:prstGeom>
          <a:noFill/>
          <a:ln w="10160">
            <a:solidFill>
              <a:srgbClr val="DFE3E8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6355080"/>
            <a:ext cx="8778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5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 x SAN - Arquiteturas de armazenamento fisico para SBD</a:t>
            </a:r>
            <a:endParaRPr lang="en-US" sz="9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426464"/>
          <a:ext cx="10874959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383280"/>
                <a:gridCol w="4654296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Fez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Decidiu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32A35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Bernardo Brandão Pozzato Carvalho Costa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SAN, pilha FC, endereçamento, zoneamento, topologias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Tratar “FC Switch” como TOPOLOGIA, não protocolo — é como a norma T11 define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Enzo de Carvalho Sampaio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iSCSI, FCIP, FCoE, derivação de latência de propagação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Incluir a derivação física (1 ms/100 km) em vez de repetir “serve para longas distâncias”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Gabriel Schmitz Corrêa Rizawinsk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NAS; SMB/CIFS, NFS e AFP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NÃO fabricar aplicação de banco para o AFP; transformar o item em análise de fim de vida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Guilherme En Shih Hu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Coordenação, integração, AS DUAS rodadas adversariais, Post-Mortem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Escopo enxuto para sobrar tempo de revisão; e registrar os 3 erros gravíssimos NO CORPO DO TEXTO em vez de corrigi-los em silêncio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Raphael Henrique da Silva Pereira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AST e object storage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Adotar a tensão AST × buffer manager como eixo analítico — nenhum livro faz essa ligação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Vivian Maria da Silva e Souza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Recomendação (secundário e terciário) e exemplos reais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Critério de seleção: só casos com documentação primária. Recomendar por PERFIL DE CARGA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F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Arquiteturas de Armazenamento Fisico para SBD: NAS e SAN</dc:title>
  <dc:subject>PptxGenJS Presentation</dc:subject>
  <dc:creator>Grupo CBD - UFRJ</dc:creator>
  <cp:lastModifiedBy>Grupo CBD - UFRJ</cp:lastModifiedBy>
  <cp:revision>1</cp:revision>
  <dcterms:created xsi:type="dcterms:W3CDTF">2026-09-05T14:58:22Z</dcterms:created>
  <dcterms:modified xsi:type="dcterms:W3CDTF">2026-09-05T14:58:22Z</dcterms:modified>
</cp:coreProperties>
</file>