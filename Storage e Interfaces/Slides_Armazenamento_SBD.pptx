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Leitura máx. (MB/s)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Óptico M-DISC</c:v>
                </c:pt>
                <c:pt idx="1">
                  <c:v>HDD HAMR 30 TB</c:v>
                </c:pt>
                <c:pt idx="2">
                  <c:v>Fita LTO-10</c:v>
                </c:pt>
                <c:pt idx="3">
                  <c:v>SSD SATA</c:v>
                </c:pt>
                <c:pt idx="4">
                  <c:v>Pen drive USB</c:v>
                </c:pt>
                <c:pt idx="5">
                  <c:v>SSD NVMe DC</c:v>
                </c:pt>
                <c:pt idx="6">
                  <c:v>SSD NVMe PCIe 5.0</c:v>
                </c:pt>
                <c:pt idx="7">
                  <c:v>DRAM DDR5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275</c:v>
                </c:pt>
                <c:pt idx="2">
                  <c:v>400</c:v>
                </c:pt>
                <c:pt idx="3">
                  <c:v>560</c:v>
                </c:pt>
                <c:pt idx="4">
                  <c:v>1000</c:v>
                </c:pt>
                <c:pt idx="5">
                  <c:v>7000</c:v>
                </c:pt>
                <c:pt idx="6">
                  <c:v>14700</c:v>
                </c:pt>
                <c:pt idx="7">
                  <c:v>96000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Escrita máx. (MB/s)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Óptico M-DISC</c:v>
                </c:pt>
                <c:pt idx="1">
                  <c:v>HDD HAMR 30 TB</c:v>
                </c:pt>
                <c:pt idx="2">
                  <c:v>Fita LTO-10</c:v>
                </c:pt>
                <c:pt idx="3">
                  <c:v>SSD SATA</c:v>
                </c:pt>
                <c:pt idx="4">
                  <c:v>Pen drive USB</c:v>
                </c:pt>
                <c:pt idx="5">
                  <c:v>SSD NVMe DC</c:v>
                </c:pt>
                <c:pt idx="6">
                  <c:v>SSD NVMe PCIe 5.0</c:v>
                </c:pt>
                <c:pt idx="7">
                  <c:v>DRAM DDR5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18</c:v>
                </c:pt>
                <c:pt idx="1">
                  <c:v>275</c:v>
                </c:pt>
                <c:pt idx="2">
                  <c:v>400</c:v>
                </c:pt>
                <c:pt idx="3">
                  <c:v>530</c:v>
                </c:pt>
                <c:pt idx="4">
                  <c:v>900</c:v>
                </c:pt>
                <c:pt idx="5">
                  <c:v>3000</c:v>
                </c:pt>
                <c:pt idx="6">
                  <c:v>13300</c:v>
                </c:pt>
                <c:pt idx="7">
                  <c:v>96000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  <c:max val="100000"/>
          <c:min val="10"/>
        </c:scaling>
        <c:delete val="0"/>
        <c:axPos val="b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MB/s (escala logarítmica)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Preencher nomes completos e DRE de cada integrante antes de postar no 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blocos. Os dois centrais são os produtos pedidos no enunciado; o quarto é a nossa contribuição interpretativa.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Enquadrar: não é um trabalho de catálogo de hardware; é sobre quais premissas de projeto de SGBD envelheceram.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ordens de grandeza separam DRAM de SSD no eixo do tempo. Esse é o gráfico que organiza a apresentação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deste slide é o cálculo das 31 horas — é o que conecta física de disco a decisão de projeto (RAID 6 em vez de RAID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consequências para o projetista: amplificação, cauda e paralelismo. A terceira é a que mais afeta o gerente de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mais consequente do trabalho para SGBD transacional. Enfatizar que não é obsolescência do livro: é uma categoria de produto que o mercado retirou.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original antes da atualização para que a comparação faça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Tabela completa no relatório, incluindo RDIMM, CXL, Micron 9550 e USB. Fonte do MSRP do 9100 PRO sem dissipador: https://news.samsung.com/us/samsung-announces-9100-pro-series-ssds-with-breakthrough-pcie-5-0-performance/ . O preço histórico não atende sozinho ao requisito de preço atual.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livros tratam a fita como o resíduo da hierarquia, e ela é a categoria com o roadmap publicado mais longo de todas as que estão na tabela. Os três motivos do cartão da direita são a resposta se perguntarem por que ela sobrevive, e o número da esquerda é o que explica o resto: a razão de preço por KB entre o topo e a base da hierarquia é de seis ordens de grandeza, enquanto a razão de latência é bem menor. Vale dizer também que a biblioteca de fita entra aqui por corresponder ao tape jukebox do livro, e que ela não tem preço público, então ficou fora da comparação de custo.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eixo é logarítmico, e sem isso as barras do óptico e da fita desapareceriam ao lado da DRAM. O par leitura/escrita é quase idêntico na DRAM, no disco e na fita, e só diverge no flash, o que mostra que a assimetria entre ler e escrever é característica da memória flash e vem do apagamento por bloco, não do armazenamento em geral. Se perguntarem por que a fita aparece acima do disco, a resposta é que a comparação é de taxa sequencial, e nela a fita não paga posicionamento de braço entre blocos consecutivos.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última linha é a que mais contraria a expectativa da literatura didática, que esperava convergência de preço entre SSD e HDD por volta de 2026 a 2028. O grupo não fixou autor e data de nenhuma dessas projeções, então ela entra como contexto e não como fonte. O que está documentado é o desfecho: a demanda de IA consumiu capacidade fabril de NAND, parte dos compradores voltou para HDD, e isso pressionou também o preço do disco. A razão é volátil, oscilou de 7× a 23× em quatro trimestres, e por isso só faz sentido apresentada com data. Uma versão anterior deste trabalho citava aproximadamente 16× sem carimbo de trimestre, erro registrado como E15 na Seção 9.4. Uma ressalva de proveniência que vale dizer se perguntarem pela tabela do relatório: a célula de 16,3× do 2T26 vem de divulgação trimestral anterior do mesmo índice, e o grupo não fixou o comunicado específico, de modo que quem reapresentar aquela tabela deve fechar essa referência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três reduções são o que separa a taxa de marketing da taxa de dados, e é por elas que os comparativos de interface publicados sem cuidado erram por um fator de oito a dez. A citação do Silberschatz vale a pena ler em voz alta: ele escreve que o SATA-3 suporta nominalmente seis gigabytes por segundo, quando são gigabits, e a frase seguinte já cita os 600 MB/s corretos e usa gigabits para o SAS versão 3. Isso mostra que é lapso de digitação e não convenção do texto. O caso do SAS-4 é o mais curioso da segunda linha: 24G é nome comercial, a taxa real é 22,5 Gb/s, e a codificação 128b/150b já embute o FEC, o que explica os 17,2% de overhead.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coisas para apontar aqui. A primeira é a única linha marcada como paralela, o Ultra-320 SCSI, que morreu por um problema físico e não de protocolo: em barramento paralelo, o skew entre as vias e a diafonia crescem com a frequência, e foi isso que fez toda a indústria migrar para serial. A segunda é a coluna de latência, que é onde a história realmente está. A taxa útil do PCIe 5.0 é 26 vezes a do SATA 3.0, mas o que importa para OLTP é que a latência cai de 100–200 µs para 20–70 µs. E repare que iSCSI e NVMe/TCP correm sobre a mesma rede IP e têm latências de ordens diferentes, o que é argumento de protocolo, não de fio. As taxas de FC estão por direção; citar 128GFC sem dizer qual das duas escalas erra por um fator de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Registrar que o grupo optou por documentar a correção em vez de reproduzir a afirmação. Vale como resposta à pergunta Q7 do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 da apresentação. Se só uma ideia ficar, que seja esta: a vitória do NVMe é de arquitetura de filas, não de velocidade de 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denso da apresentação. Vale gastar tempo: é a evidência que sustenta a conclusão de que latência, e não banda, governa o SBD.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do random_page_cost é o exemplo mais concreto: a Tabela 16.1 atualizada termina virando uma linha de arquivo de configuração.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diferença de TPC-C não vem de banda: vem de latência × concorrência.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achado metodológico — é inesperado e costuma gerar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divisão final registra os seis integrantes, suas seções e decisões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 e Q2 são as que mais interessam ao professor, porque atacam o modelo de custo ensinado na disciplina. Q3 e Q4 são sobre a lacuna da hierarquia, e valem como fecho da parte da tabela. Q6 tem número atrás dela: a degradação de 4,6× vem de medição da Ubicloud sobre a própria plataforma, comparando NVMe local com Aurora e RDS, e é medição de fornecedor, o que convém dizer se alguém perguntar. Q7 é a única que fala do processo e não do conteúdo, e a resposta que o grupo daria é que documentar a correção com a fonte do T10 ao lado é mais útil que reproduzir o erro em silêncio.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 a partir daqui não fazem parte da apresentação — servem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existe para responder de onde vem qualquer número da tabela. A regra que o grupo adotou é que cada célula pertence a uma destas cinco categorias, e que a quinta, a lacuna declarada, é uma resposta legítima. Foi essa disciplina que impediu duas invenções de aparecerem no trabalho, e as duas estão registradas no Post-Mortem. Se perguntarem pelo preço do 9100 PRO, vale dizer que é MSRP de lançamento e que sozinho ele não atende ao requisito de preço corrente do enunciado.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pedirem uma conta, está aqui. Vale marcar as duas linhas que são derivação nossa e não especificação publicada: a latência de L3 do Zen 5, em que a contagem de ciclos vem de medição de terceiro e só a frequência é oficial, e o limite de commits, que é ilustrativo e ignora group commit. O caso do SAS-4 é o que costuma gerar pergunta, porque 24G sugere 24 Gb/s e a taxa de sinalização real é 22,5 Gb/s.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lista HBA, M.2 e U.2 entre as interfaces. Nenhum é protocolo — este slide explica a diferença de categoria sem fugir da 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858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DO RIO DE JANEIRO  ·  CONSTRUÇÃO DE BANCO DE DADOS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Dispositivos de Armazenamento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Físico para SBD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 e parâmetros para o Gerente de Armazenamento.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da Tabela 16.1 de Elmasri &amp; Navathe — dados consultados em 05/09/2026.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4224528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38912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DO GRUPO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4681728"/>
            <a:ext cx="6217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Brandão Pozzato Carvalho Costa — DRE 123289593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de Carvalho Sampaio — DRE 123386206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Schmitz Corrêa Rizawinsk — DRE 123225573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En Shih Hu — DRE 123224674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Henrique da Silva Pereira — DRE 123420783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Vivian Maria da Silva e Souza — DRE 123205793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18120" y="1234440"/>
            <a:ext cx="3712464" cy="4910328"/>
          </a:xfrm>
          <a:prstGeom prst="roundRect">
            <a:avLst>
              <a:gd name="adj" fmla="val 147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0" y="15727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KB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bytes: unidade comum para a comparação de custo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4553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7216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foi descontinuado; CXL de DRAM é volátil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183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µs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5294376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custo do barramento PCIe num I/O de 20–70 µs — latência é mídia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254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—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apresentação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8653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176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de memória, mecânica do HDD, física do flash, o fim da SCM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88336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99616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16.1 atualizada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0896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dispositivos comerciais de 2026, com preço por KB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621024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3730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0416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variantes: USB, SATA, SAS, NVMe, M.2/U.2/EDSFF, HBA, FC, iSCSI, InfiniBand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53712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548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4663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Armazenamento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499616" y="49743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Bloco, buffer, latência de commit, modelo de custo, tiering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486400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568756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99616" y="5596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499616" y="5907024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autoria, erros da IA e correções aplicadas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SGBD é uma máquina de transformar I/O em respostas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Índices, buffer pool, WAL, otimizador de consultas — tudo existe porque o meio persistente é ordens de grandeza mais lento que a memória. Essa razão é o parâmetro que justifica a arquitetura inteira. E ela mudou.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preços da Tabela 16.1 do Elmasri &amp; Navathe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números do Capítulo 12 do Silberschatz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500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932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anos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defasagem que este trabalho mede e corrige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80560"/>
            <a:ext cx="10874959" cy="1508760"/>
          </a:xfrm>
          <a:prstGeom prst="roundRect">
            <a:avLst>
              <a:gd name="adj" fmla="val 363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trabalho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os parâmetros físicos mudaram por várias ordens de grandeza, quais conclusões práticas dos livros-texto ainda valem — e quais deixaram de valer?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hierarquia continua existindo — com um buraco novo</a:t>
            </a:r>
            <a:endParaRPr lang="en-US" sz="3000" dirty="0"/>
          </a:p>
        </p:txBody>
      </p:sp>
      <p:pic>
        <p:nvPicPr>
          <p:cNvPr id="4" name="Image 0" descr="fig/f1h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81328"/>
            <a:ext cx="758952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481328"/>
            <a:ext cx="3072384" cy="4343400"/>
          </a:xfrm>
          <a:prstGeom prst="roundRect">
            <a:avLst>
              <a:gd name="adj" fmla="val 17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057400"/>
            <a:ext cx="254203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tecnologia da Tabela 16.1 atualizada, posicionada por tempo de acesso e preço por KB. Ambos os eixos são logarítmicos.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fronteira desce da esquerda superior para a direita inferior: pagar mais compra latência menor.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vazio no eixo horizontal entre DRAM (10⁻⁷ s) e SSD NVMe (5×10⁻⁵ s) é onde ficava o Intel Optane.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 magnético: a mecânica que define o modelo de custo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58444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4–10 ms *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do braço até a trilha. * A Seagate REMOVEU o seek time do manual do Exos M — os ≈8,5 ms que somamos são estimativa nossa da classe.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0800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4,16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rpm: 60 ÷ 7.200 ÷ 2 = 4,17 ms; a Seagate publica 4,16. É o único parâmetro de tempo que ela ainda publica.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275–285 MB/s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externas. Bem menos nas internas, que têm menos setores.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 (4 KB)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0800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50–200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5624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Governado pela mecânica. Praticamente inalterado em duas décadas.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4553712"/>
            <a:ext cx="10874959" cy="1417320"/>
          </a:xfrm>
          <a:prstGeom prst="roundRect">
            <a:avLst>
              <a:gd name="adj" fmla="val 387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7183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livros não enfatizam o bastante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5029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D6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cresceu 4×; taxa sequencial, 1,4×; IOPS aleatório, nada. Varrer 8 TB a 200 MB/s levava 11 h; varrer 32 TB a 285 MB/s leva 31 h. Backup, reconstrução de RAID e full table scan pioraram — e é por isso que RAID 5 saiu de cena em discos grandes.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Flash: escrever é diferente de ler, e isso muda o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página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µs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6168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página apagada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 µs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6500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bloco (256 KB–1 MB)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 ms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92608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uma página é impossível: é preciso apagar o bloco inteiro, e a endurance depende da tecnologia e do produto. Toda a arquitetura do SSD — FTL, garbage collection, wear leveling — existe por causa dessa única restrição.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3694176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Amplificação de escrita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3639312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move dados: 4 KB lógicos custam mais que 4 KB físicos. É por isso que SGBDs da era do SSD (RocksDB, Cassandra) usam LSM-tree em vez de B⁺-tree in-place.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453542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535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cauda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041648" y="448056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é assíncrono e imprevisível. A mediana é ótima; o P99,9 pode ser 10× pior. SLA de banco quebra na cauda, não na média.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53766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5321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interno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5321808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SSD atende 32+ requisições simultâneas. SATA: 13 mil IOPS a QD1, 98 mil a QD32. Emitir uma por vez desperdiça o dispositivo.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 · ACHADO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memória persistente que os livros anunciam não existe mais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12.1 do Silberschatz apresenta a storage class memory — 3D XPoint / Intel Optane — como o degrau que preencheria o vão entre DRAM e flash.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SSD começa a ser vendido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1216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54096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54096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PMem em soquete DIMM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4064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6944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jul/2022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anuncia a saída do negócio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79792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79792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300 (Crow Pass) cancelada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9760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fim/2025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embarques da série 200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370832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5537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bancos de dados transacionais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86460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de três ordens de grandeza entre DRAM (≈70 ns) e SSD NVMe (20–70 µs) foi reaberto. Um log em SCM permitiria ≈100.000 commits/s por thread; com NVMe o teto é ≈33.000. O CXL cobre parte do vão — mas do lado da memória, a 214–271 ns medidos (2–2,5× a DRAM local), e não como meio persistente de log.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partida: a Tabela 16.1 original (2014)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2583684"/>
                <a:gridCol w="1879043"/>
                <a:gridCol w="1487575"/>
                <a:gridCol w="2035630"/>
                <a:gridCol w="288902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Bandwidth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Commodity Prices (2014)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 — 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GB/s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 – 20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SSD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 – 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USB stick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512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 – 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Disk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GB – 8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 – 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GB – 100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Tape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TB – 8,5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250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K – 30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jukebox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TB – 2,1 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MB/s – 1,2 PB/s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K – 1 M+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89204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enunciado pede: substituir cada tipo por produtos comerciais de 2026, atualizar capacidade e preço, separar a banda em leitura e escrita, e acrescentar a coluna de preço por kilobyte.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 COMPLETOS E FONTES NO RELATÓRIO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16.1: síntese dos dispositivos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91640"/>
          <a:ext cx="10874959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920240"/>
                <a:gridCol w="1920240"/>
                <a:gridCol w="2560320"/>
                <a:gridCol w="2050999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Capacidade-base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/ 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 L3 (proxy)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MiB adicionais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 ns (derivado)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/ 1,4 TB/s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2,97×10⁻³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 desktop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GiB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ns (referência)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/ 96 GB/s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1,6×10⁻⁵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9100 PRO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TB, sem dissipador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 (livro)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 / 13,3 GB/s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2,00×10⁻⁷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Solidigm D5-P5336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61,44 TB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 (livro)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/ 3,0 GB/s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2,6×10⁻⁷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870 EVO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µs (derivado)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/ 530 MB/s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3,4×10⁻⁷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Seagate Exos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ms (livro)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/ 275 MB/s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2,7×10⁻⁸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48640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KB = 1.000 bytes em todas as linhas. Preço/KB do 9100 PRO: US$ 199,99 (MSRP de lançamento). Preços históricos e proxies não são cotações atuais. Tempos marcados como livro seguem a alternativa autorizada pelo enunciado.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CONSULTA DE 05/09/2026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estrato terciário e a coluna de preço por kilobyte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560797"/>
                <a:gridCol w="2446655"/>
                <a:gridCol w="1366752"/>
                <a:gridCol w="1113650"/>
                <a:gridCol w="1079903"/>
                <a:gridCol w="970225"/>
                <a:gridCol w="1543924"/>
                <a:gridCol w="793054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WORM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M-DISC BD-XL 100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GB/disco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ms (livro)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 MB/s (4×)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12,70 + 230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TB nativo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LTO-10 (2026)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→ 40 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260–300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TS4500 / Quantum i6000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926,8 PB; 2,317 EB a 2,5:1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 cotação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3456432"/>
            <a:ext cx="5349240" cy="2304288"/>
          </a:xfrm>
          <a:prstGeom prst="roundRect">
            <a:avLst>
              <a:gd name="adj" fmla="val 238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36210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razão de custo que sustenta a hierarquia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78408" y="391363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607.000×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4590288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 o preço por KB da SRAM do preço por KB do cartucho LTO-9. A conta é (US$ 199 ÷ 67.108,864 KB) ÷ (US$ 87,99 ÷ 1,8×10¹⁰ KB), ou seja, 2,97×10⁻³ contra 4,89×10⁻⁹. É essa razão que justifica manter uma hierarquia em vez de comprar tudo do meio mais rápido.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3456432"/>
            <a:ext cx="5276088" cy="2304288"/>
          </a:xfrm>
          <a:prstGeom prst="roundRect">
            <a:avLst>
              <a:gd name="adj" fmla="val 238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36210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fita continua em produção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9319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 drive e a mídia são precificados à parte, como também acontece no armazenamento óptico, de modo que o preço por TB do cartucho não inclui o leitor.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 roadmap do consórcio LTO, revisado em novembro de 2025, chega a 365 TB nativos no LTO-14, o horizonte publicado mais longo entre os meios desta tabela.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 cartucho não consome energia parado na estante, oferece um air gap físico contra ransomware e tem retenção declarada de 30 anos.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5870448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tabela integral e notas de rodapé na Seção 3.2 do relatório. Capacidades e taxas vêm de datasheet de fabricante; a capacidade da library e os 51,2 GB/s são derivação nossa, com a conta explicitada na nota da tabela.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ANÁLISE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largura de banda foi o que mais avançou entre 2014 e 2026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1536192"/>
          <a:ext cx="73152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36192"/>
            <a:ext cx="3346704" cy="4160520"/>
          </a:xfrm>
          <a:prstGeom prst="roundRect">
            <a:avLst>
              <a:gd name="adj" fmla="val 163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19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gráfico mostra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0116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20×</a:t>
            </a:r>
            <a:endParaRPr lang="en-US" sz="23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450592"/>
            <a:ext cx="2743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ganho de banda do SSD contra a Tabela 16.1 original, que publica 750 MB/s, enquanto o PCIe 5.0 entrega 14,7 GB/s.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20040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1,4×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639312"/>
            <a:ext cx="2743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avanço do disco magnético no mesmo período, de 200 para 275 MB/s sustentados nas trilhas externas.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389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LTO &gt; HDD</a:t>
            </a:r>
            <a:endParaRPr lang="en-US" sz="23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4828032"/>
            <a:ext cx="2743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fita supera o disco em taxa sequencial, porque não precisa posicionar um braço entre blocos consecutivos.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5797296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Figura 2 e Seção 3.5(b) do relatório; valores de leitura e escrita de datasheet de fabricante. A capacidade e a banda publicadas podem ser comparadas entre 2014 e 2026, mas a latência não, porque os tempos de acesso mantidos do livro não têm medição equivalente de carga, fila e percentil.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entre 2014 e 2026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4207301"/>
                <a:gridCol w="666765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na tabela e no projeto de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Optane / 3D XPoint descontinuado (2022–2025)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Removeu o degrau de memória persistente e reabriu um vazio de 3 ordens de grandeza entre DRAM e SSD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CXL preenche o vazio parcialmente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nível de memória a 214–271 ns, de 2 a 2,5× a DRAM local; o buffer pool pode crescer além dos slots DIMM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ODA encerrado; Pioneer saiu dos leitores ópticos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óptico virou nicho de arquivamento WORM de longuíssimo prazo e saiu da tabela como linha ativa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 tornou-se legado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interface satura em 550 MB/s, e a linha é mantida só por retrofit de parque instalado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é padrão de consumo; PCIe 6.0 chegou ao datacenter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 GB/s no consumo e 28 GB/s no Micron 9650, em produção em massa desde fev./2026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HAMR entrou em 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disco magnético saltou de 24 TB para 32–36 TB, com o HAMR já em produção de volume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lançado (30 → 40 TB nativos)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Arquivamento a US$ 5–10/TB, com roadmap revisado em nov./2025 até 365 TB nativos no LTO-14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e HDD divergiram em custo em vez de convergir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de 18,6× por TB em 05/09/2026, 3T26 em curso, contra 7× no 3T25 e pico de 23,2× no 1T26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541264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razão SSD/HDD e preços de US$ 22.600 (SSD TLC de 30 TB) e US$ 1.216 (HDD de 30 TB) no Flash Volatility Index da VDURA, 11/ago./2026 (https://www.vdura.com/2026/08/11/ssd-prices-settle-into-a-costly-new-normal-at-6-5x-year-ago-levels-reshaping-the-economics-of-ai-factories-vdura-flash-volatility-index-shows/); capacidade de 36 TB no comunicado da Seagate de 20/jan./2025; demais linhas nas Seções 3.4 e 3.5 do relatório.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taxa anunciada à taxa real: três reduções sucessivas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38528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7922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17739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GB/s equivale a 8 Gb/s, de modo que uma interface de 6 Gb/s nunca entrega 6 GB/s.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22208" y="177393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Silberschatz escorrega na §12.2, e a frase seguinte do livro usa a unidade certa para o SAS-3.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2816352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08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de linha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294436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enlace serial insere bits de controle para manter o balanceamento DC e recuperar o relógio do próprio fluxo.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94436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8b/10b custa 25% de overhead, o 128b/130b custa 1,6% e o SAS-4 custa 17,2%.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398678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1330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Modulação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41148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NRZ transmite 1 bit por símbolo e o PAM4 transmite 2, ao custo de reduzir a margem de ruído a um terço e exigir FEC.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41148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PAM4 está em FC 64/128GFC, InfiniBand HDR/NDR/XDR e PCIe 6.0/7.0; o USB4 v2.0 usa PAM3.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138928"/>
            <a:ext cx="10874959" cy="749808"/>
          </a:xfrm>
          <a:prstGeom prst="roundRect">
            <a:avLst>
              <a:gd name="adj" fmla="val 7317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534009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SATA 3.0:  6,0 Gb/s × 8/10 ÷ 8 = 600 MB/s            PCIe 5.0 ×4:  32 GT/s × 4 × 128/130 ÷ 8 = 15,754 GB/s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61888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Seção 4.1 do relatório, que traz a tabela completa das sete codificações com eficiência, overhead e onde cada uma é usada. A base do overhead é bits acrescentados ÷ bits de carga útil, e sobre o quadro total os percentuais seriam menores.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EXTRATO DA SEÇÃO 4.2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Interfaces: síntese comparativa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10874959" cy="914400"/>
        </p:xfrm>
        <a:graphic>
          <a:graphicData uri="http://schemas.openxmlformats.org/drawingml/2006/table">
            <a:tbl>
              <a:tblPr/>
              <a:tblGrid>
                <a:gridCol w="1874993"/>
                <a:gridCol w="1476058"/>
                <a:gridCol w="1755313"/>
                <a:gridCol w="1635632"/>
                <a:gridCol w="1476058"/>
                <a:gridCol w="2656905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útil máxima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típica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típico em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3.2 Gen 2×2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2.424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µs 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Ultra-320 SCSI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Paralela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 LVD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 (SSD)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Capacidade, backup, dev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SAS-4 (24G)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Backplane tri-modo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 / NVMe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Enlace / protocolo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15,75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≈0,25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e redo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64GFC (Gen 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 MB/s por direção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 ns por switch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 OM4 / 10 km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de alto desempenho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NVMe/RoCE v2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Ethernet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Ethernet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41–163 µs (P99,99)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 km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de baixa latência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Ethernet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 (P99,99)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 moderna ao iSCSI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sobre 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MB/s a 11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 (IP)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PME, virtualização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XDR 4×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 AOC / 10 km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HPC e clusters de 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376672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Extrato de uma tabela de 53 linhas. O relatório traz todas as variantes exigidas pelo enunciado, mais taxa bruta, ano, hot-plug, topologia e número de dispositivos. As latências marcadas com ∗ são estimativas de ordem de grandeza, sem publicação de organismo normatizador. M.2, U.2, U.3 e EDSFF são fatores de forma e HBA e CNA são adaptadores, de modo que nenhum tem taxa própria e todos aparecem na tabela com “= PCIe”.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5961888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Seção 4.2 do relatório. Taxas de Fibre Channel segundo o roadmap da FCIA, por direção, e a FCIA publica também o valor full-duplex, que é o dobro. Latências de NVMe/RoCE e NVMe/TCP são medição P99,99 publicada pela Western Digital.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VERIFICAÇÃO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a uma afirmação do próprio enunciado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868680"/>
          </a:xfrm>
          <a:prstGeom prst="roundRect">
            <a:avLst>
              <a:gd name="adj" fmla="val 6316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7373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3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“SATA também é conhecida como NL-SAS.”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1031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Factualmente incorreto.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NL-SAS = mecânica SATA nearline + protocolo SAS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743200"/>
          <a:ext cx="1087495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926080"/>
                <a:gridCol w="236829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(HDD)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corporativo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/ 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/ 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Mídia e rotação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 (a mesma)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 / 15 K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(single-port)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Multipath / alta disponib.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STP / interposer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erro irrecuperável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58368" y="54406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prática: um array SAS com discos SATA precisa de STP ou de placas interposer e perde o caminho redundante. Com NL-SAS, não. Para um SGBD em cluster, é a diferença entre sobreviver ou não à falha de um controlador.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NVMe venceu — e não foi por largura de banda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10874959" cy="914400"/>
        </p:xfrm>
        <a:graphic>
          <a:graphicData uri="http://schemas.openxmlformats.org/drawingml/2006/table">
            <a:tbl>
              <a:tblPr/>
              <a:tblGrid>
                <a:gridCol w="3749986"/>
                <a:gridCol w="3292671"/>
                <a:gridCol w="3832303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AHCI / SATA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de submissão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por fila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Registradores MMIO por comando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(não cacheáveis)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Afinidade de núcleo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fila por núcleo — sem contenção de lock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comandos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 (herdado do disco rotativo)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Enxuto, projetado para flash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315968"/>
            <a:ext cx="10874959" cy="1691640"/>
          </a:xfrm>
          <a:prstGeom prst="roundRect">
            <a:avLst>
              <a:gd name="adj" fmla="val 32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4988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em uma frase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4809744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AHCI oferece uma fila por porta. NVMe permite filas paralelas, reduzindo contenção entre núcleos. O ganho real depende do driver, do dispositivo e da carga.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de latência de uma leitura aleatória de 4 KB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3201208"/>
                <a:gridCol w="1573165"/>
                <a:gridCol w="1573165"/>
                <a:gridCol w="1573165"/>
                <a:gridCol w="1573165"/>
                <a:gridCol w="138109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local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NVMe/RoCE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 10 GbE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SAS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Chamada de sistema + camada de bloco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+ submissão na fila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Travessia do barramento / fabric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200–400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da mídia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Controladora do alvo / RAID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30–80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41–163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18795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típica.   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99,99 medido pela Western Digital (4 KB, QD=1, mesma mídia) — a mediana é menor. As duas colunas de fabric são, portanto, conservadoras face às demais: isso reforça a conclusão (2), não a enfraquece.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5836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≈90% da latência é mídia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→ 6.0 não reduz latência de leitura aleatória. Só a mídia reduziria — e a mídia que faria isso saiu do mercado.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6168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9943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storage de rede, o protocolo domina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9943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iSCSI por NVMe/TCP tem efeito de primeira ordem: 4× menos latência sobre a mesma mídia.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6500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0275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cauda importa mais que a média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30275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banco quebra no P99,9. Fabrics lossless (FC, IB) vencem o TCP pela variância, não pela média.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os números em decisões do Gerente de Armazenamento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77393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de bloco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177393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HDD: 8–64 KB, para amortizar a busca de 12,7 ms.  ·  SSD: 4–16 KB, alinhado à página NAND.  ·  Fita: ≥1 MB.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9748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95351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28254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pool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282549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uma falta de página por vez usa ≈3% de um SSD NVMe. É preciso I/O assíncrono com muitas requisições em voo — daí io_uring e effective_io_concurrency.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4904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0507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87705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087368" y="387705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custa 1/latência_do_fsync. Group commit é o que separa usar o dispositivo de desperdiçá-lo.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80060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056632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056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4928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492861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random_page_cost deve ser calibrado por workload, cache e medições. 1,1–1,5 é apenas faixa inicial ilustrativa para SSD, não regra universal.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742432"/>
            <a:ext cx="10874959" cy="530352"/>
          </a:xfrm>
          <a:prstGeom prst="roundRect">
            <a:avLst>
              <a:gd name="adj" fmla="val 1034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" y="5843016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 1/fsync (sem group commit/cache/CPU): HDD ≈125/s · SATA ≈6.700/s · NVMe ≈33.000/s · NVMe/TCP ≈8.200/s · iSCSI ≈1.700/s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arquitetura de tiers para 2026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1646335"/>
                <a:gridCol w="2515234"/>
                <a:gridCol w="2240845"/>
                <a:gridCol w="3429865"/>
                <a:gridCol w="1042679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típico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memória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+ CXL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 / CXL 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pool, tabelas de hash, catálogos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quente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(E3.S)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Redo log, tempdb, índices, tabelas OLTP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morno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alta capac.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4.0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Partições históricas, leitura intensiva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nearline 30 TB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6 Gb/s ou NL-SAS 12G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lake, partições antigas, backup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arquivo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12G / FC 32G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Retenção legal, air gap contra ransomware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480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663440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3.000×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528523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razão de preço por byte entre o tier 0 e o tier 4. É ela — e não a diferença de desempenho — que sustenta economicamente o tiering.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4480560"/>
            <a:ext cx="5276088" cy="1600200"/>
          </a:xfrm>
          <a:prstGeom prst="roundRect">
            <a:avLst>
              <a:gd name="adj" fmla="val 342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4645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empírica (PostgreSQL)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95604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local: 400 mil IOPS em 8 vCPU. Disco de rede precisaria de 112 vCPU — 14× mais.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TPC-C: 873 tps (NVMe local) contra 636 (Aurora) e 188 (RDS/EBS gp3).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conclusões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SCM saiu do mercado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Optane foi descontinuado entre 2022 e 2025 e nada o substituiu. O teto de commits por thread continua ditado pela latência do NVMe.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453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745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SSD e HDD divergiram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18,6× em US$/TB na consulta de 05/09/2026; o 3T26 ainda não estava encerrado.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Banda deixou de ser o parâmetro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&lt;1 µs de 20–70 µs é barramento. Explica o SATA parado, a vitória do NVMe e a irrelevância do PCIe 6.0 para OLTP.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8192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453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7453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fita é a mais viva do baixo da pirâmide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LTO-10 a 40 TB nativos, roadmap até 365 TB, US$ 5–10/TB. Para retenção legal e air gap, não há substituto.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893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metodológico: fabricantes publicam cada vez menos parâmetros de latência. Um trabalho equivalente feito em 2014 teria mais dados disponíveis do que este, feito em 2026.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como usamos a IA e o que decidimos nós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792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que determinaram o conteúdo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121408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“marque o que é datasheet, o que é medição e o que é estimativa; se não encontrar, diga.”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“distinga Gb/s de GB/s e cite a codificação de linha.”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“verifique se ‘SATA = NL-SAS’ é correto.”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— “liste o que você NÃO conseguiu encontrar.”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— “verificador adversarial: não confirme nada por plausibilidade; ordene por gravidade o que derrubaria o trabalho.”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27632"/>
            <a:ext cx="5276088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792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 — quem decidiu o quê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12140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— coordenação, preços e conclusão.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— fundamentos e leitura dos capítulos-base.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— Tabela 16.1 e cálculo de preço por KB.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Vivian — interfaces, Fibre Channel e correção do NL-SAS.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— verificação adversarial, scripts e revisão final.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— gerente de armazenamento e consolidação do Post-Mortem.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" y="4069080"/>
            <a:ext cx="10874959" cy="1965960"/>
          </a:xfrm>
          <a:prstGeom prst="roundRect">
            <a:avLst>
              <a:gd name="adj" fmla="val 279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4224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lições sobre o uso de IA neste tipo de trabalho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535424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origem de cada número é o que torna o trabalho auditável.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as lacunas explicitamente é tão importante quanto pedir os dados.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reproduz premissas erradas contidas no próprio pedido — o erro do NL-SAS só apareceu porque perguntamos.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longas contêm contradições internas; só a leitura cruzada as revela.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estruturais não vieram prontas: resultaram de comparar tabelas produzidas separadamente.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segunda IA, instruída a ATACAR o texto, achou 5 erros graves que a IA autora não viu — a lição que levamos.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DÚVIDAS, CONSIDERAÇÕES E PONTOS PARA O DEBATE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ao debate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536192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random_page_cost precisa mudar de 4,0 para 1,1 conforme o meio, por que o SGBD não mede essa razão empiricamente na inicialização, em vez de depender de um administrador que talvez nem saiba que o parâmetro existe?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64261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624328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sentido continuar ensinando o modelo de I/O por contagem de blocos, ou o modelo correto para o hardware de 2026 seria latência × paralelismo, contabilizando a profundidade de fila explicitamente?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7307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730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712464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descontinuação do Optane foi falha de mercado ou de tecnologia? O 3D XPoint funcionava e ocupava um degrau real da hierarquia, e se a razão foi custo de fabricação, o que impede que a mesma lacuna se reabra indefinidamente?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481888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memória barata escalar via CXL, bancos in-memory de dezenas de terabytes ficam viáveis. O que muda no projeto de um SGBD que hoje assume que os dados não cabem na memória?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81928" y="1554480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81928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30568" y="1536192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 literatura de otimização usa custo esperado, isto é, média, enquanto os SLAs reais são escritos em P99 e P99,9. Existe formalismo de otimização de consultas que otimize percentil em vez de média?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81928" y="264261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81928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30568" y="2624328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Silberschatz observa que a nuvem tem latência de dezenas a centenas de milissegundos quando os dados não são colocalizados, e os dados de TPC-C que reunimos confirmam degradação de 4,6×. Esse limite é físico ou de arquitetura?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81928" y="37307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81928" y="3730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30568" y="3712464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da tarefa afirma que “SATA também é conhecida como NL-SAS”, afirmação que vem do próprio Elmasri &amp; Navathe (§16.2.1). O grupo optou por documentar a correção em vez de reproduzi-la. Foi a conduta correta em um trabalho avaliativo?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81928" y="4800600"/>
            <a:ext cx="5349240" cy="1234440"/>
          </a:xfrm>
          <a:prstGeom prst="roundRect">
            <a:avLst>
              <a:gd name="adj" fmla="val 4444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01968" y="4983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sete questões estão na Seção 7 do documento, com a redação integral. O relatório completo, com as tabelas na íntegra, as referências e o Post-Mortem exigido pelo enunciado, foi entregue em PDF.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01968" y="61081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651760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61188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dos dados · derivações aritméticas · fatores de forma e HBA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PROVENIÊNCIA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cada número da Tabela 16.1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91056"/>
          <a:ext cx="10874959" cy="914400"/>
        </p:xfrm>
        <a:graphic>
          <a:graphicData uri="http://schemas.openxmlformats.org/drawingml/2006/table">
            <a:tbl>
              <a:tblPr/>
              <a:tblGrid>
                <a:gridCol w="2515234"/>
                <a:gridCol w="1966456"/>
                <a:gridCol w="6393269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 origem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aparece na tabela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do fabricante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marcação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 e taxas do 9100 PRO, 870 EVO, D5-P5336, 9550 PRO, DT Max e Exos M; latência rotacional de 4,16 ms; taxas nativas do LTO-9 e do LTO-10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Citada no texto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 TB/s de L3 do Zen 5 (Chips and Cheese); 214–271 ns do CXL 2.0; 41–177 µs do NVMe-oF (Western Digital); razão SSD/HDD (VDURA)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explicitada na nota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por KB; 51,2 GB/s por módulo DDR5-6400; 51,2 GB/s da library; 926,8 PB (23.170 × 40 TB); 2,317 EB só no cenário 2,5:1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mantida do livro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Marcada como livro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Tempos de acesso da Tabela 16.1 original: SSD 50 µs, HDD 10 ms, pen drive USB 100 µs e óptico 180 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Lacuna declarada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módulo CXL e de tape library, disponíveis só sob cotação; banda agregada do MD220; velocidade de leitura do M-DISC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431536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que o grupo assume: MSRP histórico não é cotação atual; CXL e biblioteca de fita não têm preço confirmado e ficaram fora da comparação de custo, de modo que “n/d” não deve ser lido como custo zero.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5815584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Seções 3.3 e 3.4 do relatório, e a lista de referências da Seção 8, que separa livros-texto, organismos normatizadores, documentação de fabricante e medições de terceiros. Os 214–271 ns do CXL vêm de medição revisada por pares que este trabalho não chegou a fixar com autor e ano, e devem ser lidos como ordem de grandeza.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DERIVAÇÕES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contas, por extenso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KB (SRAM)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US$ 199 ÷ 67.108,864 KB = 2,97×10⁻³ /KB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entre o 9950X3D2 (192 MB de L3, US$ 899) e o 9950X3D (128 MB, US$ 700)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topo/base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79652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2,97×10⁻³ ÷ 4,89×10⁻⁹ = 607.000×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 contra cartucho LTO-9, este a US$ 87,99 ÷ 1,8×10¹⁰ KB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÷ 7.200 ÷ 2 = 4,16 ms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rpm, valor que a Seagate publica no datasheet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192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de disco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TB ÷ 285 MB/s = 31,2 h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8 TB ÷ 200 MB/s = 11,1 h em 2014: a capacidade subiu mais que a banda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3.0 útil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17296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6,0 Gb/s × 8/10 ÷ 8 = 600 MB/s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8b/10b, 80% de eficiência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8192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×4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GT/s × 4 × 128/130 ÷ 8 = 15,754 GB/s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128b/130b, 98,46% de eficiência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útil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22,5 Gb/s × 128/150 ÷ 8 = 2.400 MB/s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“24G” é nome comercial; a taxa de sinalização é 22,5 Gb/s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8192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1967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 de commits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÷ latência do fsync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 group commit, cache protegido, fila e CPU, então não é throughput previsto do SGBD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611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DDR5-6000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17296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6.000 MT/s × 8 B × 2 canais = 96 GB/s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9611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canais, que é a configuração do kit de desktop da tabela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8192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L3 do Zen 5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79652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(46,5 + 4) ÷ 5,6 GHz = 9,02 ns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51967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 GHz é o boost oficial, mas a contagem de ciclos é derivação nossa e não especificação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6181344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notas de rodapé da Tabela 16.1 e Seção 4.1 do relatório. Todas as contas acima são reproduzidas pelo script verificar.py, que acompanha a entrega e falha se algum número do texto divergir.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M.2, U.2, EDSFF, HBA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Fatores de forma e HBA — o que não é protocolo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2378040"/>
                <a:gridCol w="1371946"/>
                <a:gridCol w="1189020"/>
                <a:gridCol w="2195114"/>
                <a:gridCol w="3740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Hot-swap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Tensão / potência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(M-key)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V — 8 a 11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Boot, cliente,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U.2 (SFF-8639)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Servidor, gaveta frontal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U.3 (SFF-TA-1001)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Baia tri-modo: SAS, SATA ou 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E1.S / E1.L (EDSFF)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16 a 40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1U; E1.L é a “régua” de 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E3.S / E3.S 2T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ou ×8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a 70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Sucessor do U.2; o 2T aceita módulo CXL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04164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EDSFF está substituindo o U.2: SSDs PCIe 5.0/6.0 passam de 25 W e a lata de 2,5 polegadas não dissipa. O M.2, além de não ter hot-swap, só tem 3,3 V.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8368" y="4498848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3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não é interface nem protocolo — é o adaptador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497433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em modo IT expõe os discos crus ao SO, sem cache nem metadados de RAID — é o que ZFS, Ceph e réplica por software exigem. Em modo RAID, faz RAID em hardware com cache protegido.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Armadilha de durabilidade: HBA RAID com cache NÃO protegido por bateria pode confirmar um fsync antes da persistência. O SGBD acredita ter cumprido a durabilidade; a queda de energia prova o contrário.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Dispositivos de Armazenamento Fisico para SBD</dc:title>
  <dc:subject>PptxGenJS Presentation</dc:subject>
  <dc:creator>Grupo CBD/UFRJ</dc:creator>
  <cp:lastModifiedBy>Grupo CBD/UFRJ</cp:lastModifiedBy>
  <cp:revision>1</cp:revision>
  <dcterms:created xsi:type="dcterms:W3CDTF">2026-09-11T00:49:29Z</dcterms:created>
  <dcterms:modified xsi:type="dcterms:W3CDTF">2026-09-11T00:49:29Z</dcterms:modified>
</cp:coreProperties>
</file>