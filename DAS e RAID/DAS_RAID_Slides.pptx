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21792"/>
            <a:ext cx="1078992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100" b="1">
                <a:solidFill>
                  <a:srgbClr val="EB6834"/>
                </a:solidFill>
                <a:latin typeface="Calibri"/>
              </a:defRPr>
            </a:pPr>
            <a:r>
              <a:t>CONSTRUÇÃO DE BANCO DE DADOS · UFRJ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97280"/>
            <a:ext cx="7132320" cy="13716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4100" b="1">
                <a:solidFill>
                  <a:srgbClr val="FFFFFF"/>
                </a:solidFill>
                <a:latin typeface="Cambria"/>
              </a:defRPr>
            </a:pPr>
            <a:r>
              <a:t>DAS e</a:t>
            </a:r>
            <a:br/>
            <a:r>
              <a:t>arquiteturas RAID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697480"/>
            <a:ext cx="7955279" cy="5486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600" b="0">
                <a:solidFill>
                  <a:srgbClr val="CBD2DC"/>
                </a:solidFill>
                <a:latin typeface="Calibri"/>
              </a:defRPr>
            </a:pPr>
            <a:r>
              <a:t>Direct Attached Storage · Interfaces, desempenho, confiabilidade e decisão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3401568"/>
          <a:ext cx="8138160" cy="2359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17920"/>
                <a:gridCol w="1920240"/>
              </a:tblGrid>
              <a:tr h="337021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Nome completo</a:t>
                      </a:r>
                    </a:p>
                  </a:txBody>
                  <a:tcPr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DRE</a:t>
                      </a:r>
                    </a:p>
                  </a:txBody>
                  <a:tcPr>
                    <a:solidFill>
                      <a:srgbClr val="232A35"/>
                    </a:solidFill>
                  </a:tcPr>
                </a:tc>
              </a:tr>
              <a:tr h="337021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Bernardo Brandão Pozzato Carvalho Costa</a:t>
                      </a:r>
                    </a:p>
                  </a:txBody>
                  <a:tcPr>
                    <a:solidFill>
                      <a:srgbClr val="1418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123289593</a:t>
                      </a:r>
                    </a:p>
                  </a:txBody>
                  <a:tcPr>
                    <a:solidFill>
                      <a:srgbClr val="14181F"/>
                    </a:solidFill>
                  </a:tcPr>
                </a:tc>
              </a:tr>
              <a:tr h="337021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Enzo de Carvalho Sampaio</a:t>
                      </a:r>
                    </a:p>
                  </a:txBody>
                  <a:tcPr>
                    <a:solidFill>
                      <a:srgbClr val="1418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123386206</a:t>
                      </a:r>
                    </a:p>
                  </a:txBody>
                  <a:tcPr>
                    <a:solidFill>
                      <a:srgbClr val="14181F"/>
                    </a:solidFill>
                  </a:tcPr>
                </a:tc>
              </a:tr>
              <a:tr h="337021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Gabriel Schmitz Corrêa Rizawinsk</a:t>
                      </a:r>
                    </a:p>
                  </a:txBody>
                  <a:tcPr>
                    <a:solidFill>
                      <a:srgbClr val="1418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123225573</a:t>
                      </a:r>
                    </a:p>
                  </a:txBody>
                  <a:tcPr>
                    <a:solidFill>
                      <a:srgbClr val="14181F"/>
                    </a:solidFill>
                  </a:tcPr>
                </a:tc>
              </a:tr>
              <a:tr h="337021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Guilherme En Shih Hu</a:t>
                      </a:r>
                    </a:p>
                  </a:txBody>
                  <a:tcPr>
                    <a:solidFill>
                      <a:srgbClr val="1418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123224674</a:t>
                      </a:r>
                    </a:p>
                  </a:txBody>
                  <a:tcPr>
                    <a:solidFill>
                      <a:srgbClr val="14181F"/>
                    </a:solidFill>
                  </a:tcPr>
                </a:tc>
              </a:tr>
              <a:tr h="337021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Raphael Henrique da Silva Pereira</a:t>
                      </a:r>
                    </a:p>
                  </a:txBody>
                  <a:tcPr>
                    <a:solidFill>
                      <a:srgbClr val="1418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123311073</a:t>
                      </a:r>
                    </a:p>
                  </a:txBody>
                  <a:tcPr>
                    <a:solidFill>
                      <a:srgbClr val="14181F"/>
                    </a:solidFill>
                  </a:tcPr>
                </a:tc>
              </a:tr>
              <a:tr h="337026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Vivian Maria da Silva e Souza</a:t>
                      </a:r>
                    </a:p>
                  </a:txBody>
                  <a:tcPr>
                    <a:solidFill>
                      <a:srgbClr val="1418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123205793</a:t>
                      </a:r>
                    </a:p>
                  </a:txBody>
                  <a:tcPr>
                    <a:solidFill>
                      <a:srgbClr val="14181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006840" y="3657600"/>
            <a:ext cx="2423160" cy="9144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GRUPO 3</a:t>
            </a:r>
            <a:br/>
            <a:r>
              <a:t>Setembro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DAS e RAID são duas decisões diferentes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DAS conecta; RAID distribui dados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DAS e RAID para SBD — UFRJ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08760"/>
            <a:ext cx="5257800" cy="205740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609344"/>
            <a:ext cx="492861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2A78D6"/>
                </a:solidFill>
                <a:latin typeface="Calibri"/>
              </a:defRPr>
            </a:pPr>
            <a:r>
              <a:t>DAS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947672"/>
            <a:ext cx="4928616" cy="153619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Conexão direta ao host, sem rede de armazenamento. O host vê blocos. Simples, porém limitado por baias, portas e domínio do servidor.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508760"/>
            <a:ext cx="5257800" cy="205740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1" y="1609344"/>
            <a:ext cx="492861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2A78D6"/>
                </a:solidFill>
                <a:latin typeface="Calibri"/>
              </a:defRPr>
            </a:pPr>
            <a:r>
              <a:t>RAID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1" y="1947672"/>
            <a:ext cx="4928616" cy="153619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Layout lógico entre discos para paralelismo, redundância ou ambos. Pode existir em software, controladora ou array.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86200"/>
            <a:ext cx="10863072" cy="114300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3986784"/>
            <a:ext cx="10533888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EB6834"/>
                </a:solidFill>
                <a:latin typeface="Calibri"/>
              </a:defRPr>
            </a:pPr>
            <a:r>
              <a:t>Decisão do SGBD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" y="4325112"/>
            <a:ext cx="10533888" cy="62179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Medir latência de flush, filas, cache, falhas, rebuild, RPO e RTO — não apenas Gb/s.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Interfaces 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Taxa nominal não é vazão sustentada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DAS e RAID para SBD — UFRJ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371600"/>
          <a:ext cx="10881358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1874519"/>
                <a:gridCol w="3703320"/>
                <a:gridCol w="3429000"/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Interface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Nominal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Recursos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Uso/estado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SATA 6 Gb/s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6 Gb/s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ponto a ponto; NCQ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custo/capacidade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eSATA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3/6 Gb/s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externo; sem energia original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legado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SAS-4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22,5 Gb/s/lane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dual-port; expansores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empresarial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FireWire 800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800 Mb/s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peer-to-peer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legado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USB 3.2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até 20 Gb/s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host; UASP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backup/dev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USB4 v2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até 80 Gb/s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túneis; negociação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SSD externo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HBA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depende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adaptador SAS/FC etc.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não é protocolo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5440680"/>
            <a:ext cx="10881360" cy="34747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ctr">
              <a:defRPr sz="1150" b="1">
                <a:solidFill>
                  <a:srgbClr val="EB6834"/>
                </a:solidFill>
                <a:latin typeface="Calibri"/>
              </a:defRPr>
            </a:pPr>
            <a:r>
              <a:t>USB4 120 Gb/s é opcional/assimétrico. SATA-IO recomenda “SATA 6 Gb/s”, não “SATA III”.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Paralelismo × redundância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Os mesmos discos financiam os dois objetivos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DAS e RAID para SBD — UFRJ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08760"/>
            <a:ext cx="5257800" cy="214884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609344"/>
            <a:ext cx="492861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2A78D6"/>
                </a:solidFill>
                <a:latin typeface="Calibri"/>
              </a:defRPr>
            </a:pPr>
            <a:r>
              <a:t>Paralelismo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947672"/>
            <a:ext cx="4928616" cy="162763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Striping pode elevar throughput de uma requisição ou atender I/Os independentes. Ganho N× é um limite ideal.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508760"/>
            <a:ext cx="5257800" cy="214884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1" y="1609344"/>
            <a:ext cx="492861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2A78D6"/>
                </a:solidFill>
                <a:latin typeface="Calibri"/>
              </a:defRPr>
            </a:pPr>
            <a:r>
              <a:t>Redundância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1" y="1947672"/>
            <a:ext cx="4928616" cy="162763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Espelho ou paridade mantém informação extra. Disponibilidade é continuar; durabilidade é preservar.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023360"/>
            <a:ext cx="10863072" cy="109728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4123944"/>
            <a:ext cx="10533888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EB6834"/>
                </a:solidFill>
                <a:latin typeface="Calibri"/>
              </a:defRPr>
            </a:pPr>
            <a:r>
              <a:t>Pergunta correta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" y="4462272"/>
            <a:ext cx="10533888" cy="57607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Qual falha é tolerada, quanto dura o rebuild e qual desempenho resta no estado degradado?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Data striping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A granularidade muda o paralelismo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DAS e RAID para SBD — UFRJ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08760"/>
            <a:ext cx="3337560" cy="283464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2A78D6"/>
                </a:solidFill>
                <a:latin typeface="Calibri"/>
              </a:defRPr>
            </a:pPr>
            <a:r>
              <a:t>Bit-level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947672"/>
            <a:ext cx="3008376" cy="231343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Bits espalhados; discos em lockstep. RAID 2 acadêmico.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508760"/>
            <a:ext cx="3337560" cy="283464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1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2A78D6"/>
                </a:solidFill>
                <a:latin typeface="Calibri"/>
              </a:defRPr>
            </a:pPr>
            <a:r>
              <a:t>Byte/fino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9431" y="1947672"/>
            <a:ext cx="3008376" cy="231343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RAID 3: todos os discos participam da I/O; streaming.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508760"/>
            <a:ext cx="3337560" cy="283464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178B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75904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178B67"/>
                </a:solidFill>
                <a:latin typeface="Calibri"/>
              </a:defRPr>
            </a:pPr>
            <a:r>
              <a:t>Block-level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75904" y="1947672"/>
            <a:ext cx="3008376" cy="231343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Chunks inteiros; I/Os independentes. RAID 0/4/5/6.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89204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ctr">
              <a:defRPr sz="1400" b="1">
                <a:solidFill>
                  <a:srgbClr val="2A78D6"/>
                </a:solidFill>
                <a:latin typeface="Calibri"/>
              </a:defRPr>
            </a:pPr>
            <a:r>
              <a:t>Stripe unit = chunk por disco · stripe = conjunto · stripe width = dados antes da paridade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Mirroring, shadowing e paridade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Termos parecidos em camadas diferentes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DAS e RAID para SBD — UFRJ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08760"/>
            <a:ext cx="3337560" cy="306324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2A78D6"/>
                </a:solidFill>
                <a:latin typeface="Calibri"/>
              </a:defRPr>
            </a:pPr>
            <a:r>
              <a:t>Mirroring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947672"/>
            <a:ext cx="3008376" cy="254203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Cópia completa; leituras distribuíveis; toda escrita vai aos membros.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508760"/>
            <a:ext cx="3337560" cy="306324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1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EB6834"/>
                </a:solidFill>
                <a:latin typeface="Calibri"/>
              </a:defRPr>
            </a:pPr>
            <a:r>
              <a:t>Shadowing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9431" y="1947672"/>
            <a:ext cx="3008376" cy="254203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Pode nomear espelho histórico. Shadow paging e snapshot não são RAID 1.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508760"/>
            <a:ext cx="3337560" cy="306324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178B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75904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178B67"/>
                </a:solidFill>
                <a:latin typeface="Calibri"/>
              </a:defRPr>
            </a:pPr>
            <a:r>
              <a:t>Paridade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75904" y="1947672"/>
            <a:ext cx="3008376" cy="254203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P = D₀ ⊕ D₁ ⊕ …; RAID 6 adiciona equação independente.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Write penalty e write hole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A pequena escrita de paridade custa caro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DAS e RAID para SBD — UFRJ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481328"/>
            <a:ext cx="5257800" cy="292608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581912"/>
            <a:ext cx="492861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2A78D6"/>
                </a:solidFill>
                <a:latin typeface="Calibri"/>
              </a:defRPr>
            </a:pPr>
            <a:r>
              <a:t>RAID 5: read-modify-write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920240"/>
            <a:ext cx="4928616" cy="240487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Ler dado antigo + ler paridade antiga + gravar dado novo + gravar paridade nova = 4 I/Os de membro. RAID 6 pode chegar a 6.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81328"/>
            <a:ext cx="5257800" cy="292608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1" y="1581912"/>
            <a:ext cx="492861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EB6834"/>
                </a:solidFill>
                <a:latin typeface="Calibri"/>
              </a:defRPr>
            </a:pPr>
            <a:r>
              <a:t>Consistência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1" y="1920240"/>
            <a:ext cx="4928616" cy="240487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Stripe completo evita leituras antigas. Queda entre dado e paridade causa write hole; cache protegido, journal/bitmap ou RAID-Z tratam o risco.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MTTF, MTBF, MTTR e MTTDL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Modelo útil, hipóteses explícitas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DAS e RAID para SBD — UFRJ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389888"/>
          <a:ext cx="1088136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8321040"/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Métrica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Pergunta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MTTF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tempo médio até falha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MTTR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detecção + troca + reconstrução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MTBF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MTTF + MTTR em convenção didática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MTTDL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tempo médio até perda de dados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Disponibilidade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MTTF/(MTTF+MTTR)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4114800"/>
            <a:ext cx="10881360" cy="41148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ctr">
              <a:defRPr sz="2200" b="1">
                <a:solidFill>
                  <a:srgbClr val="2A78D6"/>
                </a:solidFill>
                <a:latin typeface="Cambria"/>
              </a:defRPr>
            </a:pPr>
            <a:r>
              <a:t>RAID 5 idealizado: MTTDL ≈ MTTF² / [N(N−1)MTTR]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482803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ctr">
              <a:defRPr sz="1400" b="1">
                <a:solidFill>
                  <a:srgbClr val="EB6834"/>
                </a:solidFill>
                <a:latin typeface="Calibri"/>
              </a:defRPr>
            </a:pPr>
            <a:r>
              <a:t>Não inclui URE, falha correlacionada, setor latente nem carga de rebuild.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RAID 0, 1, 5 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Capacidade, falha e escrita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DAS e RAID para SBD — UFRJ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444752"/>
          <a:ext cx="108813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920240"/>
                <a:gridCol w="1325880"/>
                <a:gridCol w="2423160"/>
                <a:gridCol w="3840480"/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2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Nível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Útil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Tolera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Escrita pequena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Uso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N·S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sem paridade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scratch recriável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S/par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1/par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duas cópias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logs/sistema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(N−1)·S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até 4 I/Os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leitura; rebuild analisado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(N−2)·S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até 6 I/Os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grandes conjuntos/leitura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58368" y="4160520"/>
            <a:ext cx="10863072" cy="1115568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4261104"/>
            <a:ext cx="10533888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EB6834"/>
                </a:solidFill>
                <a:latin typeface="Calibri"/>
              </a:defRPr>
            </a:pPr>
            <a:r>
              <a:t>RAID 5 não é “uso geral” automaticamente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4599431"/>
            <a:ext cx="10533888" cy="5943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Discos grandes ampliam reconstrução e exposição a URE; medir no hardware real.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RAID 2, 3 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Referência histórica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DAS e RAID para SBD — UFRJ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08760"/>
            <a:ext cx="3337560" cy="297180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2A78D6"/>
                </a:solidFill>
                <a:latin typeface="Calibri"/>
              </a:defRPr>
            </a:pPr>
            <a:r>
              <a:t>RAID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947672"/>
            <a:ext cx="3008376" cy="245059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Bits + Hamming dedicado; ECC já existe no drive.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508760"/>
            <a:ext cx="3337560" cy="297180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1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2A78D6"/>
                </a:solidFill>
                <a:latin typeface="Calibri"/>
              </a:defRPr>
            </a:pPr>
            <a:r>
              <a:t>RAID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9431" y="1947672"/>
            <a:ext cx="3008376" cy="245059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Striping fino + paridade dedicada; lockstep.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508760"/>
            <a:ext cx="3337560" cy="297180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75904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2A78D6"/>
                </a:solidFill>
                <a:latin typeface="Calibri"/>
              </a:defRPr>
            </a:pPr>
            <a:r>
              <a:t>RAID 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75904" y="1947672"/>
            <a:ext cx="3008376" cy="245059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Blocos + paridade dedicada; gargalo de escrita.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892040"/>
            <a:ext cx="10881360" cy="38404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ctr">
              <a:defRPr sz="1500" b="1">
                <a:solidFill>
                  <a:srgbClr val="178B67"/>
                </a:solidFill>
                <a:latin typeface="Calibri"/>
              </a:defRPr>
            </a:pPr>
            <a:r>
              <a:t>RAID 5 distribui a paridade e remove o ponto quente fixo do RAID 4.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RAID 0+1 × RAID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A ordem muda o domínio de falha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DAS e RAID para SBD — UFRJ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08760"/>
            <a:ext cx="5257800" cy="283464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609344"/>
            <a:ext cx="492861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2A78D6"/>
                </a:solidFill>
                <a:latin typeface="Calibri"/>
              </a:defRPr>
            </a:pPr>
            <a:r>
              <a:t>0+1: espelho de stripes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947672"/>
            <a:ext cx="4928616" cy="231343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Após uma falha, um stripe inteiro pode ficar degradado. Segunda falha no stripe sobrevivente causa perda; rebuild pode copiar o conjunto.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508760"/>
            <a:ext cx="5257800" cy="283464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178B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1" y="1609344"/>
            <a:ext cx="492861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178B67"/>
                </a:solidFill>
                <a:latin typeface="Calibri"/>
              </a:defRPr>
            </a:pPr>
            <a:r>
              <a:t>10: stripe de espelhos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1" y="1947672"/>
            <a:ext cx="4928616" cy="231343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Só o par afetado fica exposto. Falhas em pares distintos podem coexistir; rebuild é localizado.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80060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ctr">
              <a:defRPr sz="1500" b="1">
                <a:solidFill>
                  <a:srgbClr val="EB6834"/>
                </a:solidFill>
                <a:latin typeface="Calibri"/>
              </a:defRPr>
            </a:pPr>
            <a:r>
              <a:t>Mesma capacidade de 50%; RAID 10 costuma ter comportamento de falha/rebuild melhor.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Níveis não padrão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Rótulos de produto e composições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DAS e RAID para SBD — UFRJ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11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389888"/>
          <a:ext cx="10881359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3749039"/>
                <a:gridCol w="5212080"/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Nome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Origem/ideia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Leitura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RAID 1.5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HighPoint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marca; RAID 1 pode balancear leitura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RAID 7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Storage Computer Corp.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produto, não sucessor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RAID-DP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NetApp/WAFL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dupla paridade integrada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RAID-S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EMC Symmetrix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depende da geração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Matrix RAID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Intel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volumes compartilham discos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RAID-Z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ZFS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paridade + checksums; evita write hole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Recomendação por componente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Workload e RPO/RTO decidem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DAS e RAID para SBD — UFRJ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389888"/>
          <a:ext cx="1088136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8920"/>
                <a:gridCol w="3063240"/>
                <a:gridCol w="5029200"/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18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Componente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8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Candidato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8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Critério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WAL/redo/undo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RAID 1/10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flush e cache protegido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Dados OLTP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RAID 10; 6 se leitura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IOPS, tail latency, rebuild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DW/OLAP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RAID 6/60 ou distribuído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throughput e rebuild em carga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Backup local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RAID 6/Z2 no repositório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cópia independente permanece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Temp/scratch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RAID 0 condicionado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recriável dentro do RTO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DAS externo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USB4/SAS externo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energia, flush, recuperação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RAID não é 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Controles complementares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DAS e RAID para SBD — UFRJ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481328"/>
            <a:ext cx="5257800" cy="306324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581912"/>
            <a:ext cx="492861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2A78D6"/>
                </a:solidFill>
                <a:latin typeface="Calibri"/>
              </a:defRPr>
            </a:pPr>
            <a:r>
              <a:t>RAID: continuidade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920240"/>
            <a:ext cx="4928616" cy="254203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Tolera falhas previstas</a:t>
            </a:r>
            <a:br/>
            <a:r>
              <a:t>Mantém serviço durante rebuild</a:t>
            </a:r>
            <a:br/>
            <a:r>
              <a:t>Não preserva versão anterior</a:t>
            </a:r>
            <a:br/>
            <a:r>
              <a:t>Não cobre exclusão/ransomware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81328"/>
            <a:ext cx="5257800" cy="306324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178B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1" y="1581912"/>
            <a:ext cx="492861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178B67"/>
                </a:solidFill>
                <a:latin typeface="Calibri"/>
              </a:defRPr>
            </a:pPr>
            <a:r>
              <a:t>Backup: recuperação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1" y="1920240"/>
            <a:ext cx="4928616" cy="254203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Cópia independente/versionada</a:t>
            </a:r>
            <a:br/>
            <a:r>
              <a:t>Preferência off-site/imutável</a:t>
            </a:r>
            <a:br/>
            <a:r>
              <a:t>RPO e RTO definidos</a:t>
            </a:r>
            <a:br/>
            <a:r>
              <a:t>Restauração testada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98348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ctr">
              <a:defRPr sz="1500" b="1">
                <a:solidFill>
                  <a:srgbClr val="EB6834"/>
                </a:solidFill>
                <a:latin typeface="Calibri"/>
              </a:defRPr>
            </a:pPr>
            <a:r>
              <a:t>Hot spare reduz a janela de exposição; ele também não é backup.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Conclusões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O rótulo é só o começo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DAS e RAID para SBD — UFRJ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389888"/>
            <a:ext cx="1074420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50">
                <a:solidFill>
                  <a:srgbClr val="14181F"/>
                </a:solidFill>
                <a:latin typeface="Calibri"/>
              </a:defRPr>
            </a:pPr>
            <a:r>
              <a:t>•  DAS conecta o host; RAID distribui os dados</a:t>
            </a:r>
          </a:p>
          <a:p>
            <a:pPr>
              <a:spcAft>
                <a:spcPts val="900"/>
              </a:spcAft>
              <a:defRPr sz="1450">
                <a:solidFill>
                  <a:srgbClr val="14181F"/>
                </a:solidFill>
                <a:latin typeface="Calibri"/>
              </a:defRPr>
            </a:pPr>
            <a:r>
              <a:t>•  SATA prioriza custo; SAS acrescenta caminhos; HBA é adaptador</a:t>
            </a:r>
          </a:p>
          <a:p>
            <a:pPr>
              <a:spcAft>
                <a:spcPts val="900"/>
              </a:spcAft>
              <a:defRPr sz="1450">
                <a:solidFill>
                  <a:srgbClr val="14181F"/>
                </a:solidFill>
                <a:latin typeface="Calibri"/>
              </a:defRPr>
            </a:pPr>
            <a:r>
              <a:t>•  Block striping permite I/O independente; bit/fino opera em lockstep</a:t>
            </a:r>
          </a:p>
          <a:p>
            <a:pPr>
              <a:spcAft>
                <a:spcPts val="900"/>
              </a:spcAft>
              <a:defRPr sz="1450">
                <a:solidFill>
                  <a:srgbClr val="14181F"/>
                </a:solidFill>
                <a:latin typeface="Calibri"/>
              </a:defRPr>
            </a:pPr>
            <a:r>
              <a:t>•  RAID 10 compra escrita/rebuild com 50%; RAID 6 compra tolerância com paridade</a:t>
            </a:r>
          </a:p>
          <a:p>
            <a:pPr>
              <a:spcAft>
                <a:spcPts val="900"/>
              </a:spcAft>
              <a:defRPr sz="1450">
                <a:solidFill>
                  <a:srgbClr val="14181F"/>
                </a:solidFill>
                <a:latin typeface="Calibri"/>
              </a:defRPr>
            </a:pPr>
            <a:r>
              <a:t>•  MTTDL orienta; URE, correlação e rebuild exigem teste</a:t>
            </a:r>
          </a:p>
          <a:p>
            <a:pPr>
              <a:spcAft>
                <a:spcPts val="900"/>
              </a:spcAft>
              <a:defRPr sz="1450">
                <a:solidFill>
                  <a:srgbClr val="14181F"/>
                </a:solidFill>
                <a:latin typeface="Calibri"/>
              </a:defRPr>
            </a:pPr>
            <a:r>
              <a:t>•  RAID, backup e recuperação de desastre são complementares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Post-Mortem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Uso crítico e rastreável de IA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DAS e RAID para SBD — UFRJ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08760"/>
            <a:ext cx="3337560" cy="320040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2A78D6"/>
                </a:solidFill>
                <a:latin typeface="Calibri"/>
              </a:defRPr>
            </a:pPr>
            <a:r>
              <a:t>Prompts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947672"/>
            <a:ext cx="3008376" cy="267919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Enunciado, geração, pesquisa e revisão final registrados.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508760"/>
            <a:ext cx="3337560" cy="320040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1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EB6834"/>
                </a:solidFill>
                <a:latin typeface="Calibri"/>
              </a:defRPr>
            </a:pPr>
            <a:r>
              <a:t>11 correções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9431" y="1947672"/>
            <a:ext cx="3008376" cy="267919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Estrutura, interfaces, métricas, níveis, backup e autoria.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508760"/>
            <a:ext cx="3337560" cy="320040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178B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75904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178B67"/>
                </a:solidFill>
                <a:latin typeface="Calibri"/>
              </a:defRPr>
            </a:pPr>
            <a:r>
              <a:t>Pendência humana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75904" y="1947672"/>
            <a:ext cx="3008376" cy="267919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Confirmar grupo e registrar divisão real; nada foi inventado.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325880"/>
            <a:ext cx="10881360" cy="7315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mbria"/>
              </a:defRPr>
            </a:pPr>
            <a:r>
              <a:t>Perguntas e debate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2468880"/>
            <a:ext cx="9875520" cy="13716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ctr">
              <a:defRPr sz="2000" b="0">
                <a:solidFill>
                  <a:srgbClr val="D6DCE5"/>
                </a:solidFill>
                <a:latin typeface="Calibri"/>
              </a:defRPr>
            </a:pPr>
            <a:r>
              <a:t>SSD grande torna RAID 5 mais seguro — ou amplia a janela de risco?</a:t>
            </a:r>
            <a:br/>
            <a:r>
              <a:t>Quando a replicação do SGBD deve substituir RAID?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989320"/>
            <a:ext cx="1088136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ctr">
              <a:defRPr sz="1100" b="0">
                <a:solidFill>
                  <a:srgbClr val="EB6834"/>
                </a:solidFill>
                <a:latin typeface="Calibri"/>
              </a:defRPr>
            </a:pPr>
            <a:r>
              <a:t>Grupo 3 · Setembro de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DAS e RAID para SBD</dc:title>
  <dc:subject/>
  <dc:creator>Grupo CBD — UFRJ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