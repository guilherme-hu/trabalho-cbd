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Apresentar o grupo e o objeto do trabalho: comparar NAS e SAN como arquiteturas de armazenamento físico para SBD, cobrindo protocolos, AST, object storage e a recomendação por nível secundário e terciário.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o início que a apresentação segue a lista do enunciado item a item. Mencionar que o relatório traz uma tabela de checklist mapeando cada exigência à seção correspondente.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slide-chave. Se o professor perguntar uma coisa só, é esta. A diferença entre NAS e SAN não é o cabo nem a banda: é ONDE a fronteira de rede corta a pilha de E/S. Todas as outras diferenças (protocolo, custo, compartilhamento, modelo de falha) decorrem daí.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figura da esquerda para a direita. Em DAS não há rede no caminho. Em SAN a rede carrega blocos SCSI ou NVMe. Em NAS a rede carrega operações de arquivo. As caixas sombreadas são as camadas que deixam de ser responsabilidade do servidor de banco de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régua contra a qual NAS e SAN devem ser avaliados — e não um benchmark genérico. Destacar o item 2: é a LATÊNCIA do fsync, não a banda, que limita a taxa de commits em OLTP. E o item 3: torn page é o motivo de existir o doublewrite buffer do InnoDB e o full_page_writes do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Elmasri &amp; Navathe: os dispositivos NAS 'são, de fato, servidores que não fornecem nenhum dos serviços comuns de servidor, mas simplesmente permitem a adição de armazenamento para compartilhamento de arquivos'. O NAS head é a interface entre o sistema e os clientes de rede.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arguição provável: 'qual a diferença entre SMB e CIFS?'. Resposta: nenhuma de natureza — a Microsoft documenta que o CIFS é um DIALETO do SMB. CIFS designa a família SMB 1. Ao especificar 'SMB/CIFS' num projeto novo em 2026, o que se está de fato especificando é SMB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Marcos: NFSv3 é SEM ESTADO e deixa o travamento fora do protocolo (NLM), o que torna a recuperação após falha frágil. NFSv4 integra travamento e usa uma única porta (2049), o que o torna atravessável por firewall. NFSv4.1 traz sessões com semântica exactly-once e pNFS.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PROVÁVEL, e a primeira versão deste deck não sabia responder: 'explique como o AFP FUNCIONA — não o que aconteceu com ele'. O enunciado pede 'como funciona cada uma das soluções', e nós tínhamos só o obituário. Resposta: protocolo de sessão COM ESTADO, sobre TCP/548 via DSI; comandos bifurcados por fork (FPOpenFork, FPRead/FPWrite) porque o arquivo do Mac tem data fork e resource fork; metadados do Finder como atributos de primeira classe; travamento por intervalo de bytes com FPByteRangeLock, mas amarrado à SESSÃO. Segunda armadilha: cliente ≠ servidor. Dizer 'removido no Big Sur' erra por cinco anos — removeu o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inteira: destacar a linha de coerência de cache (é a que explica o dNFS) e a de custo (é a que explica por que NAS domina data warehouse).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Silberschatz: a SAN dá aos servidores 'uma visão lógica de um disco muito grande e muito confiável'. E Elmasri: 'os dispositivos ligados à SAN aparecem como dispositivos SCSI'. É uma ilusão deliberada, e é ela que faz a SAN funcionar — o SGBD não precisa saber que há uma rede no caminho.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Decisão consciente do grupo: o enunciado lista 'FC Switch' entre as variações de protocolo, mas a norma T11 o define como topologia. Atendemos o item E explicamos a distinção. PERGUNTA PROVÁVEL sobre a caixa de latência: 'dois saltos ainda são locally switched?' — resposta honesta: não, dois saltos implicam ISL, que não é comutação local; por isso o escopo está declarado no slide e a latência da controladora do array está fora da conta. Outra pergunta provável: 'a fabric escala a milhões de endereços?' — o espaço é 2^24, mas o campo Domain_ID tem 239 valores válidos e os fornecedores suportam algumas dezenas de domínios por fabric. É verdade teórica, não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MAIOR RISCO DE PERGUNTA. Três coisas para ter na ponta da língua. (1) A prova de que a FCIA publica full-duplex é FÍSICA: a vazão publicada excede a taxa de linha, e uma direção não pode transportar mais bits do que a linha sinaliza. (2) A FCIA NÃO declara isso em lugar nenhum — a leitura é DERIVAÇÃO NOSSA, e dizemos. (3) A convenção X GFC = X×100 MB/s QUEBRA na Gen 8, porque a linha ficou em 112,2 Gb/s e não nos 115,6 que dobrar exigiria. Nossa primeira versão publicava a tabela de 2016 e afirmava 'fator exatamente 2' — as duas coisas erradas, e é o erro mais grave que cometemos.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 são precisos sobre o efeito de mercado: o iSCSI impactou principalmente empresas de pequeno e médio porte, e as grandes foram lentas por causa do investimento prévio em FC. Norma vigente: RFC 7143 (2014), que obsoleta a RFC 3720 — nossa primeira versão citou a 3720.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Confusão comum e provável alvo de pergunta: iSCSI SUBSTITUI o FC (não há fabric em lugar nenhum); FCIP PRESERVA o FC (as duas pontas são fabrics completas, e o túnel as FUNDE em uma só). Daí o risco operacional: um evento de reconfiguração num sítio se propaga ao outro — por isso existem FC routing e IVR.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o professor tem o livro aberto. Por isso a citação está COMPLETA no slide, e não recortada. Nossa primeira versão apresentava 'três razões pelas quais o livro está errado', e duas delas estavam no próprio parágrafo, três linhas depois da frase que citávamos. A segunda rodada de verificação pegou, e é o tipo de recorte que derruba um trabalho em trinta segundos. O que resta são duas imprecisões REAIS e específicas — e a segunda é a de consequência prática: quem aceitar a analogia vai tentar usar FCoE entre data centers. Não dá.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ALTO RETORNO. Três leituras para conduzir com o ponteiro. (1) iSCSI e FCoE NÃO são variantes um do outro: o iSCSI carrega COMANDOS SCSI sobre TCP/IP; o FCoE carrega o QUADRO FC INTEIRO sobre Ethernet. (2) FCIP e FCoE carregam a MESMA coisa — o quadro FC — e diferem só em sobre o quê: por isso um é roteável e o outro não. (3) O NAS é o único em que o topo da pilha NÃO é comando SCSI: são operações de arquivo. É essa última diferença que decide tudo o mais no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fechamento da parte de protocolos. Serve para o avaliador conferir item a item que os oito protocolos do enunciado foram tratados. Se houver pergunta sobre um deles, voltar ao slide específico.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observação de convergência: quase todo array corporativo hoje é unificado — o mesmo equipamento apresenta LUNs por FC/iSCSI E compartilhamentos por NFS/SMB sobre o mesmo pool. A pergunta virou 'qual protocolo para cada carga?', que é uma pergunta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 definem AST e citam o FAST da EMC. Fomos ao white paper e extraímos os parâmetros exatos: fatia de 256 MB, análise horária, janela de relocação diária 17h–1h, quatro políticas. Proveniência: documentação de fabricante, produto identificado.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de contribuição própria do grupo, e o mais provável de gerar debate. A consequência contra-intuitiva: o AST pode classificar como FRIO exatamente o dado mais QUENTE do banco, porque esse dado mora permanentemente no buffer pool e quase nunca é relido do disco. O que chega ao array é o RESÍDUO que o cache do SGBD não absorveu.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Origem acadêmica correta: CMU (Gibson et al., 1996) e OceanStore em Berkeley (Kubiatowicz et al., 2000). Observação: o que venceu NÃO foi o comando OSD do T10 — foi a API HTTP do S3. O armazenamento por objetos venceu pelo verbo HTTP, não pelo comando SCSI.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Navathe: 'como o armazenamento por objetos força o travamento a ocorrer no nível do objeto, não está claro quão adequado ele é para processamento concorrente de transações em sistemas de alta vazão'. Continua correto. Mas nos domínios em que a latência não importa, venceu completamente.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Escolher por semântica oficialmente suportada, SLA, latência de cauda, failover, RPO/RTO, benchmark e TCO. Bloco não implica obrigatoriamente SAN: NFS/SMB homologados também podem servir ao SGBD.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Provocação deliberada para o debate. A pergunta 'NAS ou SAN?' pressupõe que o motor escreva páginas. Quando o motor deixa de escrever páginas e passa a escrever só log, a pergunta muda de objeto. ATENÇÃO AO RÓTULO, e é provável pergunta: os números NÃO são vazão — são TOTAIS DE UMA JANELA DE 30 MINUTOS, numa carga SysBench só de escrita, sobre 100 GB, numa r3.8xlarge. Se perguntarem 'em quanto tempo?', a resposta é 30 minutos. Nossa primeira versão omitia isso e a segunda rodada de verificação pegou.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 revelador: a taxa comprimida do LTO-10 é declarada 'usando a interface Fibre Channel de 32 Gb'. A biblioteca de fitas moderna é um DISPOSITIVO DA SAN — o nível terciário não é um mundo à parte, é conectado pela mesma fabric, e o dimensionamento do enlace precisa contemplar a janela de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transparente: não tivemos acesso ao vídeo específico mostrado em aula. Em vez de supor qual era, declaramos o critério e o aplicamos. Casos citados apenas em material de divulgação foram descartados. Essa é a decisão de honestidade metodológica do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com respeito — são livros excelentes e o campo se move rápido. A do SATA-3 se prova sozinha dentro da própria frase: se fossem 6 GB/s, seriam 6.000 MB/s, e não os 600 MB/s que o mesmo período afirma. ATENÇÃO: NÃO listamos mais o FCoE como 'erro do livro' — o parágrafo do Elmasri já qualifica a analogia em dois pontos, e nossa versão anterior citava recortado. O que restou está no slide 15, e é menor e honesto. A do LTO foi achada pelo nosso script de verificação, não pela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as três conclusões e emendar direto nas perguntas para o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Oferecer para a discussão em sala e no fórum do AVA. Não são perguntas retóricas: são pontos em que o grupo não tem resposta fechada.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a pergunta 'descreva a sequência de quadros de um comando FCP'. O ponto que rende: a escrita tem o XFER_RDY a mais, e é isso que aparece na latência de fsync do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duas perguntas prováveis e específicas. NDMP é o elo que liga NAS, SAN e nível terciário — e é a resposta correta para 'como se faz backup de um NAS'. hard vs soft é a resposta concreta ao requisito 5 do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perguntas sobre RAID (que ocupa uma seção inteira do Elmasri e quase não aparece no corpo) e sobre o que faz a fabric dupla realmente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defesa. Se houver pergunta sobre a origem de qualquer número do deck, ele está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para perguntas sobre contas.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sobre o Post-Mortem. A família (d) é a que mais ensinou: são erros de ENQUADRAMENTO, não de fato. Em todos os três, cada afirmação isolada era verdadeira — o erro estava no que ficou de fora. Nenhuma verificação de fatos detecta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sobre o processo. As duas cláusulas do prompt são o que faz a técnica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caso o professor pergunte sobre a divisão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03504"/>
            <a:ext cx="1087495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Arquiteturas de Armazenamento Físico</a:t>
            </a:r>
            <a:endParaRPr lang="en-US" sz="3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Sistemas de Banco de Dados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920240"/>
            <a:ext cx="3108960" cy="0"/>
          </a:xfrm>
          <a:prstGeom prst="line">
            <a:avLst/>
          </a:prstGeom>
          <a:noFill/>
          <a:ln w="3302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066544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NAS, SAN, Automated Storage Tiering e armazenamento por objetos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46888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Banco de Dados  ·  IM / DCC — UFRJ  ·  Prof. Milton Ramirez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017520"/>
          <a:ext cx="786384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Bernardo Brandão Pozzato Carvalho Costa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123289593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Enzo de Carvalho Sampaio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123386206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Schmitz Corrêa Rizawinsk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123225573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En Shih Hu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123224674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 Henrique da Silva Pereira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123311073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Vivian Maria da Silva e Souza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123205793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58368" y="6053328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 ·  Setembro de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tem 20 itens obrigatórios; cada um tem lugar marcado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81328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636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distinção que decide tudo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92224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x arquivo, e o que o Database Engine exige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847527" y="166420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58368" y="2267712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35000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578608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+ SMB/CIFS, NFS e AFP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0847527" y="24505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58368" y="3054096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" y="313639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41248" y="3364992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+ FC, FC Switch, iSCSI, FCIP e FCoE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847527" y="323697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58368" y="3840480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392277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e Object Storage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4151376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Tiering automatizado e o terceiro paradigma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847527" y="40233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658368" y="4626864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" y="470916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" y="4937760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secundário (online) e terciário (offline)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847527" y="4809744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658368" y="5413248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1248" y="549554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reais e correções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" y="5724144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documentados + 3 correções ao material-fonte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0847527" y="559612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não é de velocidade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de unidade de abstração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81328"/>
            <a:ext cx="10874959" cy="1225296"/>
          </a:xfrm>
          <a:prstGeom prst="roundRect">
            <a:avLst>
              <a:gd name="adj" fmla="val 4478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1609344"/>
            <a:ext cx="10326319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move a fronteira de rede ABAIXO do sistema de arquivos: o servidor recebe blocos e continua dono do sistema de arquivos.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move a fronteira ACIMA: o servidor recebe arquivos, e o sistema de arquivos é do dispositivo de armazenamento.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58368" y="2889504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297180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— semântica de BLOCO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3200400"/>
            <a:ext cx="5440680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controla alocação, ordenação de escrita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atomicidade de página. Rede dedicada.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Compartilhar exige FS de cluster.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39128" y="2889504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22008" y="297180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— semântica de ARQUIVO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22008" y="3200400"/>
            <a:ext cx="5440680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dispositivo é dono do FS: aloca, faz journaling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arbitra travamento. Compartilhamento nativo.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Coerência de cache é fraca por padrão.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49884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Consequência: a escolha certa é a que o Database Engine precisa controlar — não a que tem o cabo mais rápido.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493776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Silberschatz et al., §12.2; Elmasri &amp; Navathe, §16.11.1 e §16.11.2.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rede corta a pilha de E/S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não corta; SAN corta abaixo do FS; NAS corta acima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8" name="Image 0" descr="fig/pilh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26464"/>
            <a:ext cx="10600639" cy="4160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8368" y="570585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própria a partir das definições de Silberschatz §12.2 e Elmasri &amp; Navathe §16.11.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Database Engine exige do armazenamento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requisitos, em ordem de rigidez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63040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453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Acesso em blocos/páginas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73936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KiB no PostgreSQL e Oracle; 16 KiB no InnoDB. Toda a modelagem de custo de E/S é construída sobre essa unidade.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395728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4780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Durabilidade sob comando (fsync)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706624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só retorna com o log em mídia não volátil. É a LATÊNCIA dessa chamada — não a banda — que limita a vazão de OLTP.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328416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41071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Atomicidade da escrita de página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3639312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energia cai no meio de uma página de 16 KiB, é preciso detectar e reparar. InnoDB: doublewrite buffer. PostgreSQL: full_page_writes.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261104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3434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Travamento previsível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4572000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cluster com armazenamento compartilhado, vários nós escrevem nos mesmos blocos. Tem de ser correto sob falha de nó.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" y="5193792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27608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Comportamento sob falha transitória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504688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caminho some por 30 s: bloqueia, erra, ou devolve sucesso falso? A diferença decide se a instância sobrevive.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— como funciona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dispositivo é dono do sistema de arquivos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44752"/>
            <a:ext cx="10874959" cy="4590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NAS head possui discos organizados internamente, tipicamente em RAID — Elmasri &amp; Navathe registram suporte típico a RAID 0, 1 e 5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esse armazenamento, o NAS head MONTA E OPERA UM SISTEMA DE ARQUIVOS PRÓPRIO (WAFL, ZFS, XFS…)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sistema de arquivos é exportado pela LAN por SMB/CIFS, NFS ou AFP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monta o compartilhamento e enxerga arquivos e diretórios — emite open/read/write/close/lock, não comandos de bloco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749040"/>
            <a:ext cx="10874959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3895344"/>
            <a:ext cx="10399471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que decide tudo: quem executa a alocação de blocos, o journaling de metadados e o controle de concorrência de arquivo é o DISPOSITIVO NAS, não o servidor de banco de dados. O servidor delega.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&amp; Navathe, §16.11.2; Silberschatz et al., §12.2.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 — SMB/CIFS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CIFS não é outro protocolo: é o nome que a Microsoft deu, em 1996, à família SMB 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44752"/>
          <a:ext cx="1087495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148840"/>
                <a:gridCol w="712317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Introduzido 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trouxe de relevante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1.0 (CIFS)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Anos 1980–90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original; verboso, muitas idas e voltas por operação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/ Server 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Reescrita: comandos reduzidos, requisições compostas, créditos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7 / 2008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Leasing de arquivo (cache de cliente mais agressivo e correto)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8 / Server 2012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Direct (RDMA), Multichannel, transparent failover, AES-128-CCM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8.1 / 2012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E/S pequena e aleatória; SMB1 pode ser removido por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10 / Server 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 negociação pré-autenticação; AES-128-GCM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443984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572000"/>
            <a:ext cx="10399471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com SGBD: a Microsoft suporta arquivos do SQL Server 2012+ em fileshare SMB — bancos de sistema e de usuário. Exige SMB 3.0 transparent failover para carga crítica. FILESTREAM NÃO é suportado. Só caminhos UNC.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61441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Microsoft Learn — [MS-SMB2] e 'Install SQL Server with SMB Fileshare Storage'.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II — NFS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protocolo NAS que aparece em instalações sérias de banco de dados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874520"/>
                <a:gridCol w="652881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Introduzida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vigente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 determinante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1094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 UDP; offsets de 32 bits (limite de 2 GiB por arquivo)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1813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bits, escrita assíncrona com COMMIT. SEM ESTADO: travamento fora do protocolo (NLM)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7530 (2015)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ESTADO. Travamento e ACLs no protocolo; operações COMPOUND; porta única 2049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8881 (2020)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Sessões dão semântica exactly-once (com SEQUENCE à frente); pNFS separa metadados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7862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Cópia no servidor, arquivos esparsos, hole punching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3785616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ao ler: “norma vigente” é a RFC EM VIGOR, muitas vezes uma reedição — por isso a v4.2 (2016) parece anteceder a v4.1 (2020). A cronologia real está na coluna “introduzida”.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58368" y="4133088"/>
            <a:ext cx="10874959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96112" y="4224528"/>
            <a:ext cx="10399471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calcanhar de Aquiles é a coerência de cache: o NFS usa close-to-open. O manual nfs(5) do Linux é explícito — “se coerência absoluta de cache entre clientes for necessária, as aplicações devem usar travamento de arquivo” ou “abrir seus arquivos com a flag O_DIRECT”. É por isso que a Oracle reimplementou o cliente NFS DENTRO do motor: o Direct NFS (dNFS), com suporte a NFSv3, v4, v4.1 e pNFS.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requisito 5 (comportamento sob falha transitória) tem resposta concreta aqui: a opção de montagem hard vs soft. Com hard, a E/S bloqueia até o servidor voltar; com soft, retorna erro e o SGBD pode corromper. Para banco, a recomendação dos fornecedores é hard.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572414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RFCs do IETF; man 5 nfs (Linux); Oracle Database Installation Guide 19c.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III — AFP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por que existiu, e por que acabou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5806440" cy="2212848"/>
          </a:xfrm>
          <a:prstGeom prst="roundRect">
            <a:avLst>
              <a:gd name="adj" fmla="val 2479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5389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682496"/>
            <a:ext cx="5440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Sessão COM ESTADO: FPLogin → FPOpenVol 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operações sobre identificadores de sessão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Sobre TCP porta 548, enquadrado pelo DSI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Comandos BIFURCADOS por fork: FPOpenFork,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FPRead / FPWrite — o arquivo do Mac tem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data fork e resource fork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Metadados do Finder como atributos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primeira classe, não emulação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FPByteRangeLock, mas com semântica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SESSÃO: o travamento morre com ela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371600"/>
            <a:ext cx="5806440" cy="2212848"/>
          </a:xfrm>
          <a:prstGeom prst="roundRect">
            <a:avLst>
              <a:gd name="adj" fmla="val 2479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45389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existiu — e o que nunca teve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682496"/>
            <a:ext cx="5440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EXISTIU porque SMB1 e NFS da época não sabiam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o resource fork sem truques (arquivos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._nome, AppleDouble), e o resultado era corrupção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silenciosa de metadados.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TEVE: RDMA, múltiplos canais, disponibilidade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contínua com failover transparente, nem travamento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 de sessão. Parou no conjunto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de um protocolo de escritório.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730752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81304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11 (2020)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041648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Removido o SERVIDOR AFP: um Mac deixa de poder compartilhar pastas por AFP.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425696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50799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15.5 (mai./2025)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4736592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Depreciado o CLIENTE. Texto da Apple: “Apple Filing Protocol (AFP) client is deprecated and will be removed in a future version of macOS.”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" y="5120640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2029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27 (Apple, jul./2026)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431536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Apple informa oficialmente o fim do suporte do Time Machine a destinos AFP.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" y="5833872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Relevância para novas implantações de SBD: protocolo legado e não recomendado. Nas matrizes consultadas de Oracle, Microsoft, PostgreSQL e MySQL, AFP não aparece como configuração suportada. Para NAS com clientes Apple: SMB 3.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— vantagens e desvantagens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a ótica de um SBD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44752"/>
          <a:ext cx="10874959" cy="914400"/>
        </p:xfrm>
        <a:graphic>
          <a:graphicData uri="http://schemas.openxmlformats.org/drawingml/2006/table">
            <a:tbl>
              <a:tblPr/>
              <a:tblGrid>
                <a:gridCol w="5436108"/>
                <a:gridCol w="543610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Desvantagens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a rede Ethernet/IP existente: sem HBA, sem switch FC, sem equipe especializada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 por banda com o tráfego de aplicação, salvo VLAN ou rede física separada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Compartilhamento concorrente nativo, sem FS de cluster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Coerência de cache fraca por padrão (close-to-open); exige O_DIRECT ou cliente dedicado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Provisionamento simples: criar compartilhamento e dar permissão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extra de FS no caminho: metadados, travamento e journaling somam latência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Independência de sistema operacional dos clientes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 atômica de página não é garantida pelo protocolo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Instantâneos e clones no nível de arquivo, com granularidade compreensível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Nem todo recurso do SGBD funciona (FILESTREAM não é suportado sobre SMB)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custo por TB útil, de aquisição e de operação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SMB 3 transparent failover / NFSv4.1 para sobreviver a falhas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79729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própria a partir de Elmasri &amp; Navathe §16.11.2, Microsoft Learn e man 5 nfs.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— como funciona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vê um dispositivo de bloco cru, indistinguível de um disco local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44752"/>
            <a:ext cx="10874959" cy="4590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array agrega discos em pools protegidos por RAID ou codificação de apagamento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pool, o administrador recorta volumes e os apresenta como LUNs (Logical Unit Numbers)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 dedicada transporta COMANDOS SCSI (ou NVMe) entre iniciador no servidor e alvo no array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 vê um dispositivo de bloco cru: /dev/sdb. Formata com o próprio FS, ou entrega cru ao SGBD (é o que o Oracle ASM faz)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749040"/>
            <a:ext cx="5806440" cy="146304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83133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acesso em duas camadas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059936"/>
            <a:ext cx="54406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Zoneamento (no switch): quais iniciadores veem quais alvos.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 masking (no array): quais LUNs cada iniciador enxerga.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Juntos, impedem que o servidor de teste monte o LUN de produção.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39128" y="3749040"/>
            <a:ext cx="5806440" cy="146304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22008" y="383133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sem perdas por BB_Credit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922008" y="4059936"/>
            <a:ext cx="54406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 só transmite se tiver crédito; o crédito volta quando 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 libera um buffer. Sem descarte por congestionamento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isso que permite dispensar o TCP. Brocade G710: 2000 buffers.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537667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Silberschatz et al. §12.2; Elmasri &amp; Navathe §16.11.1; Broadcom, Brocade G710 Product Brief.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Topologias FC — o “FC Switch” do enunciado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 é uma TOPOLOGIA, não um protocolo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63040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453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Ponto-a-ponto (FC-P2P)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73936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dispositivos ligados diretamente. Banda integralmente dedicada, conectividade de dois nós apenas. Uso residual.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633472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71576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loop (FC-AL)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944368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NL_Ports + 1 FL_Port = 127 endereços num anel compartilhado. Banda compartilhada; inserir um nó reinicializa o anel (LIP) e pausa a E/S. OBSOLETA.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803904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8862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fabric (FC-SW)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114800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topologia real de qualquer SAN FC moderna. Comutação cut-through, banda dedicada por porta, roteamento FSPF, zoneamento, 24 bits de endereço. Prática padrão: DUAS fabrics fisicamente independentes (SAN A / SAN B).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974336"/>
            <a:ext cx="10874959" cy="969264"/>
          </a:xfrm>
          <a:prstGeom prst="roundRect">
            <a:avLst>
              <a:gd name="adj" fmla="val 5660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6112" y="5084064"/>
            <a:ext cx="10399471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 Brocade G710: “Latency for locally switched ports is 460 ns (including FEC)” — UM SALTO, comutação local.  Derivação nossa, escopo declarado: 2 × 0,46 µs ÷ 20 µs = 4,6% do acesso, contra o PISO da faixa de latência de SSD (20–100 µs) do Silberschatz.  O que isso prova: a COMUTAÇÃO não é o gargalo. O que NÃO prova: que “a rede” seja 5% — o número exclui HBA, ISL, propagação e o tempo da CONTROLADORA do array, que nenhum fabricante publica de forma comparável (lacuna declarada).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Velocidades FC — a armadilha de rótulo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números diferentes atendem por “128GFC”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508760"/>
                <a:gridCol w="2011680"/>
                <a:gridCol w="2331720"/>
                <a:gridCol w="1005840"/>
                <a:gridCol w="1234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FCIA (MB/s)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direção (derivado)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linha (GBd)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 PAM-4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128GFC  (serial, Gen 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56,1 PAM-4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128GFC  (ISL, 4 vias)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× 28,05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3712464"/>
            <a:ext cx="5806440" cy="2084832"/>
          </a:xfrm>
          <a:prstGeom prst="roundRect">
            <a:avLst>
              <a:gd name="adj" fmla="val 2632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7824" y="3803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é de física, não de opinião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77824" y="4096512"/>
            <a:ext cx="548640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16GFC:  3.200 MB/s = 25,6 Gb/s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linha sinaliza 14,025 Gb/s.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128GFC:  24.850 MB/s = 198,8 Gb/s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linha sinaliza 112,2 Gb/s.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direção não pode transportar mais bits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que a linha sinaliza → é a SOMA DOS DOIS SENTIDOS.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739128" y="3712464"/>
            <a:ext cx="5806440" cy="2084832"/>
          </a:xfrm>
          <a:prstGeom prst="roundRect">
            <a:avLst>
              <a:gd name="adj" fmla="val 2632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3803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convenção quebra na Gen 8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958584" y="4096512"/>
            <a:ext cx="548640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o 64GFC:  X GFC = X × 100 MB/s por direção.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128GFC:  24.850 ÷ 2 = 12.425, e não 12.800.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= 1,94, não 2,00.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a linha ficou em 112,2 Gb/s: a FCIA registra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dobrar exigiria 115,6 Gb/s, “inviável para fechar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link budget”. O nome “128” é arredondamento.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588873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FCIA Fibre Channel Roadmap, speedmap v24 (jul./2023), consultado em set./2026. O terceiro “128GFC” é o legado do FC-PI-8 rev. 1.4: 12.800 MB/s, que a T11 decidiu não atualizar.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 — iSCSI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cru sobre Ethernet comum, e roteável na Internet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26464"/>
            <a:ext cx="10874959" cy="4608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 comandos SCSI dentro de TCP/IP — norma vigente: RFC 7143 (2014), que obsoleta a RFC 3720 (2004)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Iniciador (servidor) e alvo (array) identificados por IQN: iqn.2026-09.br.ufrj.dcc:servidor01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porta 3260 · autenticação CHAP · confidencialidade opcional por IPsec · descoberta por SendTargets ou iSNS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citada pelo livro: “não requer o cabeamento especial necessário ao Fibre Channel e pode operar a distâncias maiores usando a infraestrutura de rede existente”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3913632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995928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custo: a pilha TCP/IP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224528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no host, controle de congestionamento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perda de quadros sob congestão.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39128" y="3913632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22008" y="3995928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mitigações modernas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922008" y="4224528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 / HBA iSCSI dedicada (pilha no adaptador)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iSER — iSCSI Extensions for RDMA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DCB no switch: classe Ethernet sem perdas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563270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IETF RFC 7143; Elmasri &amp; Navathe, §16.11.3.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II — FCIP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substitui o FC: é um TÚNEL entre duas fabrics FC distantes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26464"/>
            <a:ext cx="5806440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087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iSCSI substitui o FC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3736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não tem HBA de Fibre Channel.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SCSI sobre TCP/IP de ponta a ponta.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fabric FC em lugar nenhum.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426464"/>
            <a:ext cx="5806440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5087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FCIP preserva o FC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73736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pontas são fabrics FC completas, com HBAs,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WWNs e zoneamento. O túnel carrega quadros FC pela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IP e FUNDE as duas fabrics em uma só.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072384"/>
            <a:ext cx="108749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Norma: IETF RFC 3821 (2004). Caso de uso real, e único: replicação entre sítios para recuperação de desastre.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58368" y="3493008"/>
            <a:ext cx="10874959" cy="1956816"/>
          </a:xfrm>
          <a:prstGeom prst="roundRect">
            <a:avLst>
              <a:gd name="adj" fmla="val 2804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6112" y="3602736"/>
            <a:ext cx="1039947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distância decide entre síncrono e assíncrono — derivação nossa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" y="3895344"/>
            <a:ext cx="10399471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da luz em fibra ≈ 2 × 10⁸ m/s (índice ≈ 1,5). Replicação síncrona só confirma o commit após ida e volta: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= 2d / (2 × 10⁸)   →   d = 100 km   →   RTT = 2 × 10⁵ / 2 × 10⁸ = 1,0 ms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 por 100 km, só de propagação. Para commit local de ~100 µs, 100 km multiplica a latência por mais de dez. Em longa distância o modo é tipicamente assíncrono; síncrono é possível se o SLA aceitar o impacto. O modo escolhido determina o RPO.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III — FCoE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Precisando o livro-texto — com o parágrafo inteiro à vista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524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" y="1444752"/>
            <a:ext cx="1039947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&amp; Navathe, §16.11.3 — o parágrafo inteiro: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1700784"/>
            <a:ext cx="1039947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“FCoE […] pode ser pensado como iSCSI sem o IP. Ele usa muitos elementos de SCSI e FC (assim como o iSCSI), mas NÃO INCLUI COMPONENTES TCP/IP. […] Ele tira proveito de uma tecnologia Ethernet CONFIÁVEL que usa buffering e controle de fluxo FIM-A-FIM para evitar pacotes descartados.”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23744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 já qualifica a analogia em dois pontos. Uma crítica que ignorasse isso seria um espantalho. Restam duas imprecisões reais: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2889504"/>
            <a:ext cx="10874959" cy="1353312"/>
          </a:xfrm>
          <a:prstGeom prst="roundRect">
            <a:avLst>
              <a:gd name="adj" fmla="val 405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9718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controle de fluxo não é “fim-a-fim” — é ENLACE A ENLACE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200400"/>
            <a:ext cx="1050919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mecanismo é o IEEE 802.1Qbb (PFC): o quadro PAUSE atua entre DOIS VIZINHOS ADJACENTES, por prioridade. Não há realimentação origem→destino como no TCP. É isso que produz o congestion spreading: um alvo lento propaga pausas para trás e degrada tráfego não relacionado que compartilhe o caminho.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334256"/>
            <a:ext cx="10874959" cy="1353312"/>
          </a:xfrm>
          <a:prstGeom prst="roundRect">
            <a:avLst>
              <a:gd name="adj" fmla="val 405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441655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FCoE NÃO é roteável em L3; iSCSI é — e o livro não diz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4645152"/>
            <a:ext cx="1050919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FCoE é um EtherType próprio (0x8906) direto no quadro Ethernet: sem cabeçalho IP, não há o que rotear. Vive num domínio de camada 2. O iSCSI, sobre TCP/IP, atravessa LAN, WAN e Internet. CONSEQUÊNCIA: para ligar dois data centers, o caminho é FCIP ou iSCSI — nunca FCoE.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81558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Normas: T11 FC-BB-5 = ANSI/INCITS 462-2010 (EtherType 0x8906); IEEE 802.1Qbb. Categoria: análise do grupo apoiada em norma — juízo técnico, não citação.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protocolo coloca dentro de quê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pilhas lado a lado — a figura que dispensa três explicações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pic>
        <p:nvPicPr>
          <p:cNvPr id="8" name="Image 0" descr="fig/encapsul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89888"/>
            <a:ext cx="10692079" cy="39502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8368" y="5468112"/>
            <a:ext cx="10874959" cy="603504"/>
          </a:xfrm>
          <a:prstGeom prst="roundRect">
            <a:avLst>
              <a:gd name="adj" fmla="val 9091"/>
            </a:avLst>
          </a:prstGeom>
          <a:solidFill>
            <a:srgbClr val="F4F5F7"/>
          </a:solidFill>
          <a:ln w="1397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541264"/>
            <a:ext cx="103994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leitura: azul = carga SCSI · laranja = quadro Fibre Channel inteiro · cinza = pilha Ethernet/IP comum.  Quem tem IP na pilha, roteia. Quem não tem, não sai do domínio de camada 2.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protocolos do enunciado, lado a lado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item exigido é uma LINHA da tabela — não uma menção em prosa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31520"/>
                <a:gridCol w="2331720"/>
                <a:gridCol w="2331720"/>
                <a:gridCol w="960120"/>
                <a:gridCol w="2825496"/>
              </a:tblGrid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/ origem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Roteável L3?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Aplicabilidade a SGBD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SMB/CIFS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[MS-SMB2]; CIFS = SMB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Suportado (SQL Server 2012+); exige transparent failover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8881 (v4.1)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Suportado com O_DIRECT ou cliente próprio (Oracle dNFS)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Apple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— protocolo encerrado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FCP sobre FC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 (FC-FS, FC-PI)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SCSI em quadros FC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 para OLTP crítico e cluster compartilhado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Switch (FC-SW)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 — é TOPOLOGIA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(transporta FCP)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Obrigatória em produção: 2 fabrics independentes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7143 (2014)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SCSI em TCP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Muito adequada com rede dedicada ou segregada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3821 (2004)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Quadros FC em TCP/IP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é caminho primário: túnel para replicação entre sítios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FCoE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FC-BB-5 = INCITS 462-2010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Quadros FC em Ethernet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Viável mas raro; não atravessa data centers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92531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verificadas na fonte primária; ver referências do relatório.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× SAN — as dimensões que decidem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convergência que os próprios livros já anunciavam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14216"/>
                <a:gridCol w="411480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abstração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(LUN)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sistema de arquivos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dispositivo de armazenamento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 Ethernet/IP compartilhada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Dedicada (FC) ou Ethernet segregada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Compartilhamento entre servidores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Nativo; o dispositivo arbitra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FS de cluster ou LVM ciente de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protocolo (NLM/NFSv4; oplocks no SMB)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servidor — a SAN não sabe o que é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Coerência de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Fraca por padrão (close-to-open)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aplica: o cache é do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relativo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(usa infraestrutura existente)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(HBA, switch, cabeamento, pessoal)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de uso típico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DW, backup, dev/homologação, médio porte com dNFS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crítico, cluster compartilhado, latência de commit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4864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577840"/>
            <a:ext cx="10399471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Convergência: quase todo array corporativo é unificado. “Comprar NAS ou SAN?” virou “qual protocolo apresentar para cada carga?” — pergunta melhor, porque admite respostas diferentes para o tablespace e para a área de dump.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 — Automated Storage Tiering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com os parâmetros reais de um produto documentado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10874959" cy="4645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automaticamente dados entre diferentes tipos de armazenamento — SATA, SAS e SSDs — dependendo da necessidade” (Elmasri &amp; Navathe, §16.11.4)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porque a hierarquia de armazenamento é uma escada de preço por byte, e o acesso é altamente enviesado: comprar flash para o banco inteiro é pagar pelo pior caso em 100% da capacidade</a:t>
            </a:r>
            <a:endParaRPr lang="en-US" sz="13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487168"/>
          <a:ext cx="1087495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665976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 (Dell EMC Unity FAST VP)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documentado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Granularidade de relocação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Fatias (slices) de 256 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 Performance (flash) · Performance (SAS 10K/15K) · Capacity (NL-SAS 7,2K)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Frequência de análise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“Uma vez por hora, o FAST VP analisa os dados coletados e classifica cada fatia”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 de relocação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Agendada; padrão diário, das 17h à 1h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Available · Auto-Tier · START HIGH THEN AUTO-TIER (padrão) · Lowest Available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58368" y="557784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move dados; cache mantém cópia; backup cria versão recuperável; replicação mantém estado corrente. AST não substitui backup. Fonte: Dell H15086.3.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tensão que nenhum dos três livros menciona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já faz tiering — e faz melhor, mais rápido e com mais informação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08176"/>
            <a:ext cx="3441802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90472"/>
            <a:ext cx="30760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Granularidade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19072"/>
            <a:ext cx="3076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manager: página de 8–16 KiB.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VP: fatia de 256 MB.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16.384× maior (256 MiB ÷ 16 KiB).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74490" y="1408176"/>
            <a:ext cx="3441802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57370" y="1490472"/>
            <a:ext cx="30760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Latência de reação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57370" y="1719072"/>
            <a:ext cx="3076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manager: reage AO ACESSO.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AST: reage numa janela de HORAS.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90611" y="1408176"/>
            <a:ext cx="3442716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3491" y="1490472"/>
            <a:ext cx="30769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Informação semântica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73491" y="1719072"/>
            <a:ext cx="307695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 sabe que aquela página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nó raiz de um índice B+.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array vê apenas offsets de LBA.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3182112"/>
            <a:ext cx="10874959" cy="1133856"/>
          </a:xfrm>
          <a:prstGeom prst="roundRect">
            <a:avLst>
              <a:gd name="adj" fmla="val 483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3310128"/>
            <a:ext cx="10362895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contra-intuitiva: o AST enxerga a carga FILTRADA pelo buffer pool. O que chega ao array é o resíduo que o cache do SGBD não absorveu — então um bloco genuinamente quente pode nunca aparecer como quente para o AST. O AST pode classificar como frio exatamente o dado mais quente do banco.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58368" y="4407408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prática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4663440"/>
            <a:ext cx="1087495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em data warehouse e em consolidação de muitos bancos: o padrão de acesso é estável na escala de dias, que é a escala do AST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(ou fixar em Highest Available Tier) para redo/WAL, tempdb e índices críticos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OLTP, CACHING (o dado é copiado, reage em segundos) é quase sempre melhor que TIERING (o dado muda de lugar, reage em horas)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Object-Based Storage — o terceiro paradigma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mão de coisas, deliberadamente, para ganhar escala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2834640"/>
                <a:gridCol w="328269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(SAN)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 (NAS)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de tamanho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 em hierarquia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com metadados e ID global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Endereçamento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+ LBA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hierárquico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nomes plano (bucket + chave)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SCSI /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POSIX, SMB, NFS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REST (PUT, GET, DELETE)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parcial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qualquer bloco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qualquer offset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PUT substitui a chave; multipart não muda a semântica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 típica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a PB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a PB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EXABYTES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Fixos (dono, datas, permissões)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Arbitrários, definidos pela aplicação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443984"/>
            <a:ext cx="10874959" cy="1188720"/>
          </a:xfrm>
          <a:prstGeom prst="roundRect">
            <a:avLst>
              <a:gd name="adj" fmla="val 4615"/>
            </a:avLst>
          </a:prstGeom>
          <a:solidFill>
            <a:srgbClr val="F4F5F7"/>
          </a:solidFill>
          <a:ln w="1651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535424"/>
            <a:ext cx="1039947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essencial: o S3 NÃO é mais eventualmente consistente.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96112" y="4791456"/>
            <a:ext cx="1039947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dezembro de 2020 a AWS documenta consistência forte de leitura após escrita e de listagem. Isso vale por chave/operação; não cria transação ou locking entre chaves. Os 11 noves são objetivo de projeto, não SLA nem previsão empírica.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5779008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Elmasri &amp; Navathe §16.11.5; Amazon S3 FAQs (consultado em set./2026).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storage: onde não serve e onde venceu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ressalva do livro continua correta — mas por razões que vale detalhar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08176"/>
            <a:ext cx="5806440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90472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serve como armazenamento primário de OLTP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19072"/>
            <a:ext cx="544068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modelo S3, PUT publica novo valor para a chave;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multipart muda o transporte, não essa semântica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Latência depende de colocalização e serviço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fsync/ordenação transacional entre chaves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locking transacional entre objetos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408176"/>
            <a:ext cx="5806440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490472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venceu, e venceu completamente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719072"/>
            <a:ext cx="544068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Camada de armazenamento de data warehouses em nuvem: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objetos imutáveis em formato colunar (Parquet, ORC) com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metadados transacionais por cima (Iceberg, Delta Lake).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Escrever uma vez, ler muitas, varrer grandes extensões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Destino de backup e arquivamento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Repositórios de dados não estruturados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968496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3970">
            <a:solidFill>
              <a:srgbClr val="DF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6112" y="4078224"/>
            <a:ext cx="1039947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converter 11 noves em “anos até uma perda”: é durabilidade de projeto, não probabilidade empírica independente por objeto. Não cobre exclusão por credencial válida, corrupção lógica, falhas correlacionadas nem ransomware.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atualização: o exemplo do livro (Seagate Kinetic) não obteve tração comercial. O padrão de fato tornou-se a API HTTP do S3.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— nível secundário (storage online)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perfil de CARGA, não por porte de empresa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423160"/>
                <a:gridCol w="5385816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de carga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crítico, alta taxa de commit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ou NAS homologado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Validar persistência/locking, failover, P99 e suporte oficial do SGBD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com armazenamento compartilhado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(bloco)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Vários nós escrevem nos mesmos blocos com coordenação do SGBD (Oracle ASM sobre LUNs)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de médio porte, OLTP moderado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 ou SAN, após teste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matriz de suporte, falha, latência P99 e TCO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warehouse, OLAP, varredura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 ou objeto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Medir banda/concorrência e validar compatibilidade do motor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Dev, homologação, muitas instâncias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Provisionamento simples, clones finos por instantâneo, sem requisito de latência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Dump, export, staging de ETL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Semântica de arquivo é exatamente a abstração desejada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em nuvem gerenciado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de rede (= SAN)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Volumes de bloco em nuvem são SAN sob outro nome: iniciador no host, alvo remoto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74243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cálculo &lt;5% cobre apenas dois saltos de switch local; exclui HBA, ISL, filas, controladora e alvo. Não representa rede fim a fim.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observação que mais surpreende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pode ser abandonado por inteiro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2646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1536192"/>
            <a:ext cx="1036289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únicas escritas que cruzam a rede são registros de redo log. Nenhuma página é jamais escrita a partir da camada de banco de dados.”   —   “O log é o banco de dados, e quaisquer páginas que o sistema de armazenamento materialize são simplesmente um cache.”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542032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do experimento (Tabela 1 do artigo): SysBench SÓ DE ESCRITA · 100 GB · instância r3.8xlarge · JANELA DE 30 MINUTOS.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852928"/>
          <a:ext cx="10874959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017520"/>
                <a:gridCol w="300837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Totais em 30 minutos (Tabela 1 do artigo)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espelhado sobre EBS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Aurora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Transações no período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27.378.000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E/S por transação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58368" y="4041648"/>
            <a:ext cx="10874959" cy="1243584"/>
          </a:xfrm>
          <a:prstGeom prst="roundRect">
            <a:avLst>
              <a:gd name="adj" fmla="val 4412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96112" y="4133088"/>
            <a:ext cx="10399471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Conferência da conta (regra do grupo: refazer toda conta citada, inclusive de artigo revisado por pares):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27.378.000 ÷ 780.000 = 35,1×  ✓  confere com o “35 vezes mais transações” do artigo.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 ÷ 0,95 = 7,79 → 7,8×, e o artigo enuncia “7,7 vezes menos”. Divergência de arredondamento, registrada.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539496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medição publicada em artigo revisado por pares — Verbitski et al., SIGMOD 2017. Também: 6 cópias em 3 AZs, quórum 4/6 escrita e 3/6 leitura, segmentos de 10 GB.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— nível terciário (storage offline)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 e objeto em classe de arquivamento; a resposta certa é combinar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602736"/>
                <a:gridCol w="49377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(LTO em biblioteca)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em classe de arquivamento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TB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no longo prazo; capital inicial alto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 por TB-mês no Deep Archive (set./2026); sem capital inicial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recuperação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e previsível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COBRADO POR VOLUME RECUPERADO — é o que quebra orçamentos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 recuperação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a horas (montagem + busca sequencial)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a 48 h no Deep Archive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contra ransomware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VANTAGEM DECISIVA: cartucho fora do drive é air gap FÍSICO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object lock / WORM. A proteção é lógica, não física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limitada a poucas gerações; exige migração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Migração é responsabilidade do provedor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315968"/>
            <a:ext cx="10874959" cy="1225296"/>
          </a:xfrm>
          <a:prstGeom prst="roundRect">
            <a:avLst>
              <a:gd name="adj" fmla="val 4478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407408"/>
            <a:ext cx="10399471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 obrigatório: NATIVO ≠ COMPRIMIDO. LTO-10 = 30 e 40 TB NATIVOS (75 e 100 TB comprimidos a 2,5:1). A razão 2,5:1 é ASSUMIDA, não medida — dados já comprimidos pelo SGBD raramente passam de 1,2:1.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DA NOSSA VERIFICAÇÃO POR SCRIPT: a especificação do LTO não fecha. As capacidades batem a 2,5:1 (30×2,5=75 e 40×2,5=100), mas a taxa publicada — 400 MB/s nativos e 1.200 MB/s comprimidos “a 2,5:1” — exigiria 3:1, porque 400×2,5 = 1.000. Não adivinhamos qual era: adotamos só a taxa NATIVA de 400 MB/s.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614416"/>
            <a:ext cx="1087495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e testar: NAS para restauração rápida; objeto imutável/isolado para retenção; fita ejetada para forte air gap físico. A fita não é a única defesa: vaults/contas isolados, imutabilidade e cópias offline também reduzem o alcance de credenciais. Definir RPO/RTO.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Exemplos reais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declarado: só entram casos com documentação primária verificável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5389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CERN — três paradigmas em escala de exabyte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682496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“Processava, em média, um petabyte por dia durante o LHC Run 2”; plano de “mais de 600 petabytes” no Run 3; instâncias EOS excedendo “sete bilhões de arquivos (junho de 2022)”. EOS (disco) + CTA (fita) + Ceph (bloco/objeto).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505456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58775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 — a migração de volta para infraestrutura própria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816352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PB de dados de usuário para o Magic Pocket. Precisão: o texto do Dropbox diz “90% dos dados de clientes” em jul./2016. Contraexemplo instrutivo — mas NÃO generalizável: exige escala de exabyte e equipe dedicada.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639312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72160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Direct NFS — NAS levado a sério para banco de dados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3950208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Oracle suporta produção sobre NFS, desde que pelo seu próprio cliente, com NFSv3, v4, v4.1 e pNFS. É a melhor evidência da tese: NAS entrega abstração alta demais — serve QUANDO O MOTOR PARTICIPA DA DECISÃO.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773168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85546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sobre SMB 3 — SAN dispensada em ambiente Windows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5084064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oficial desde o SQL Server 2012, com requisito de transparent failover para carga crítica. É o caminho pelo qual muitas instalações Windows substituíram a SAN FC por um Scale-Out File Server sobre Ethernet.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581558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fontes primárias listadas nas referências do relatório.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Divergências encontradas nas fontes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nos livros da disciplina, uma de envelhecimento, duas em fontes de fabricante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35024"/>
          <a:ext cx="10874959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63240"/>
                <a:gridCol w="2926080"/>
                <a:gridCol w="2962656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Afirmação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 prática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Silberschatz §12.2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“SATA-3 nominalmente suporta 6 GIGABYTES por segundo, permitindo até 600 megabytes por segundo”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6 GIGABITS/s. A própria frase prova: 6 Gb/s ÷ 8 × (8/10) = 600 MB/s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de bit/byte por fator 8. Verificar UNIDADE antes de valor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§16.2.1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“SATA agora é chamado de NL-SAS, de nearline SAS”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 = mecânica/mídia SATA 7.200 rpm COM interface e protocolo SAS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SAS com discos SATA exige STP/interposer e PERDE multipath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§16.11.3 (precisão, não erro)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“…controle de fluxo FIM-A-FIM para evitar pacotes descartados”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PFC (802.1Qbb) é ENLACE A ENLACE, não fim-a-fim. E o livro não menciona a não-roteabilidade em L3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 o congestion spreading; e impede usar FCoE entre data centers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§16.2.4 (dado datado)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“LTO-6 […] cartucho de 2,5 TB com taxa de 160 MB/s”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LTO-10: 40 TB e 400 MB/s nativos — 16× a capacidade, 2,5× a taxa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um cartucho cheio passou de 4,3 h para 27,8 h: +6,4×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 Program (fabricante)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“400 MB/s nativos e 1.200 MB/s comprimidos A 2,5:1”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fecha: 400 × 2,5 = 1.000. Os 1.200 exigiriam 3:1. As capacidades, essas, fecham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Adotamos só a taxa nativa. Achado do nosso script de verificação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138928"/>
            <a:ext cx="10874959" cy="841248"/>
          </a:xfrm>
          <a:prstGeom prst="roundRect">
            <a:avLst>
              <a:gd name="adj" fmla="val 6522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230368"/>
            <a:ext cx="1039947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de nomenclatura: a grafia normativa do T11 é “FIBRE Channel”, com -re, porque o padrão não exige fibra óptica (as primeiras variantes rodavam sobre cobre). Silberschatz escreve “Fiber Channel FC” e Elmasri alterna entre as duas no mesmo capítulo. O enunciado, corretamente, reconhece as duas: “FC (Fibre/Fiber Channel)”.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para levar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44752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2704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argumento de velocidade envelheceu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55648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ns por salto de COMUTAÇÃO LOCAL, contra 20–100 µs de uma leitura aleatória em SSD: menos de 5% do acesso, mesmo no cenário mais favorável ao argumento contrário. (A conta não inclui HBA, ISL nem a controladora do array — escopo declarado.)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sobra como diferença é SEMÂNTICO — quem garante atomicidade, quem arbitra travamento, o que acontece quando o caminho oscila. É por isso que a Microsoft fala em transparent failover, e não em banda; e que a Oracle reimplementou o cliente NFS dentro do motor.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871216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95351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 rótulo é tão importante quanto o valor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3182112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campo inteiramente normatizado, encontramos quatro casos em que dois números CORRETOS descrevem coisas diferentes: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FCIA full-duplex × T11 por direção (2×) · LTO nativo × comprimido (2,5×) · gigabyte × gigabit (8×) · cliente × servidor do AFP (5 anos).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é erro de pesquisa: todos são erros de LEITURA, e passariam por uma revisão que só conferisse se o número está na fonte.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4297680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437997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 pergunta do enunciado está sendo reformulada pela indústria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608576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AST tenta resolver no array, com 256 MiB e latência de horas, um problema que o buffer manager já resolve com 8–16 KiB e latência de acesso — 16.384 a 32.768× de diferença.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object storage abandonou bloco E arquivo, e venceu onde a latência não importa. E o Aurora mostrou que, quando o motor deixa de escrever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páginas, a escolha entre bloco e arquivo perde parte do sentido. Continua havendo resposta certa para cada carga — mas a fronteira se moveu.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Questões em aberto para o debate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perguntas que consideramos genuinamente abertas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10874959" cy="4645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rede FC é &lt;5% da latência de um acesso NVMe, o que ainda justifica economicamente uma fabric FC dedicada — isolamento operacional, ou inércia de investimento?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AST pode ser CONTRAPRODUCENTE para OLTP? Deveria existir uma interface que exponha as estatísticas do buffer manager ao array — ou o storage deve permanecer deliberadamente ignorante?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granularidade certa para tiering? 256 MB é 16.384× uma página de 16 KiB. Ou o problema é que tiering e caching são mecanismos diferentes vendidos com o mesmo nome?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S3 fornecendo consistência forte desde 2020, qual é a PRÓXIMA barreira real ao objeto como camada primária de um SGBD: latência, imutabilidade, ou ausência de ordenação entre objetos?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convergência (FCoE) fracassou, ou só mudou de nome? O NVMe/TCP promete o mesmo com outra pilha. O que mudou tecnicamente — ou é a mesma aposta com sigla nova?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 ainda tem futuro, ou o air gap é o último argumento? 40 TB a 400 MB/s = 27,8 h para ler um cartucho cheio. A capacidade cresce e a velocidade não.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Aurora mostrou que “o log é o banco de dados”, por que os SGBDs tradicionais não seguiram? Limitação técnica, ou só faz sentido quando o mesmo fornecedor controla motor e armazenamento?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 o FCP, quadro a quadro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por que uma escrita custa uma ida e volta a mais que uma leitura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932688"/>
          </a:xfrm>
          <a:prstGeom prst="roundRect">
            <a:avLst>
              <a:gd name="adj" fmla="val 5882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1517904"/>
            <a:ext cx="1039947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   FCP_CMND  (inic.→alvo, carrega o CDB SCSI e o LUN)   →   FCP_DATA  (alvo→inic.)   →   FCP_RSP  (status, fecha a troca)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1883664"/>
            <a:ext cx="1039947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ESCRITA:   FCP_CMND   →   FCP_XFER_RDY  (o alvo diz quantos bytes pode receber)   →   FCP_DATA   →   FCP_RSP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2523744"/>
            <a:ext cx="5806440" cy="1499616"/>
          </a:xfrm>
          <a:prstGeom prst="roundRect">
            <a:avLst>
              <a:gd name="adj" fmla="val 3659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60604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camadas de controle de fluxo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834640"/>
            <a:ext cx="544068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XFER_RDY → por COMANDO, na camada FC-4.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BB_Credit → por QUADRO, na camada FC-2,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portas adjacentes.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independentes: o congestionamento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não é visível na outra.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39128" y="2523744"/>
            <a:ext cx="5806440" cy="1499616"/>
          </a:xfrm>
          <a:prstGeom prst="roundRect">
            <a:avLst>
              <a:gd name="adj" fmla="val 3659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260604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útil por quadro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922008" y="2834640"/>
            <a:ext cx="544068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2.112 bytes por quadro FC.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bloco de 16 KiB do InnoDB ocupa,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portanto, cerca de 8 quadros.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" y="4187952"/>
            <a:ext cx="10874959" cy="1700784"/>
          </a:xfrm>
          <a:prstGeom prst="roundRect">
            <a:avLst>
              <a:gd name="adj" fmla="val 322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4279392"/>
            <a:ext cx="103628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Dimensionamento por BB_Credit a 10 km — derivação nossa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4572000"/>
            <a:ext cx="10362895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cita “até 10 km de separação” como vantagem da SAN. Quantos créditos isso exige?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km × 5 µs/km = 50 µs por sentido.   A 32GFC (3.200 MB/s por direção):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× 10⁻⁶ s × 3,2 × 10⁹ B/s = 160 KB em voo   →   160.000 ÷ 2.112 ≈ 76 quadros.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Contando o retorno do crédito: ≈ 150 BB_Credits para manter o enlace cheio.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Brocade G710 tem 2.000 — mais de uma ordem de grandeza acima. Quando os créditos acabam o enlace NÃO descarta: ele PARA. É o slow drain.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perguntas de NAS que o corpo do deck não responde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para “como se faz backup de um NAS?” e “e se o servidor sumir?”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150876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faz backup de um NAS? — NDMP (Network Data Management Protocol)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1737360"/>
            <a:ext cx="1050919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NAS corporativo não roda agente de backup. O NDMP separa o canal de CONTROLE (o servidor de backup orquestra) 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DADOS (o NAS escreve DIRETO no drive de fita, sem que os dados atravessem o servidor de backup).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análogo, no mundo de arquivo, da separação metadados/dados do pNFS e do NASD — e é o elo que liga NAS, SAN e nível terciário.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145536"/>
            <a:ext cx="10874959" cy="1389888"/>
          </a:xfrm>
          <a:prstGeom prst="roundRect">
            <a:avLst>
              <a:gd name="adj" fmla="val 3947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22783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 o servidor NFS sumir por 30 segundos? — a opção de montagem hard vs soft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456432"/>
            <a:ext cx="1050919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hard: a E/S BLOQUEIA até o servidor voltar. O processo trava, mas nada é corrompido.  soft: a E/S RETORNA ERRO após os timeouts,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SGBD pode registrar uma escrita como perdida. Para banco de dados, a recomendação dos fornecedores é hard.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resposta concreta ao requisito 5 do slide 4 — e o análogo, no lado SAN, é no_path_retry / fast_io_fail_tmo no multipath.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681728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47640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terciário: onde NAS e SAN entram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4992624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A biblioteca de fitas é DISPOSITIVO DE SAN — o LTO-10 declara sua taxa “usando a interface Fibre Channel de 32 Gb”. A janela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disputa a mesma fabric da produção.   (2) O estágio intermediário é NAS: disk-to-disk-to-tape, e o primeiro disco é 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compartilhamento de arquivos.   (3) O NDMP é o protocolo que faz a ponte. A pergunta “NAS ou SAN no terciário?” tem, portanto, resposta: os dois, em papéis distintos.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e multipath: o que a SAN pressupõe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mecanismos fora da discussão de protocolo e dentro da de arquitetura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810512"/>
          </a:xfrm>
          <a:prstGeom prst="roundRect">
            <a:avLst>
              <a:gd name="adj" fmla="val 3030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517904"/>
            <a:ext cx="103628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penalidade de escrita aplicada ao WAL — derivação nossa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810512"/>
            <a:ext cx="10362895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Custo, em operações físicas, de uma escrita aleatória de um bloco: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 → 2          RAID 5 → 4  (2 leituras + 2 escritas)          RAID 6 → 6  (3 + 3)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log é escrito sequencialmente e sincronizado a CADA COMMIT. Sob RAID 5, toda descarga de log que não preencha uma faixa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paga 4× — e é justamente a taxa de commits que ela limita.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Silberschatz §12.5: “o RAID nível 1 é popular para aplicações como o armazenamento de arquivos de log num sistema de banco de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já que oferece o melhor desempenho de escrita”.   Regra: log em RAID 1/10, dados em RAID 5/6.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383280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46557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e ALUA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694176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fabrics só produzem disponibilidade se houver,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servidor, uma camada que reconheça que os dois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levam ao MESMO LUN: DM-Multipath (Linux),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MPIO (Windows). O ALUA deixa o array informar quais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são otimizados.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39128" y="3383280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346557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parâmetro que decide tudo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922008" y="3694176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no_path_retry / fast_io_fail_tmo: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“enfileirar indefinidamente” CONGELA a instância;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“falhar imediatamente” ABORTA transações.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decisão de projeto, não padrão a aceitar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é o análogo SAN do hard vs soft do NFS.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120640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isto importa para o AST: é a mesma razão pela qual a política do volume de redo deve ser FIXADA, e não deixada ao critério estatístico do array.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Proveniência de todos os números apresentados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valor pertence a uma de cinco categorias — a quinta é legítima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540496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deste deck que pertencem a ela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normativa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RFCs 1094 / 1813 / 7530 / 8881 / 7862 / 7143 / 3821; T11 FC-BB-5 (INCITS 462-2010); dialetos SMB; portas 445, 2049, 548, 3260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de fabricante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Brocade G710: 460 ns e 2000 buffers · Dell EMC Unity FAST VP: 256 MB, análise horária, 17h–1h, 4 políticas · LTO-10: 30/40 TB nativos, 400 MB/s · S3: 11 noves, Deep Archive US$1/TB-mês e 12–48 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SIGMOD 2017: 27.378.000 vs 780.000 transações; 0,95 vs 7,4 IOs/transação · CERN: 1 PB/dia processado no Run 2, &gt;600 PB no Run 3, 7 bilhões de arquivos (jun./2022)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 (conta à mostra)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16GFC: 14,025 × 64/66 ÷ 8 = 1.700 MB/s · FCIP: 2d ÷ 2×10⁸ = 1 ms/100 km · 256 MiB ÷ 16 KiB = 16.384 · 40 TB ÷ 400 MB/s = 27,8 h · 7,4 ÷ 0,95 = 7,8×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ENCONTRADO (declarado)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exata de lançamento do macOS 27 em comunicado formal da Apple · Anúncio de descontinuação da Seagate Kinetic · Tabela numérica completa do FCIA speedmap v24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derivações aritméticas, passo a passo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número for questionado, a conta está aqui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540496"/>
              </a:tblGrid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Grandeza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 por direção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 GBd × 64/66 = 13,60 Gb/s ; 13,60 ÷ 8 = 1,70 GB/s = 1.700 MB/s. Excede em 6,3% o nominal de 1.600, que é CONVENÇÃO T11 (X GFC × 100), não resultado da conta.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FCIA = full-duplex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Speedmap 16GFC = 3.200 MB/s ; 3.200 ÷ 1.600 = 2,00 exato. Idem 8GFC (1.600 ÷ 800) e 64GFC (12.800 ÷ 6.400). DERIVAÇÃO NOSSA — a FCIA não declara isso.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Comutação local FC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saltos × 460 ns = 0,46–0,92 µs; 0,92 ÷ 20 = 4,6%. Exclui HBA, ISL, propagação, fila, controladora e alvo.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FCIP: síncrono × assíncrono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c/n = 3×10⁸ ÷ 1,5 = 2×10⁸ m/s. RTT = 2 × 100.000 m ÷ 2×10⁸ m/s = 1,0 ms por 100 km. Commit local ~100 µs → fator &gt; 10.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 × buffer manager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MiB ÷ 16 KiB = 268.435.456 ÷ 16.384 = 16.384 exatos. (Em MB decimais seriam 15.625 — adotamos a leitura binária, e declaramos.)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de um LTO-10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× 10¹² bytes ÷ 400 × 10⁶ B/s = 100.000 s = 27,8 h.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noves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 projeto, não SLA/probabilidade empírica; não converter em anos até perda.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27.378.000 ÷ 780.000 = 35,1× (artigo diz 35×, confere). 7,4 ÷ 0,95 = 7,79 → 7,8× (artigo diz 7,7×, divergência de arredondamento).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— a fonte NÃO fecha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Capacidades: 30 × 2,5 = 75 ✓ e 40 × 2,5 = 100 ✓. Taxa: 400 × 2,5 = 1.000, mas o LTO publica 1.200 “a 2,5:1” (exigiria 3:1). Adotamos só a taxa nativa.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as 33 correções, por família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foi “alucinação”; todas foram erros bem mais difíceis de detectar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08176"/>
          <a:ext cx="1087495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"/>
                <a:gridCol w="5120640"/>
                <a:gridCol w="2551176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Qtd.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Antídoto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(a) Rótulo errado sobre número certo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full-duplex × por direção · 64b/66b × 256b/257b · Server 2019 × versão 1709 (SAC) · 126 × 127 no FC-AL · CERN “gravou” × “processou” · Aurora sem os 30 min · “&lt;5%” sem a controladora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“Este número mede o quê, em que condições?”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(b) Desatualização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AFP · speedmap v21 · RFC 3720 · RFC 5661 · S3 “eventualmente consistente”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Carimbar data; reverificar qual norma vige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(c) Excesso de confiança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CIFS ≡ SMB 1.0 · Aurora 7,7× não reconferido · Dropbox “concluiu em 2016” · Kinetic “descontinuada” · custos sem proveniência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Refazer TODA conta citada, inclusive de artigo revisado por pares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(d) RECORTE — os 3 mais graves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Lacuna declarada que não existia · “fator exatamente 2” além dos casos tabelados · FCoE citando o livro só até a frase conveniente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o parágrafo INTEIRO: “o que ficou de fora?”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58368" y="5504688"/>
            <a:ext cx="10874959" cy="768096"/>
          </a:xfrm>
          <a:prstGeom prst="roundRect">
            <a:avLst>
              <a:gd name="adj" fmla="val 71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5577840"/>
            <a:ext cx="1036289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lição: verificar FATOS é necessário e não é suficiente. A segunda pergunta não é “isto é verdade?” e sim “O QUE FOI DEIXADO DE FORA PARA QUE ISTO PARECESSE VERDADE?”.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uma IA responde bem. A segunda exige adotar a perspectiva de quem quer derrubar o trabalho — e foi o que o prompt da segunda rodada instruiu.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as duas rodadas de verificação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 1: 18 correções (16 do teste de 48 + 2 externas) · Rodada 2: 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389888"/>
          </a:xfrm>
          <a:prstGeom prst="roundRect">
            <a:avLst>
              <a:gd name="adj" fmla="val 3947"/>
            </a:avLst>
          </a:prstGeom>
          <a:solidFill>
            <a:srgbClr val="F4F5F7"/>
          </a:solidFill>
          <a:ln w="1651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536192"/>
            <a:ext cx="10362895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“Você é um verificador de fatos adversarial. Verifique cada afirmação abaixo com busca web e classifique como CONFIRMADO (com URL), IMPRECISO (com o valor correto), NÃO VERIFICÁVEL ou FALSO. Seja implacável: o objetivo é encontrar erros antes que o professor os encontre. Não confirme nada por plausibilidade — só com fonte. Se não achar fonte, diga NÃO VERIFICÁVEL, o que já é um achado. Ao final, ordene por gravidade o que um avaliador rigoroso poderia usar para derrubar o trabalho.”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944368"/>
            <a:ext cx="1087495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essas duas cláusulas: “não confirme por plausibilidade” impede a validação complacente, que é o modo de falha natural de um verificador automático. “Ordene por gravidade” força a perspectiva do avaliador — é o que transforma uma lista de reparos numa lista de riscos.</a:t>
            </a:r>
            <a:endParaRPr lang="en-US" sz="12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529584"/>
          <a:ext cx="1087495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520440"/>
                <a:gridCol w="515721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verificador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verificação de fatos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“Não confirme nada por plausibilidade — só com fonte.”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correções no teste de 48 afirmações + 2 verificações externas = 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simulação da correção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“As correções que o grupo alega ter encontrado nos livros estão certas mesmo?”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correções, 3 GRAVÍSSIMAS — todas de enquadramento, invisíveis à rodada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correções aplicadas (ver slide anterior)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8368" y="587044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Custo-benefício: as duas rodadas somaram ~25% do esforço e produziram 31 das 33 correções. A rodada 2 encontrou o erro mais grave do trabalho — uma lacuna que declaramos e que não existia — e ele está registrado no corpo do relatório, não apagado.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 — quem fez o quê e quem decidiu o quê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completo na Seção 13.3 do relatório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383280"/>
                <a:gridCol w="4654296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Bernardo Brandão Pozzato Carvalho Costa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SAN, pilha FC, endereçamento, zoneamento, topologias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“FC Switch” como TOPOLOGIA, não protocolo — é como a norma T11 define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Enzo de Carvalho Sampaio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iSCSI, FCIP, FCoE, derivação de latência de propagação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a derivação física (1 ms/100 km) em vez de repetir “serve para longas distâncias”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Schmitz Corrêa Rizawinsk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NAS; SMB/CIFS, NFS e AFP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fabricar aplicação de banco para o AFP; transformar o item em análise de fim de vida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En Shih Hu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Coordenação, integração, AS DUAS rodadas adversariais, Post-Mortem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Escopo enxuto para sobrar tempo de revisão; e registrar os 3 erros gravíssimos NO CORPO DO TEXTO em vez de corrigi-los em silêncio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 Henrique da Silva Pereira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 e object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Adotar a tensão AST × buffer manager como eixo analítico — nenhum livro faz essa ligação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Vivian Maria da Silva e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 (secundário e terciário) e exemplos reais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seleção: só casos com documentação primária. Recomendar por PERFIL DE CARGA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Arquiteturas de Armazenamento para SBD: NAS, SAN, AST e Objetos</dc:title>
  <dc:subject>PptxGenJS Presentation</dc:subject>
  <dc:creator>Grupo CBD - UFRJ</dc:creator>
  <cp:lastModifiedBy>Grupo CBD - UFRJ</cp:lastModifiedBy>
  <cp:revision>1</cp:revision>
  <dcterms:created xsi:type="dcterms:W3CDTF">2026-09-05T22:16:59Z</dcterms:created>
  <dcterms:modified xsi:type="dcterms:W3CDTF">2026-09-05T22:16:59Z</dcterms:modified>
</cp:coreProperties>
</file>