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5790960"/>
            <a:ext cx="5486040" cy="54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95840" y="926280"/>
            <a:ext cx="6465600" cy="4571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5790960"/>
            <a:ext cx="5486040" cy="54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95840" y="926280"/>
            <a:ext cx="6465600" cy="4571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5790960"/>
            <a:ext cx="5486040" cy="54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/>
          <p:nvPr>
            <p:ph idx="2" type="sldImg"/>
          </p:nvPr>
        </p:nvSpPr>
        <p:spPr>
          <a:xfrm>
            <a:off x="195840" y="926280"/>
            <a:ext cx="6465600" cy="4571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1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2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2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9875520" y="548640"/>
            <a:ext cx="2377440" cy="237744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10881360" y="1280160"/>
            <a:ext cx="1463040" cy="146304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8778240" y="1005840"/>
            <a:ext cx="1188720" cy="118872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CONSTRUÇÃO DE BANCO DE DADOS — UFRJ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640080" y="1840885"/>
            <a:ext cx="9601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 Computing &amp;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Cloud Storage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40080" y="3761125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Estudo de Caso: Amazon Web Services (AWS)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640075" y="4884621"/>
            <a:ext cx="91440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Grupo 3: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Bernardo Brandão Pozzato C. Costa - 123289593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Enzo de Carvalho Sampaio - 123386206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Gabriel Schmitz Corrêa Rizawinsk - 123225573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Guilherme En Shih Hu - 123224674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Raphael Henrique da Silva Pereira - 123420783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Vivian Maria da Silva e Souza - 123205793</a:t>
            </a:r>
            <a:endParaRPr b="0" i="0" sz="1400" u="none" cap="none" strike="noStrike">
              <a:solidFill>
                <a:srgbClr val="C9D6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234440" y="1527048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Cloud Computing e Cloud Storage: conceitos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40080" y="217627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640080" y="2176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234440" y="2148840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Modelos de serviço (IaaS, PaaS, SaaS, DBaaS, DWaaS)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234440" y="2770632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Tipos de nuvem (pública, privada, híbrida)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234440" y="3392424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Características fundamentais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40080" y="404164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640080" y="40416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234440" y="4014216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Estudo de caso: AWS (computação, armazenamento, banco de dados)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234440" y="4636008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Estudo de custo: base de 3,5 Petabytes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640080" y="528523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1234440" y="5257800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Conclusão e Post-Mortem (uso de IA)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 que é Cloud Computing?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48640" y="1417320"/>
            <a:ext cx="5668920" cy="4754520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777240" y="1600200"/>
            <a:ext cx="52117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Definição (NIST)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77240" y="2011680"/>
            <a:ext cx="521172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Modelo que permite acesso de rede sob demanda a um conjunto compartilhado de recursos computacionais configuráveis (redes, servidores, armazenamento, aplicações), provisionados rapidamente e com esforço mínimo de gerenciamento.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777240" y="3611880"/>
            <a:ext cx="52117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777240" y="4023360"/>
            <a:ext cx="521172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Persistência de dados oferecida como serviço gerenciado, acessada por rede. Pode expor blocos, arquivos ou objetos; o provedor abstrai a infraestrutura física e a redundância conforme o serviço.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492240" y="1463040"/>
            <a:ext cx="51202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5 características essenciais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492240" y="1965960"/>
            <a:ext cx="2514240" cy="91404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492240" y="1965960"/>
            <a:ext cx="2514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Autoatendimento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 demanda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9189720" y="1965960"/>
            <a:ext cx="2514240" cy="91404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9189720" y="1965960"/>
            <a:ext cx="2514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Amplo acesso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via rede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492240" y="3017520"/>
            <a:ext cx="2514240" cy="91404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492240" y="3017520"/>
            <a:ext cx="2514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 de recursos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compartilhado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9189720" y="3017520"/>
            <a:ext cx="2514240" cy="914040"/>
          </a:xfrm>
          <a:prstGeom prst="roundRect">
            <a:avLst>
              <a:gd fmla="val 8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9189720" y="3017520"/>
            <a:ext cx="2514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Elasticidade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rápida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492240" y="4069080"/>
            <a:ext cx="2514240" cy="91404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492240" y="4069080"/>
            <a:ext cx="2514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Serviço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mensurável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Cloud Storage: Blocos, Arquivos e Objetos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4864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548640" y="1554480"/>
            <a:ext cx="3611520" cy="109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7724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Blocos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7724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Disco virtual conectado a um host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77724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"Disco virtual" bruto conectado a um servidor; o SO cria seu próprio sistema de arquivos. Gravações frequentes em páginas pequenas — o modelo dos bancos relacionais. Exemplo AWS: EBS.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38912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389120" y="1554480"/>
            <a:ext cx="3611520" cy="109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61772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Arquivos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61772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Pastas e diretórios compartilhados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61772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Estrutura tradicional de pastas, acessada por protocolos de rede como NFS ou SMB, compartilhada entre servidores. Exemplo AWS: EFS.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822960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8229600" y="1554480"/>
            <a:ext cx="3611520" cy="109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45820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Objetos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845820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Buckets, chaves e metadados via API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845820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2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arquivo é um objeto isolado, acessado por chave e metadados via HTTP. Não há atualização parcial in-place como em bloco; aplicações normalmente substituem/versionam o objeto. Exemplo AWS: S3.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Consistência, Durabilidade e Disponibilidade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48650" y="1554475"/>
            <a:ext cx="3538200" cy="28950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48650" y="1554475"/>
            <a:ext cx="3538500" cy="109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72622" y="1828796"/>
            <a:ext cx="3135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Consistência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72622" y="2285997"/>
            <a:ext cx="3135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Qual versão o leitor vê?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72622" y="2788918"/>
            <a:ext cx="31353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Qual versão de um dado a leitura observa logo após uma escrita. O S3 garante consistência forte após PUT/DELETE, mas isso não impede gravar um estado logicamente inválido.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311383" y="1554475"/>
            <a:ext cx="3538200" cy="28950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311383" y="1554475"/>
            <a:ext cx="3538500" cy="109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535355" y="1828796"/>
            <a:ext cx="3135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Durabilidade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535355" y="2285997"/>
            <a:ext cx="3135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 dado sobrevive no tempo?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535355" y="2788918"/>
            <a:ext cx="31353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2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Probabilidade estatística de o dado armazenado permanecer intacto ao longo do tempo, resistente a falhas de mídia/infraestrutura (ex.: 11 noves do S3).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8074116" y="1554475"/>
            <a:ext cx="3538200" cy="28950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8074116" y="1554475"/>
            <a:ext cx="3538500" cy="109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8298089" y="1828796"/>
            <a:ext cx="3135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Disponibilidade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8298089" y="2285997"/>
            <a:ext cx="3135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O serviço responde agora?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8298089" y="2788918"/>
            <a:ext cx="31353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Probabilidade de uma operação receber resposta bem-sucedida no momento solicitado, medida na prática por SLAs e SLIs, independente da durabilidade do dado.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48640" y="4686480"/>
            <a:ext cx="11063880" cy="1499760"/>
          </a:xfrm>
          <a:prstGeom prst="roundRect">
            <a:avLst>
              <a:gd fmla="val 35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77240" y="4823640"/>
            <a:ext cx="10605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Distinção central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77240" y="5189040"/>
            <a:ext cx="10605960" cy="8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Durabilidade mede a probabilidade de o dado persistir; disponibilidade mede a probabilidade de o serviço responder; consistência descreve o que uma leitura pode observar. Os 11 noves de durabilidade do S3 não garantem 100% de disponibilidade, nem dispensam versionamento, backup entre contas/regiões e testes periódicos de restauração.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Tipos de Nuvem: Implantação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548640" y="1554480"/>
            <a:ext cx="3611520" cy="448020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48640" y="1554480"/>
            <a:ext cx="3611520" cy="77688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48640" y="1554480"/>
            <a:ext cx="361152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Pública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77240" y="2514600"/>
            <a:ext cx="315432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22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Infraestrutura operada por um provedor e compartilhada entre clientes com isolamento lógico; acesso pode ocorrer pela Internet ou por conectividade privada.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777240" y="4160520"/>
            <a:ext cx="3154320" cy="16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Baixo custo inicial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Elasticidade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Menor controle direto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389120" y="1554480"/>
            <a:ext cx="3611520" cy="448020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389120" y="1554480"/>
            <a:ext cx="3611520" cy="776880"/>
          </a:xfrm>
          <a:prstGeom prst="roundRect">
            <a:avLst>
              <a:gd fmla="val 9412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389120" y="1554480"/>
            <a:ext cx="361152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Privada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617720" y="2514600"/>
            <a:ext cx="315432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Infraestrutura dedicada a uma única organização, on-premises ou hospedada.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617720" y="4160520"/>
            <a:ext cx="3154320" cy="16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Maior controle/isolamento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Custo de capital mais alto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Menor elasticidade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8229600" y="1554480"/>
            <a:ext cx="3611520" cy="448020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229600" y="1554480"/>
            <a:ext cx="3611520" cy="776880"/>
          </a:xfrm>
          <a:prstGeom prst="roundRect">
            <a:avLst>
              <a:gd fmla="val 941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229600" y="1554480"/>
            <a:ext cx="361152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Híbrida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458200" y="2514600"/>
            <a:ext cx="315432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Combinação de nuvem pública e privada, com orquestração entre ambientes.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8458200" y="4160520"/>
            <a:ext cx="3154320" cy="16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Flexibilidade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Dados sensíveis on-prem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+ Picos na nuvem pública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Modelos de Serviço em Nuvem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48640" y="1417320"/>
            <a:ext cx="11063880" cy="895680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48640" y="1417320"/>
            <a:ext cx="109440" cy="895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822960" y="1417320"/>
            <a:ext cx="118836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IaaS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103120" y="1417320"/>
            <a:ext cx="28342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Infrastructure as a Service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029200" y="1417320"/>
            <a:ext cx="46630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Máquinas virtuais, rede e disco. Cliente cuida de SO e aplicação.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9784080" y="1417320"/>
            <a:ext cx="173700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EC2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48640" y="2386440"/>
            <a:ext cx="11063880" cy="89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48640" y="2386440"/>
            <a:ext cx="109440" cy="895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822960" y="2386440"/>
            <a:ext cx="118836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PaaS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103120" y="2386440"/>
            <a:ext cx="28342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Platform as a Service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029200" y="2386440"/>
            <a:ext cx="46630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Plataforma pronta para rodar aplicações (runtime, bibliotecas).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9784080" y="2386440"/>
            <a:ext cx="173700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AWS Elastic Beanstalk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48640" y="3355920"/>
            <a:ext cx="11063880" cy="895680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48640" y="3355920"/>
            <a:ext cx="109440" cy="895680"/>
          </a:xfrm>
          <a:prstGeom prst="rect">
            <a:avLst/>
          </a:prstGeom>
          <a:solidFill>
            <a:srgbClr val="3E7C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822960" y="3355920"/>
            <a:ext cx="118836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7CB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E7CB1"/>
                </a:solidFill>
                <a:latin typeface="Cambria"/>
                <a:ea typeface="Cambria"/>
                <a:cs typeface="Cambria"/>
                <a:sym typeface="Cambria"/>
              </a:rPr>
              <a:t>SaaS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2103120" y="3355920"/>
            <a:ext cx="28342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Software as a Service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029200" y="3355920"/>
            <a:ext cx="46630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Software pronto para uso final, via navegador/app.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784080" y="3355920"/>
            <a:ext cx="173700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QuickSight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48640" y="4325040"/>
            <a:ext cx="11063880" cy="895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48640" y="4325040"/>
            <a:ext cx="109440" cy="8956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22960" y="4325040"/>
            <a:ext cx="118836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DBaaS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103120" y="4325040"/>
            <a:ext cx="28342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Database as a Service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029200" y="4325040"/>
            <a:ext cx="46630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13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Banco gerenciado: backups e patches automatizados; HA/failover quando configurados.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9784080" y="4325040"/>
            <a:ext cx="173700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RDS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48640" y="5294520"/>
            <a:ext cx="11063880" cy="895680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48640" y="5294520"/>
            <a:ext cx="109440" cy="895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822960" y="5294520"/>
            <a:ext cx="118836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9900"/>
                </a:solidFill>
                <a:latin typeface="Cambria"/>
                <a:ea typeface="Cambria"/>
                <a:cs typeface="Cambria"/>
                <a:sym typeface="Cambria"/>
              </a:rPr>
              <a:t>DWaaS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103120" y="5294520"/>
            <a:ext cx="28342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Data Warehouse as a Service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029200" y="5294520"/>
            <a:ext cx="466308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Armazenamento colunar + processamento MPP para OLAP.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9784080" y="5294520"/>
            <a:ext cx="1737000" cy="89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Amazon Redshift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Critérios de Avaliação em Nuvem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4864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48640" y="1554480"/>
            <a:ext cx="3611520" cy="109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7724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Responsabilidade Compartilhada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77724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Quem cuida do quê?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7724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provedor administra a infraestrutura física e a virtualização; o cliente responde por dados, acessos e configurações. Em IaaS, o cliente opera SO e SGBD. Em DBaaS/DWaaS, o provedor automatiza tarefas operacionais; HA/failover dependem da configuração do serviço.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38912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389120" y="1554480"/>
            <a:ext cx="3611520" cy="109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61772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SLA, SLI e SLO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61772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Como medir o serviço?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61772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SLA é o contrato de garantias mínimas do provedor. SLI é a métrica real observada na prática (latência, sucesso). SLO é a meta interna da equipe,  em geral mais rígida que o SLA contratual.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229600" y="1554480"/>
            <a:ext cx="3611520" cy="42058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229600" y="1554480"/>
            <a:ext cx="3611520" cy="109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8458200" y="1828800"/>
            <a:ext cx="32000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RPO, RTO e TCO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458200" y="2286000"/>
            <a:ext cx="32000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Recuperação e custo total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8458200" y="2788920"/>
            <a:ext cx="3200040" cy="28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4607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RPO limita a perda aceitável de dados; RTO limita o tempo de restabelecimento, exigem versionamento e testes de restauração. TCO vai além do GB-mês: soma chamadas de API, consultas, egress e suporte.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548640" y="365760"/>
            <a:ext cx="1106388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Características Fundamentais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567000" y="1115640"/>
            <a:ext cx="1005480" cy="5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548640" y="150876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749880" y="171000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749880" y="171000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749880" y="228600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Acessibilidade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749880" y="265176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Acesso via API, console e SDK de qualquer lugar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410640" y="150876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611880" y="171000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3611880" y="171000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3611880" y="228600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3611880" y="265176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Medida por SLA (ex.: 99,99% ≈ 52 min/ano indisponível)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6272640" y="150876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6473880" y="171000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473880" y="171000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473880" y="228600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Latência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6473880" y="265176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Tempo de resposta; varia por classe de storage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9135000" y="150876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9335880" y="171000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9335880" y="171000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9335880" y="228600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9335880" y="265176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Vertical (scale up) e horizontal (scale out)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48640" y="388620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49880" y="408744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49880" y="408744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49880" y="466344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749880" y="502920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Redundância multi-zona; S3 Standard: 11 noves de durabilidade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3410640" y="388620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3611880" y="408744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3611880" y="408744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3611880" y="466344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3611880" y="502920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Criptografia, IAM, VPC — responsabilidade compartilhada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272640" y="3886200"/>
            <a:ext cx="2678760" cy="214848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6473880" y="4087440"/>
            <a:ext cx="456840" cy="456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6473880" y="4087440"/>
            <a:ext cx="4568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473880" y="4663440"/>
            <a:ext cx="2285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473880" y="5029200"/>
            <a:ext cx="233136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Pay-as-you-go, cobrança granular multi-dimensional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457200" y="653796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11521440" y="653796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640080" y="21488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6E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Estudo de Caso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640080" y="28803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Amazon Web Services (AWS)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Computação · Armazenamento · Banco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Computação — Amazon EC2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Elastic Compute Cloud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Serviço de IaaS que fornece máquinas virtuais (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instâncias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 sob demanda, em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otimizados para computação, memória ou armazenamento. Escala horizontalmente com 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Auto Scaling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, distribuindo carga via</a:t>
            </a:r>
            <a:r>
              <a:rPr b="1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Elastic Load Balancing</a:t>
            </a: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quando surgem picos.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822960" y="39776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Modelos de contratação: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822960" y="4343400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On-Demand — pagamento por hora/segundo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822960" y="4690872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Savings Plans — compromisso flexível, por 1-3 anos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 txBox="1"/>
          <p:nvPr/>
        </p:nvSpPr>
        <p:spPr>
          <a:xfrm>
            <a:off x="822960" y="5038344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Spot Instances — até 90% de desconto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822960" y="5385816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Reserved Instances — compromisso fixo, por 1–3 anos</a:t>
            </a:r>
            <a:endParaRPr b="0" i="0" sz="125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Por que importa para Banco de Dados?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6446520" y="2331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EC2 é a base sobre a qual bancos de dados auto-gerenciados (não DBaaS) são instalados, quando se precisa de controle total sobre o SGBD, versão específica ou configurações avançadas que o RDS não oferece.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26"/>
          <p:cNvCxnSpPr/>
          <p:nvPr/>
        </p:nvCxnSpPr>
        <p:spPr>
          <a:xfrm>
            <a:off x="6446520" y="374904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26"/>
          <p:cNvSpPr txBox="1"/>
          <p:nvPr/>
        </p:nvSpPr>
        <p:spPr>
          <a:xfrm>
            <a:off x="6446520" y="3977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Para persistir dados de forma durável, essas instâncias dependem quase sempre do EBS — armazenamento em bloco, explorado a seguir.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Armazenamento em Bloco — Amazon EBS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 que é o EBS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822960" y="219456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Funciona como um disco rígido virtual, anexado pela rede a uma única instância EC2. O sistema operacional cria nele seu próprio sistema de arquivos — por isso é a escolha natural para instalar um SGBD tradicional.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t/>
            </a:r>
            <a:endParaRPr sz="121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822960" y="39776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Desempenho e elasticidade: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822960" y="434340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Alto IOPS e baixa latência — ideal para páginas de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822960" y="469087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Elastic Volumes: redimensiona sem desligar a instância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822960" y="5038344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Elasticidade vertical — diferente da horizontal do EC2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822960" y="53858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Snapshots incrementais no S3 para backup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Por que não usar o disco da instância?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6446520" y="233172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armazenamento nativo da instância (Instance Store) é efêmero: os dados somem se a instância for encerrada ou falhar. Para persistência real, o EC2 depende quase que exclusivamente do EBS.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7"/>
          <p:cNvCxnSpPr/>
          <p:nvPr/>
        </p:nvCxnSpPr>
        <p:spPr>
          <a:xfrm>
            <a:off x="6446520" y="3749040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7"/>
          <p:cNvSpPr txBox="1"/>
          <p:nvPr/>
        </p:nvSpPr>
        <p:spPr>
          <a:xfrm>
            <a:off x="6446520" y="3977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22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O EBS fornece persistência em bloco para EC2 e, em geral, é usado como storage de uma instância. Ele não é um repositório de objetos compartilhado como o S3 — são abstrações diferentes para workloads diferentes.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/>
        </p:nvSpPr>
        <p:spPr>
          <a:xfrm>
            <a:off x="548640" y="3657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Amazon S3 — Objetos e Arquivamento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566928" y="1115568"/>
            <a:ext cx="1005900" cy="54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548640" y="1554480"/>
            <a:ext cx="5303400" cy="4480500"/>
          </a:xfrm>
          <a:prstGeom prst="roundRect">
            <a:avLst>
              <a:gd fmla="val 1633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822960" y="178308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 modelo de objetos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822960" y="2194560"/>
            <a:ext cx="4755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arquivo é um objeto — dado, metadados e uma chave — dentro de um bucket, acessado via API HTTP/SDK. Não é um disco que se monta no servidor, como o EBS visto na seção anterior.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822960" y="3977640"/>
            <a:ext cx="475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Consistência e durabilidade: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822960" y="4343400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Leitura fortemente consistente após PUT/DELETE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822960" y="4677235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S3 Standard armazena dados em 3+ Zonas de Disponibilidade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822960" y="5038344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11 noves de durabilidade (99,999999999%)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822960" y="5385816"/>
            <a:ext cx="4755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Sem update parcial in-place; objeto é substituído/versionado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6172200" y="1554480"/>
            <a:ext cx="5440800" cy="448050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6446520" y="1828800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Classes de armazenamento (dentro do S3)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6446520" y="2331720"/>
            <a:ext cx="4937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Standard — multi-AZ, dados quentes, sem taxa de leitura. One Zone / Express One Zone — 1 AZ, custo menor ou latência mínima. Standard-IA / One Zone-IA — acesso raro, com taxa de recuperação.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28"/>
          <p:cNvCxnSpPr/>
          <p:nvPr/>
        </p:nvCxnSpPr>
        <p:spPr>
          <a:xfrm>
            <a:off x="6446520" y="3749040"/>
            <a:ext cx="4937700" cy="0"/>
          </a:xfrm>
          <a:prstGeom prst="straightConnector1">
            <a:avLst/>
          </a:prstGeom>
          <a:noFill/>
          <a:ln cap="flat" cmpd="sng" w="12700">
            <a:solidFill>
              <a:srgbClr val="3A4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8"/>
          <p:cNvSpPr txBox="1"/>
          <p:nvPr/>
        </p:nvSpPr>
        <p:spPr>
          <a:xfrm>
            <a:off x="6446520" y="3977640"/>
            <a:ext cx="49377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Glacier não é um serviço à parte — são classes do próprio S3 para arquivamento: Instant Retrieval (ms), Flexible Retrieval (minutos a horas) e Deep Archive (12–48h, menor custo).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Banco de Dados Relacional — RDS e Aurora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548640" y="1554480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731520" y="2235708"/>
            <a:ext cx="685800" cy="685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731520" y="22357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1508760" y="1714480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RDS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657600" y="1714480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DBaaS relacional gerenciado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6400800" y="1714480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Db2, MariaDB, MySQL, Oracle, PostgreSQL e SQL Server.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AWS gerencia backups/PITR e patches.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Multi-AZ = alta disponibilidade; Read Replicas = escala de leitura.</a:t>
            </a:r>
            <a:endParaRPr/>
          </a:p>
        </p:txBody>
      </p:sp>
      <p:sp>
        <p:nvSpPr>
          <p:cNvPr id="397" name="Google Shape;397;p29"/>
          <p:cNvSpPr/>
          <p:nvPr/>
        </p:nvSpPr>
        <p:spPr>
          <a:xfrm>
            <a:off x="548640" y="3877056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731520" y="4558284"/>
            <a:ext cx="685800" cy="6858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731520" y="45582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1508760" y="4037056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Aurora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3657600" y="4037056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0"/>
              <a:buFont typeface="Arial"/>
              <a:buNone/>
            </a:pPr>
            <a:r>
              <a:rPr b="0" i="1" lang="en-US" sz="131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MySQL/PostgreSQL + storage distribuído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6400800" y="4037056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Compatível com MySQL e PostgreSQL.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Volume compartilhado: 6 cópias em 3 AZs e crescimento automático.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Até 15 réplicas; opções Serverless v2 e Global Database.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NoSQL e Data Warehouse — DynamoDB e Redshift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548640" y="1554480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731520" y="2235708"/>
            <a:ext cx="685800" cy="68580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/>
          <p:cNvSpPr txBox="1"/>
          <p:nvPr/>
        </p:nvSpPr>
        <p:spPr>
          <a:xfrm>
            <a:off x="731520" y="22357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1508760" y="1714480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DynamoDB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 txBox="1"/>
          <p:nvPr/>
        </p:nvSpPr>
        <p:spPr>
          <a:xfrm>
            <a:off x="3657600" y="1714480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NoSQL chave-valor / documento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6400800" y="1714480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18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NoSQL serverless chave-valor/documento, com escala automática e latência típica de milissegundos de um dígito — adequado a e-commerce, sessões, jogos e IoT.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548640" y="3877056"/>
            <a:ext cx="11064240" cy="2048256"/>
          </a:xfrm>
          <a:prstGeom prst="rect">
            <a:avLst/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731520" y="4558284"/>
            <a:ext cx="685800" cy="6858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731520" y="4558284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0"/>
          <p:cNvSpPr txBox="1"/>
          <p:nvPr/>
        </p:nvSpPr>
        <p:spPr>
          <a:xfrm>
            <a:off x="1508760" y="4037056"/>
            <a:ext cx="210312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Redshift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3657600" y="4037056"/>
            <a:ext cx="265176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DWaaS — data warehouse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6400800" y="4037056"/>
            <a:ext cx="5029200" cy="1728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Armazenamento colunar e processamento massivamente paralelo (MPP) para consultas OLAP. Integra-se ao data lake via Redshift Spectrum, consultando dados direto no S3.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Estudo de Custo: Base de 3,5 Petabytes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640080" y="1737360"/>
            <a:ext cx="4206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3,5 PB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1"/>
          <p:cNvSpPr txBox="1"/>
          <p:nvPr/>
        </p:nvSpPr>
        <p:spPr>
          <a:xfrm>
            <a:off x="685800" y="288036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3,5 PB = 3,5 × 10¹⁵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≈ 3.183 TiB  ≈  3.259.629 GiB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(S3 chama GiB de “GB” na cobrança)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31"/>
          <p:cNvCxnSpPr/>
          <p:nvPr/>
        </p:nvCxnSpPr>
        <p:spPr>
          <a:xfrm>
            <a:off x="640080" y="4023360"/>
            <a:ext cx="3931920" cy="0"/>
          </a:xfrm>
          <a:prstGeom prst="straightConnector1">
            <a:avLst/>
          </a:prstGeom>
          <a:noFill/>
          <a:ln cap="flat" cmpd="sng" w="19050">
            <a:solidFill>
              <a:srgbClr val="D6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31"/>
          <p:cNvSpPr txBox="1"/>
          <p:nvPr/>
        </p:nvSpPr>
        <p:spPr>
          <a:xfrm>
            <a:off x="640080" y="4206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Premissas do estudo: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640080" y="457200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Região us-east-1 (N. Virgínia)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1"/>
          <p:cNvSpPr txBox="1"/>
          <p:nvPr/>
        </p:nvSpPr>
        <p:spPr>
          <a:xfrm>
            <a:off x="640080" y="493776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Preços públicos, set/2026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 txBox="1"/>
          <p:nvPr/>
        </p:nvSpPr>
        <p:spPr>
          <a:xfrm>
            <a:off x="640080" y="530352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PB em SI; unidades AWS são binárias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 txBox="1"/>
          <p:nvPr/>
        </p:nvSpPr>
        <p:spPr>
          <a:xfrm>
            <a:off x="640080" y="566928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Storage aqui; processamento no slide seguinte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 txBox="1"/>
          <p:nvPr/>
        </p:nvSpPr>
        <p:spPr>
          <a:xfrm>
            <a:off x="5148476" y="1539800"/>
            <a:ext cx="561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S3 Standard: total ≈ US$ 69.015/mês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3_standard_35pb.png" id="443" name="Google Shape;4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2" y="1814456"/>
            <a:ext cx="6309360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Custo por Classe de Armazenamento (S3)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Custo mensal estimado para 3,5 PB, por classe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7635240" y="1828800"/>
            <a:ext cx="3977640" cy="4206240"/>
          </a:xfrm>
          <a:prstGeom prst="roundRect">
            <a:avLst>
              <a:gd fmla="val 183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Leitura rápida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7863840" y="2423160"/>
            <a:ext cx="35661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• Deep Archive reduz o custo de capacidade em ≈95,3%, mas há mínimos de 30/90/180 dias e custos de retrieval/restore.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• Athena sob demanda: US$ 5/TB escaneado. Exemplo: 1% da base = 35 TB ≈ US$ 175/consulta; 100% ≈ US$ 17.500.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80" u="none" cap="none" strike="noStrike">
              <a:solidFill>
                <a:srgbClr val="E8EE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• Na prática: lifecycle + Parquet/particionamento para reduzir storage e scan.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3_classes_35pb.png" id="457" name="Google Shape;4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28800"/>
            <a:ext cx="6858000" cy="420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Vantagens x Desvantagens (3,5 PB na AWS)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EAF6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4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7A46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822960" y="2240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Elasticidade sem CAPEX inicial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822960" y="29260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Durabilidade de 11 noves (S3 Standard)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822960" y="36118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Ecossistema integrado (analytics, ML)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822960" y="42976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Custo granular por camada (lifecycle)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822960" y="49834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4A2E"/>
                </a:solidFill>
                <a:latin typeface="Calibri"/>
                <a:ea typeface="Calibri"/>
                <a:cs typeface="Calibri"/>
                <a:sym typeface="Calibri"/>
              </a:rPr>
              <a:t>+  Segurança e certificações nativas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6172200" y="150876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FB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6446520" y="16916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322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B0322C"/>
                </a:solidFill>
                <a:latin typeface="Calibri"/>
                <a:ea typeface="Calibri"/>
                <a:cs typeface="Calibri"/>
                <a:sym typeface="Calibri"/>
              </a:rPr>
              <a:t>Desvantagens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6446520" y="22402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Custo mensal recorrente e elevado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6446520" y="29260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0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Egress operacional e dependência do provedor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6446520" y="36118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Exige monitoramento contínuo (FinOps)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6446520" y="42976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Latência em dados arquivados (Glacier)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3"/>
          <p:cNvSpPr txBox="1"/>
          <p:nvPr/>
        </p:nvSpPr>
        <p:spPr>
          <a:xfrm>
            <a:off x="6446520" y="498348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1F1B"/>
              </a:buClr>
              <a:buSzPts val="1350"/>
              <a:buFont typeface="Calibri"/>
              <a:buNone/>
            </a:pPr>
            <a:r>
              <a:rPr b="0" i="0" lang="en-US" sz="1260" u="none" cap="none" strike="noStrike">
                <a:solidFill>
                  <a:srgbClr val="6B1F1B"/>
                </a:solidFill>
                <a:latin typeface="Calibri"/>
                <a:ea typeface="Calibri"/>
                <a:cs typeface="Calibri"/>
                <a:sym typeface="Calibri"/>
              </a:rPr>
              <a:t>–  Governança, região e requisitos regulatórios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658368" y="1371600"/>
            <a:ext cx="10058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658368" y="188366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960120" y="182880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A nuvem materializa IaaS/PaaS/SaaS/DBaaS/DWaaS em serviços concretos (EC2, S3/EBS/Glacier, RDS/Aurora/DynamoDB/Redshift).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658368" y="284378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960120" y="278892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Elasticidade, durabilidade e integração são fortes vantagens técnicas da AWS.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658368" y="380390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4"/>
          <p:cNvSpPr txBox="1"/>
          <p:nvPr/>
        </p:nvSpPr>
        <p:spPr>
          <a:xfrm>
            <a:off x="960120" y="37490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Em escala de Petabytes, o custo é recorrente e substancial — a arquitetura de armazenamento (camadas) é decisão de negócio, não só técnica.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658368" y="4764024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960120" y="47091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EF5"/>
                </a:solidFill>
                <a:latin typeface="Calibri"/>
                <a:ea typeface="Calibri"/>
                <a:cs typeface="Calibri"/>
                <a:sym typeface="Calibri"/>
              </a:rPr>
              <a:t>Profissionais de Banco de Dados precisam dominar tanto os serviços quanto seu modelo de precificação.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/>
          <p:cNvSpPr txBox="1"/>
          <p:nvPr/>
        </p:nvSpPr>
        <p:spPr>
          <a:xfrm>
            <a:off x="548640" y="36576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Post-Mortem — Uso de IA Generativa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566928" y="1115568"/>
            <a:ext cx="1005900" cy="549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548640" y="14173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Assistentes utilizados: Claude (Anthropic) e ferramentas da OpenAI (Codex/ChatGPT)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548640" y="1965960"/>
            <a:ext cx="4953000" cy="393180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548640" y="1965960"/>
            <a:ext cx="4953000" cy="91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777240" y="2194560"/>
            <a:ext cx="454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PB (Decimal) vs. PiB (Binário)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777240" y="2697480"/>
            <a:ext cx="4541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1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versão anterior confundia PB e PiB. Mantivemos 3,5 PB no padrão SI (3,5 × 10¹⁵ bytes) e só então convertemos para as unidades binárias de cobrança do S3: ≈3.259.629 GiB. Relatório, gráficos e slides foram reconciliados com a mesma premissa.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6111240" y="1965960"/>
            <a:ext cx="4953000" cy="3931800"/>
          </a:xfrm>
          <a:prstGeom prst="roundRect">
            <a:avLst>
              <a:gd fmla="val 2025" name="adj"/>
            </a:avLst>
          </a:prstGeom>
          <a:solidFill>
            <a:srgbClr val="EAF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6111240" y="1965960"/>
            <a:ext cx="4953000" cy="91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5"/>
          <p:cNvSpPr txBox="1"/>
          <p:nvPr/>
        </p:nvSpPr>
        <p:spPr>
          <a:xfrm>
            <a:off x="6339840" y="2194560"/>
            <a:ext cx="454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Durabilidade ≠ Disponibilidade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6339840" y="2697480"/>
            <a:ext cx="4541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14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 primeira versão aproximava os “11 noves” de durabilidade da disponibilidade. A revisão separou os conceitos: durabilidade mede a persistência do dado; disponibilidade mede se o serviço responde. Versionamento e testes de restauração continuam necessários.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457200" y="653796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Cloud Computing &amp; Cloud Storage — AWS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11521440" y="653796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914400" y="5120640"/>
            <a:ext cx="2011680" cy="201168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9601200" y="457200"/>
            <a:ext cx="2560320" cy="2560320"/>
          </a:xfrm>
          <a:prstGeom prst="ellipse">
            <a:avLst/>
          </a:prstGeom>
          <a:solidFill>
            <a:srgbClr val="2A3A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6"/>
          <p:cNvSpPr txBox="1"/>
          <p:nvPr/>
        </p:nvSpPr>
        <p:spPr>
          <a:xfrm>
            <a:off x="640080" y="2743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Obrigado!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 txBox="1"/>
          <p:nvPr/>
        </p:nvSpPr>
        <p:spPr>
          <a:xfrm>
            <a:off x="640080" y="36576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Perguntas e debate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Grupo 3 · Cloud Computing &amp; Cloud Storage —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