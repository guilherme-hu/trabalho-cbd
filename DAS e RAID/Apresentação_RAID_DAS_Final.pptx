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3" r:id="rId4"/>
    <p:sldMasterId id="2147483674" r:id="rId5"/>
    <p:sldMasterId id="214748367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8d1995b45_3_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8d1995b45_3_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3f8d1995b45_3_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8d1995b45_3_1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f8d1995b45_3_19:notes"/>
          <p:cNvSpPr txBox="1"/>
          <p:nvPr>
            <p:ph idx="1" type="body"/>
          </p:nvPr>
        </p:nvSpPr>
        <p:spPr>
          <a:xfrm>
            <a:off x="685800" y="3300413"/>
            <a:ext cx="5486400" cy="27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3f8d1995b45_3_19:notes"/>
          <p:cNvSpPr txBox="1"/>
          <p:nvPr>
            <p:ph idx="12" type="sldNum"/>
          </p:nvPr>
        </p:nvSpPr>
        <p:spPr>
          <a:xfrm>
            <a:off x="3884613" y="6513910"/>
            <a:ext cx="2971800" cy="34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8d1995b45_3_118:notes"/>
          <p:cNvSpPr/>
          <p:nvPr>
            <p:ph idx="2" type="sldImg"/>
          </p:nvPr>
        </p:nvSpPr>
        <p:spPr>
          <a:xfrm>
            <a:off x="685800" y="857250"/>
            <a:ext cx="5486040" cy="2314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g3f8d1995b45_3_118:notes"/>
          <p:cNvSpPr txBox="1"/>
          <p:nvPr>
            <p:ph idx="1"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f8d1995b45_3_118:notes"/>
          <p:cNvSpPr txBox="1"/>
          <p:nvPr>
            <p:ph idx="12" type="sldNum"/>
          </p:nvPr>
        </p:nvSpPr>
        <p:spPr>
          <a:xfrm>
            <a:off x="3884760" y="6514020"/>
            <a:ext cx="2971440" cy="34371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b="0" i="0" lang="pt-PT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8d1995b45_3_141:notes"/>
          <p:cNvSpPr/>
          <p:nvPr>
            <p:ph idx="2" type="sldImg"/>
          </p:nvPr>
        </p:nvSpPr>
        <p:spPr>
          <a:xfrm>
            <a:off x="685800" y="857250"/>
            <a:ext cx="5486100" cy="2314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g3f8d1995b45_3_141:notes"/>
          <p:cNvSpPr txBox="1"/>
          <p:nvPr>
            <p:ph idx="1" type="body"/>
          </p:nvPr>
        </p:nvSpPr>
        <p:spPr>
          <a:xfrm>
            <a:off x="685800" y="3300480"/>
            <a:ext cx="5486100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f8d1995b45_3_141:notes"/>
          <p:cNvSpPr txBox="1"/>
          <p:nvPr>
            <p:ph idx="12" type="sldNum"/>
          </p:nvPr>
        </p:nvSpPr>
        <p:spPr>
          <a:xfrm>
            <a:off x="3884760" y="6514020"/>
            <a:ext cx="29715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b="0" i="0" lang="pt-PT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8d1995b45_3_164:notes"/>
          <p:cNvSpPr/>
          <p:nvPr>
            <p:ph idx="2" type="sldImg"/>
          </p:nvPr>
        </p:nvSpPr>
        <p:spPr>
          <a:xfrm>
            <a:off x="685800" y="857250"/>
            <a:ext cx="5486100" cy="2314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g3f8d1995b45_3_164:notes"/>
          <p:cNvSpPr txBox="1"/>
          <p:nvPr>
            <p:ph idx="1" type="body"/>
          </p:nvPr>
        </p:nvSpPr>
        <p:spPr>
          <a:xfrm>
            <a:off x="685800" y="3300480"/>
            <a:ext cx="5486100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f8d1995b45_3_164:notes"/>
          <p:cNvSpPr txBox="1"/>
          <p:nvPr>
            <p:ph idx="12" type="sldNum"/>
          </p:nvPr>
        </p:nvSpPr>
        <p:spPr>
          <a:xfrm>
            <a:off x="3884760" y="6514020"/>
            <a:ext cx="29715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b="0" i="0" lang="pt-PT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8d1995b45_3_18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f8d1995b45_3_18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g3f8d1995b45_3_18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8d1995b45_3_20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f8d1995b45_3_20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g3f8d1995b45_3_20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8d1995b45_3_22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f8d1995b45_3_22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g3f8d1995b45_3_22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8d1995b45_3_26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f8d1995b45_3_260:notes"/>
          <p:cNvSpPr txBox="1"/>
          <p:nvPr>
            <p:ph idx="1" type="body"/>
          </p:nvPr>
        </p:nvSpPr>
        <p:spPr>
          <a:xfrm>
            <a:off x="685800" y="3300413"/>
            <a:ext cx="5486400" cy="27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g3f8d1995b45_3_260:notes"/>
          <p:cNvSpPr txBox="1"/>
          <p:nvPr>
            <p:ph idx="12" type="sldNum"/>
          </p:nvPr>
        </p:nvSpPr>
        <p:spPr>
          <a:xfrm>
            <a:off x="3884613" y="6513910"/>
            <a:ext cx="2971800" cy="34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8d1995b45_3_31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3f8d1995b45_3_316:notes"/>
          <p:cNvSpPr txBox="1"/>
          <p:nvPr>
            <p:ph idx="1" type="body"/>
          </p:nvPr>
        </p:nvSpPr>
        <p:spPr>
          <a:xfrm>
            <a:off x="685800" y="3300413"/>
            <a:ext cx="5486400" cy="27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g3f8d1995b45_3_316:notes"/>
          <p:cNvSpPr txBox="1"/>
          <p:nvPr>
            <p:ph idx="12" type="sldNum"/>
          </p:nvPr>
        </p:nvSpPr>
        <p:spPr>
          <a:xfrm>
            <a:off x="3884613" y="6513910"/>
            <a:ext cx="2971800" cy="34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8d1995b45_3_33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g3f8d1995b45_3_33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g3f8d1995b45_3_33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8d1995b45_3_38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g3f8d1995b45_3_381:notes"/>
          <p:cNvSpPr txBox="1"/>
          <p:nvPr>
            <p:ph idx="1" type="body"/>
          </p:nvPr>
        </p:nvSpPr>
        <p:spPr>
          <a:xfrm>
            <a:off x="685800" y="3300413"/>
            <a:ext cx="5486400" cy="27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4" name="Google Shape;444;g3f8d1995b45_3_381:notes"/>
          <p:cNvSpPr txBox="1"/>
          <p:nvPr>
            <p:ph idx="12" type="sldNum"/>
          </p:nvPr>
        </p:nvSpPr>
        <p:spPr>
          <a:xfrm>
            <a:off x="3884613" y="6513910"/>
            <a:ext cx="2971800" cy="34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f8d1995b45_3_459:notes"/>
          <p:cNvSpPr txBox="1"/>
          <p:nvPr>
            <p:ph idx="2" type="hdr"/>
          </p:nvPr>
        </p:nvSpPr>
        <p:spPr>
          <a:xfrm>
            <a:off x="0" y="0"/>
            <a:ext cx="2971800" cy="34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2" name="Google Shape;522;g3f8d1995b45_3_459:notes"/>
          <p:cNvSpPr txBox="1"/>
          <p:nvPr>
            <p:ph idx="10" type="dt"/>
          </p:nvPr>
        </p:nvSpPr>
        <p:spPr>
          <a:xfrm>
            <a:off x="3884613" y="0"/>
            <a:ext cx="2971800" cy="34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3" name="Google Shape;523;g3f8d1995b45_3_459:notes"/>
          <p:cNvSpPr/>
          <p:nvPr>
            <p:ph idx="3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g3f8d1995b45_3_459:notes"/>
          <p:cNvSpPr txBox="1"/>
          <p:nvPr>
            <p:ph idx="1" type="body"/>
          </p:nvPr>
        </p:nvSpPr>
        <p:spPr>
          <a:xfrm>
            <a:off x="685800" y="3300413"/>
            <a:ext cx="5486400" cy="27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5" name="Google Shape;525;g3f8d1995b45_3_459:notes"/>
          <p:cNvSpPr txBox="1"/>
          <p:nvPr>
            <p:ph idx="11" type="ftr"/>
          </p:nvPr>
        </p:nvSpPr>
        <p:spPr>
          <a:xfrm>
            <a:off x="0" y="6513910"/>
            <a:ext cx="2971800" cy="34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g3f8d1995b45_3_459:notes"/>
          <p:cNvSpPr txBox="1"/>
          <p:nvPr>
            <p:ph idx="12" type="sldNum"/>
          </p:nvPr>
        </p:nvSpPr>
        <p:spPr>
          <a:xfrm>
            <a:off x="3884613" y="6513910"/>
            <a:ext cx="2971800" cy="34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f8d1995b45_3_52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g3f8d1995b45_3_52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9" name="Google Shape;589;g3f8d1995b45_3_52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f8d1995b45_3_56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g3f8d1995b45_3_56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5" name="Google Shape;635;g3f8d1995b45_3_56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f8d1995b45_3_61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g3f8d1995b45_3_61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1" name="Google Shape;681;g3f8d1995b45_3_61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f8d1995b45_3_65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g3f8d1995b45_3_65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2" name="Google Shape;722;g3f8d1995b45_3_65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f8d1995b45_3_68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6" name="Google Shape;756;g3f8d1995b45_3_68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7" name="Google Shape;757;g3f8d1995b45_3_68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f8d1995b45_3_73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7" name="Google Shape;807;g3f8d1995b45_3_73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8" name="Google Shape;808;g3f8d1995b45_3_73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f8d1995b45_3_75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8" name="Google Shape;828;g3f8d1995b45_3_75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9" name="Google Shape;829;g3f8d1995b45_3_75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f8d1995b45_3_77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9" name="Google Shape;849;g3f8d1995b45_3_77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0" name="Google Shape;850;g3f8d1995b45_3_77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a74facb84_56_0)">
  <p:cSld name="Generated (g3fa74facb84_56_0)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" type="subTitle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9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idx="1" type="subTitle"/>
          </p:nvPr>
        </p:nvSpPr>
        <p:spPr>
          <a:xfrm>
            <a:off x="457110" y="205200"/>
            <a:ext cx="8229330" cy="398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3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24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3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3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6"/>
          <p:cNvSpPr txBox="1"/>
          <p:nvPr>
            <p:ph idx="1" type="body"/>
          </p:nvPr>
        </p:nvSpPr>
        <p:spPr>
          <a:xfrm>
            <a:off x="457110" y="120339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2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6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7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7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7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7"/>
          <p:cNvSpPr txBox="1"/>
          <p:nvPr>
            <p:ph idx="4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" type="body"/>
          </p:nvPr>
        </p:nvSpPr>
        <p:spPr>
          <a:xfrm>
            <a:off x="45711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8"/>
          <p:cNvSpPr txBox="1"/>
          <p:nvPr>
            <p:ph idx="2" type="body"/>
          </p:nvPr>
        </p:nvSpPr>
        <p:spPr>
          <a:xfrm>
            <a:off x="323973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8"/>
          <p:cNvSpPr txBox="1"/>
          <p:nvPr>
            <p:ph idx="3" type="body"/>
          </p:nvPr>
        </p:nvSpPr>
        <p:spPr>
          <a:xfrm>
            <a:off x="602235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8"/>
          <p:cNvSpPr txBox="1"/>
          <p:nvPr>
            <p:ph idx="4" type="body"/>
          </p:nvPr>
        </p:nvSpPr>
        <p:spPr>
          <a:xfrm>
            <a:off x="45711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8"/>
          <p:cNvSpPr txBox="1"/>
          <p:nvPr>
            <p:ph idx="5" type="body"/>
          </p:nvPr>
        </p:nvSpPr>
        <p:spPr>
          <a:xfrm>
            <a:off x="323973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6" type="body"/>
          </p:nvPr>
        </p:nvSpPr>
        <p:spPr>
          <a:xfrm>
            <a:off x="602235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6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B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9"/>
          <p:cNvSpPr/>
          <p:nvPr/>
        </p:nvSpPr>
        <p:spPr>
          <a:xfrm>
            <a:off x="7680960" y="-891540"/>
            <a:ext cx="2331720" cy="2331720"/>
          </a:xfrm>
          <a:prstGeom prst="ellipse">
            <a:avLst/>
          </a:prstGeom>
          <a:solidFill>
            <a:srgbClr val="415A77">
              <a:alpha val="4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9"/>
          <p:cNvSpPr/>
          <p:nvPr/>
        </p:nvSpPr>
        <p:spPr>
          <a:xfrm>
            <a:off x="8435340" y="137160"/>
            <a:ext cx="1303020" cy="1303020"/>
          </a:xfrm>
          <a:prstGeom prst="ellipse">
            <a:avLst/>
          </a:prstGeom>
          <a:solidFill>
            <a:srgbClr val="E9C46A">
              <a:alpha val="3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9"/>
          <p:cNvSpPr txBox="1"/>
          <p:nvPr/>
        </p:nvSpPr>
        <p:spPr>
          <a:xfrm>
            <a:off x="480060" y="411480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1000"/>
              <a:buFont typeface="Calibri"/>
              <a:buNone/>
            </a:pPr>
            <a:r>
              <a:rPr b="1" i="0" lang="pt-PT" sz="10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CONSTRUÇÃO DE BANCO DE DADOS — UFRJ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9"/>
          <p:cNvSpPr txBox="1"/>
          <p:nvPr/>
        </p:nvSpPr>
        <p:spPr>
          <a:xfrm>
            <a:off x="480060" y="1714500"/>
            <a:ext cx="72009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pt-PT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Armazenamento Físico para SBD: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9"/>
          <p:cNvSpPr txBox="1"/>
          <p:nvPr/>
        </p:nvSpPr>
        <p:spPr>
          <a:xfrm>
            <a:off x="480060" y="2160270"/>
            <a:ext cx="72009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2600"/>
              <a:buFont typeface="Calibri"/>
              <a:buNone/>
            </a:pPr>
            <a:r>
              <a:rPr b="1" i="0" lang="pt-PT" sz="26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DAS e Arquiteturas RAID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9"/>
          <p:cNvSpPr txBox="1"/>
          <p:nvPr/>
        </p:nvSpPr>
        <p:spPr>
          <a:xfrm>
            <a:off x="480060" y="270891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1100"/>
              <a:buFont typeface="Calibri"/>
              <a:buNone/>
            </a:pPr>
            <a:r>
              <a:rPr b="0" i="1" lang="pt-PT" sz="11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Interfaces DAS (SATA, eSATA, SAS, FireWire, USB 3/4, HBA) e Níveis de RAID Padrão e Não Padrão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9"/>
          <p:cNvSpPr txBox="1"/>
          <p:nvPr/>
        </p:nvSpPr>
        <p:spPr>
          <a:xfrm>
            <a:off x="480056" y="3663466"/>
            <a:ext cx="6858000" cy="1068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6E3"/>
              </a:buClr>
              <a:buSzPts val="1100"/>
              <a:buFont typeface="Calibri"/>
              <a:buNone/>
            </a:pPr>
            <a:r>
              <a:rPr b="0" i="0" lang="pt-PT" sz="1100" u="none" cap="none" strike="noStrike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Grupo 3:</a:t>
            </a:r>
            <a:endParaRPr b="0" i="0" sz="1100" u="none" cap="none" strike="noStrike">
              <a:solidFill>
                <a:srgbClr val="C9D6E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6E3"/>
              </a:buClr>
              <a:buSzPts val="1100"/>
              <a:buFont typeface="Calibri"/>
              <a:buChar char="●"/>
            </a:pPr>
            <a:r>
              <a:rPr b="0" i="0" lang="pt-PT" sz="1100" u="none" cap="none" strike="noStrike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Bernardo Brandão Pozzato C. Costa - 123289593</a:t>
            </a:r>
            <a:endParaRPr b="0" i="0" sz="1100" u="none" cap="none" strike="noStrike">
              <a:solidFill>
                <a:srgbClr val="C9D6E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6E3"/>
              </a:buClr>
              <a:buSzPts val="1100"/>
              <a:buFont typeface="Calibri"/>
              <a:buChar char="●"/>
            </a:pPr>
            <a:r>
              <a:rPr b="0" i="0" lang="pt-PT" sz="1100" u="none" cap="none" strike="noStrike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Enzo de Carvalho Sampaio - 123386206</a:t>
            </a:r>
            <a:endParaRPr b="0" i="0" sz="1100" u="none" cap="none" strike="noStrike">
              <a:solidFill>
                <a:srgbClr val="C9D6E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6E3"/>
              </a:buClr>
              <a:buSzPts val="1100"/>
              <a:buFont typeface="Calibri"/>
              <a:buChar char="●"/>
            </a:pPr>
            <a:r>
              <a:rPr b="0" i="0" lang="pt-PT" sz="1100" u="none" cap="none" strike="noStrike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Gabriel Schmitz Corrêa Rizawinsk - 123225573</a:t>
            </a:r>
            <a:endParaRPr b="0" i="0" sz="1100" u="none" cap="none" strike="noStrike">
              <a:solidFill>
                <a:srgbClr val="C9D6E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6E3"/>
              </a:buClr>
              <a:buSzPts val="1100"/>
              <a:buFont typeface="Calibri"/>
              <a:buChar char="●"/>
            </a:pPr>
            <a:r>
              <a:rPr b="0" i="0" lang="pt-PT" sz="1100" u="none" cap="none" strike="noStrike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Guilherme En Shih Hu - 123224674</a:t>
            </a:r>
            <a:endParaRPr b="0" i="0" sz="1100" u="none" cap="none" strike="noStrike">
              <a:solidFill>
                <a:srgbClr val="C9D6E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6E3"/>
              </a:buClr>
              <a:buSzPts val="1100"/>
              <a:buFont typeface="Calibri"/>
              <a:buChar char="●"/>
            </a:pPr>
            <a:r>
              <a:rPr b="0" i="0" lang="pt-PT" sz="1100" u="none" cap="none" strike="noStrike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Raphael Henrique da Silva Pereira - 123420783</a:t>
            </a:r>
            <a:endParaRPr b="0" i="0" sz="1100" u="none" cap="none" strike="noStrike">
              <a:solidFill>
                <a:srgbClr val="C9D6E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6E3"/>
              </a:buClr>
              <a:buSzPts val="1100"/>
              <a:buFont typeface="Calibri"/>
              <a:buChar char="●"/>
            </a:pPr>
            <a:r>
              <a:rPr b="0" i="0" lang="pt-PT" sz="1100" u="none" cap="none" strike="noStrike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Vivian Maria da Silva e Souza - 123205793</a:t>
            </a:r>
            <a:endParaRPr b="0" i="0" sz="1100" u="none" cap="none" strike="noStrike">
              <a:solidFill>
                <a:srgbClr val="C9D6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9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/>
        </p:nvSpPr>
        <p:spPr>
          <a:xfrm>
            <a:off x="342900" y="240030"/>
            <a:ext cx="8435250" cy="41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000"/>
              <a:buFont typeface="Calibri"/>
              <a:buNone/>
            </a:pPr>
            <a:r>
              <a:rPr b="1" i="0" lang="pt-PT" sz="2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Sumário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0"/>
          <p:cNvSpPr/>
          <p:nvPr/>
        </p:nvSpPr>
        <p:spPr>
          <a:xfrm>
            <a:off x="480060" y="1028700"/>
            <a:ext cx="342900" cy="34290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0"/>
          <p:cNvSpPr txBox="1"/>
          <p:nvPr/>
        </p:nvSpPr>
        <p:spPr>
          <a:xfrm>
            <a:off x="480060" y="10287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pt-PT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0"/>
          <p:cNvSpPr txBox="1"/>
          <p:nvPr/>
        </p:nvSpPr>
        <p:spPr>
          <a:xfrm>
            <a:off x="946404" y="1014984"/>
            <a:ext cx="3703275" cy="37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PT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DAS: Conceito e Arquiteturas (DAS, NAS, SAN)</a:t>
            </a:r>
            <a:endParaRPr b="0" i="0" sz="11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0"/>
          <p:cNvSpPr/>
          <p:nvPr/>
        </p:nvSpPr>
        <p:spPr>
          <a:xfrm>
            <a:off x="480060" y="1671638"/>
            <a:ext cx="342900" cy="34290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0"/>
          <p:cNvSpPr txBox="1"/>
          <p:nvPr/>
        </p:nvSpPr>
        <p:spPr>
          <a:xfrm>
            <a:off x="480060" y="1671638"/>
            <a:ext cx="342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PT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0"/>
          <p:cNvSpPr txBox="1"/>
          <p:nvPr/>
        </p:nvSpPr>
        <p:spPr>
          <a:xfrm>
            <a:off x="946406" y="1657913"/>
            <a:ext cx="3091050" cy="37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PT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Interfaces de Conexão (SATA/eSATA, SAS, FireWire, USB, HBA)</a:t>
            </a:r>
            <a:endParaRPr b="0" i="0" sz="11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0"/>
          <p:cNvSpPr/>
          <p:nvPr/>
        </p:nvSpPr>
        <p:spPr>
          <a:xfrm>
            <a:off x="480060" y="2314575"/>
            <a:ext cx="342900" cy="34290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0"/>
          <p:cNvSpPr txBox="1"/>
          <p:nvPr/>
        </p:nvSpPr>
        <p:spPr>
          <a:xfrm>
            <a:off x="480060" y="2314575"/>
            <a:ext cx="342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PT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0"/>
          <p:cNvSpPr txBox="1"/>
          <p:nvPr/>
        </p:nvSpPr>
        <p:spPr>
          <a:xfrm>
            <a:off x="946404" y="2300859"/>
            <a:ext cx="3703275" cy="37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PT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RAID: Conceito, Paralelismo e Redundância</a:t>
            </a:r>
            <a:endParaRPr b="0" i="0" sz="11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0"/>
          <p:cNvSpPr/>
          <p:nvPr/>
        </p:nvSpPr>
        <p:spPr>
          <a:xfrm>
            <a:off x="480060" y="2957513"/>
            <a:ext cx="342900" cy="34290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0"/>
          <p:cNvSpPr txBox="1"/>
          <p:nvPr/>
        </p:nvSpPr>
        <p:spPr>
          <a:xfrm>
            <a:off x="480060" y="2957513"/>
            <a:ext cx="342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PT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0"/>
          <p:cNvSpPr txBox="1"/>
          <p:nvPr/>
        </p:nvSpPr>
        <p:spPr>
          <a:xfrm>
            <a:off x="946404" y="2943797"/>
            <a:ext cx="3703275" cy="37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PT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Organização (Striping, Mirroring, Paridade)</a:t>
            </a:r>
            <a:endParaRPr b="0" i="0" sz="11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0"/>
          <p:cNvSpPr/>
          <p:nvPr/>
        </p:nvSpPr>
        <p:spPr>
          <a:xfrm>
            <a:off x="4732020" y="1028700"/>
            <a:ext cx="342900" cy="34290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0"/>
          <p:cNvSpPr txBox="1"/>
          <p:nvPr/>
        </p:nvSpPr>
        <p:spPr>
          <a:xfrm>
            <a:off x="4732020" y="10287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00"/>
              <a:buFont typeface="Calibri"/>
              <a:buNone/>
            </a:pPr>
            <a:r>
              <a:rPr b="1" i="0" lang="pt-PT" sz="12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0"/>
          <p:cNvSpPr txBox="1"/>
          <p:nvPr/>
        </p:nvSpPr>
        <p:spPr>
          <a:xfrm>
            <a:off x="5198364" y="1014984"/>
            <a:ext cx="3703275" cy="37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PT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Métricas de Confiabilidade (MTTF, MTBF, MTTR, MTTDL)</a:t>
            </a:r>
            <a:endParaRPr b="0" i="0" sz="11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0"/>
          <p:cNvSpPr/>
          <p:nvPr/>
        </p:nvSpPr>
        <p:spPr>
          <a:xfrm>
            <a:off x="4732020" y="1671638"/>
            <a:ext cx="342900" cy="34290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0"/>
          <p:cNvSpPr txBox="1"/>
          <p:nvPr/>
        </p:nvSpPr>
        <p:spPr>
          <a:xfrm>
            <a:off x="4732020" y="1671638"/>
            <a:ext cx="342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PT" sz="12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i="0" sz="12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0"/>
          <p:cNvSpPr txBox="1"/>
          <p:nvPr/>
        </p:nvSpPr>
        <p:spPr>
          <a:xfrm>
            <a:off x="5198364" y="1657922"/>
            <a:ext cx="3703275" cy="37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PT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Níveis Padrão de RAID (0 a 6, 0+1, 10)</a:t>
            </a:r>
            <a:endParaRPr b="0" i="0" sz="11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0"/>
          <p:cNvSpPr/>
          <p:nvPr/>
        </p:nvSpPr>
        <p:spPr>
          <a:xfrm>
            <a:off x="4732020" y="2314575"/>
            <a:ext cx="342900" cy="34290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0"/>
          <p:cNvSpPr txBox="1"/>
          <p:nvPr/>
        </p:nvSpPr>
        <p:spPr>
          <a:xfrm>
            <a:off x="4732020" y="2314575"/>
            <a:ext cx="342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PT" sz="12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i="0" sz="12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0"/>
          <p:cNvSpPr txBox="1"/>
          <p:nvPr/>
        </p:nvSpPr>
        <p:spPr>
          <a:xfrm>
            <a:off x="5198364" y="2300859"/>
            <a:ext cx="3703275" cy="37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PT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Níveis Não Padrão (RAID 1.5, 7, DP, S, Matrix)</a:t>
            </a:r>
            <a:endParaRPr b="0" i="0" sz="11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0"/>
          <p:cNvSpPr txBox="1"/>
          <p:nvPr/>
        </p:nvSpPr>
        <p:spPr>
          <a:xfrm>
            <a:off x="342900" y="4896612"/>
            <a:ext cx="6172200" cy="20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700"/>
              <a:buFont typeface="Calibri"/>
              <a:buNone/>
            </a:pPr>
            <a:r>
              <a:rPr b="0" i="0" lang="pt-PT" sz="7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0"/>
          <p:cNvSpPr/>
          <p:nvPr/>
        </p:nvSpPr>
        <p:spPr>
          <a:xfrm>
            <a:off x="4732020" y="2957513"/>
            <a:ext cx="342900" cy="34290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" name="Google Shape;162;p30"/>
          <p:cNvGrpSpPr/>
          <p:nvPr/>
        </p:nvGrpSpPr>
        <p:grpSpPr>
          <a:xfrm>
            <a:off x="4732020" y="2957513"/>
            <a:ext cx="342900" cy="342900"/>
            <a:chOff x="0" y="0"/>
            <a:chExt cx="457200" cy="457200"/>
          </a:xfrm>
        </p:grpSpPr>
        <p:sp>
          <p:nvSpPr>
            <p:cNvPr id="163" name="Google Shape;163;p30"/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30"/>
            <p:cNvSpPr txBox="1"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pt-PT" sz="12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b="1" i="0" sz="12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30"/>
          <p:cNvGrpSpPr/>
          <p:nvPr/>
        </p:nvGrpSpPr>
        <p:grpSpPr>
          <a:xfrm>
            <a:off x="5198364" y="2943797"/>
            <a:ext cx="3703275" cy="377100"/>
            <a:chOff x="0" y="0"/>
            <a:chExt cx="4937700" cy="502800"/>
          </a:xfrm>
        </p:grpSpPr>
        <p:sp>
          <p:nvSpPr>
            <p:cNvPr id="166" name="Google Shape;166;p30"/>
            <p:cNvSpPr/>
            <p:nvPr/>
          </p:nvSpPr>
          <p:spPr>
            <a:xfrm>
              <a:off x="0" y="0"/>
              <a:ext cx="49377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0"/>
            <p:cNvSpPr txBox="1"/>
            <p:nvPr/>
          </p:nvSpPr>
          <p:spPr>
            <a:xfrm>
              <a:off x="0" y="0"/>
              <a:ext cx="49377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PT" sz="11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Recomendações, Conclusão e Post-Mortem</a:t>
              </a:r>
              <a:endParaRPr b="0" i="0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30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/>
          <p:nvPr/>
        </p:nvSpPr>
        <p:spPr>
          <a:xfrm>
            <a:off x="342900" y="240030"/>
            <a:ext cx="8435070" cy="411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000"/>
              <a:buFont typeface="Calibri"/>
              <a:buNone/>
            </a:pPr>
            <a:r>
              <a:rPr b="1" i="0" lang="pt-PT" sz="2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O que é Direct Attached Storage (DAS)?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1"/>
          <p:cNvSpPr/>
          <p:nvPr/>
        </p:nvSpPr>
        <p:spPr>
          <a:xfrm>
            <a:off x="411480" y="960120"/>
            <a:ext cx="4320270" cy="3703050"/>
          </a:xfrm>
          <a:prstGeom prst="roundRect">
            <a:avLst>
              <a:gd fmla="val 1481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320" rotWithShape="0" algn="bl" dir="5400000" dist="25560">
              <a:srgbClr val="1B263B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1"/>
          <p:cNvSpPr/>
          <p:nvPr/>
        </p:nvSpPr>
        <p:spPr>
          <a:xfrm>
            <a:off x="617220" y="1131570"/>
            <a:ext cx="3908790" cy="27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Definição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1"/>
          <p:cNvSpPr/>
          <p:nvPr/>
        </p:nvSpPr>
        <p:spPr>
          <a:xfrm>
            <a:off x="617220" y="1440180"/>
            <a:ext cx="3908790" cy="10970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000"/>
              <a:buFont typeface="Calibri"/>
              <a:buNone/>
            </a:pPr>
            <a:r>
              <a:rPr b="0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Arquitetura em que um ou mais discos — ou um arranjo RAID de discos — estão conectados diretamente a um único servidor, por uma interface local (SATA, SAS, USB, ou um HBA), sem passar por uma rede de armazenamento dedicada.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1"/>
          <p:cNvSpPr/>
          <p:nvPr/>
        </p:nvSpPr>
        <p:spPr>
          <a:xfrm>
            <a:off x="617220" y="2571750"/>
            <a:ext cx="3908790" cy="23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Vantagens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1"/>
          <p:cNvSpPr/>
          <p:nvPr/>
        </p:nvSpPr>
        <p:spPr>
          <a:xfrm>
            <a:off x="617220" y="2811780"/>
            <a:ext cx="3908790" cy="685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000"/>
              <a:buFont typeface="Calibri"/>
              <a:buNone/>
            </a:pPr>
            <a:r>
              <a:rPr b="0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•  Menor latência (sem overhead de rede)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000"/>
              <a:buFont typeface="Calibri"/>
              <a:buNone/>
            </a:pPr>
            <a:r>
              <a:rPr b="0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•  Simplicidade de implantação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000"/>
              <a:buFont typeface="Calibri"/>
              <a:buNone/>
            </a:pPr>
            <a:r>
              <a:rPr b="0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•  Menor custo para servidores isolados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/>
          <p:nvPr/>
        </p:nvSpPr>
        <p:spPr>
          <a:xfrm>
            <a:off x="617220" y="3531870"/>
            <a:ext cx="3908790" cy="23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Limitações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1"/>
          <p:cNvSpPr/>
          <p:nvPr/>
        </p:nvSpPr>
        <p:spPr>
          <a:xfrm>
            <a:off x="617220" y="3771900"/>
            <a:ext cx="3908790" cy="685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000"/>
              <a:buFont typeface="Calibri"/>
              <a:buNone/>
            </a:pPr>
            <a:r>
              <a:rPr b="0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•  Difícil compartilhar entre múltiplos servidores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000"/>
              <a:buFont typeface="Calibri"/>
              <a:buNone/>
            </a:pPr>
            <a:r>
              <a:rPr b="0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•  Escalabilidade limitada às baias/portas do host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1"/>
          <p:cNvSpPr/>
          <p:nvPr/>
        </p:nvSpPr>
        <p:spPr>
          <a:xfrm>
            <a:off x="4937760" y="960120"/>
            <a:ext cx="3771630" cy="1131300"/>
          </a:xfrm>
          <a:prstGeom prst="roundRect">
            <a:avLst>
              <a:gd fmla="val 4848" name="adj"/>
            </a:avLst>
          </a:prstGeom>
          <a:solidFill>
            <a:srgbClr val="415A77"/>
          </a:solidFill>
          <a:ln cap="flat" cmpd="sng" w="12700">
            <a:solidFill>
              <a:srgbClr val="415A77"/>
            </a:solidFill>
            <a:prstDash val="solid"/>
            <a:round/>
            <a:headEnd len="sm" w="sm" type="none"/>
            <a:tailEnd len="sm" w="sm" type="none"/>
          </a:ln>
          <a:effectLst>
            <a:outerShdw blurRad="76320" rotWithShape="0" algn="bl" dir="5400000" dist="25560">
              <a:srgbClr val="1B263B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1"/>
          <p:cNvSpPr/>
          <p:nvPr/>
        </p:nvSpPr>
        <p:spPr>
          <a:xfrm>
            <a:off x="5143500" y="1062990"/>
            <a:ext cx="3360150" cy="27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200"/>
              <a:buFont typeface="Calibri"/>
              <a:buNone/>
            </a:pPr>
            <a:r>
              <a:rPr b="1" i="0" lang="pt-PT" sz="12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DAS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1"/>
          <p:cNvSpPr/>
          <p:nvPr/>
        </p:nvSpPr>
        <p:spPr>
          <a:xfrm>
            <a:off x="5143500" y="1357830"/>
            <a:ext cx="3360150" cy="6855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Discos ligados direto ao host, acesso em bloco, sem rede.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1"/>
          <p:cNvSpPr/>
          <p:nvPr/>
        </p:nvSpPr>
        <p:spPr>
          <a:xfrm>
            <a:off x="4937760" y="2242620"/>
            <a:ext cx="3771630" cy="113130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320" rotWithShape="0" algn="bl" dir="5400000" dist="25560">
              <a:srgbClr val="1B263B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1"/>
          <p:cNvSpPr/>
          <p:nvPr/>
        </p:nvSpPr>
        <p:spPr>
          <a:xfrm>
            <a:off x="5143500" y="2345490"/>
            <a:ext cx="3360150" cy="27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200"/>
              <a:buFont typeface="Calibri"/>
              <a:buNone/>
            </a:pPr>
            <a:r>
              <a:rPr b="1" i="0" lang="pt-PT" sz="12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NAS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1"/>
          <p:cNvSpPr/>
          <p:nvPr/>
        </p:nvSpPr>
        <p:spPr>
          <a:xfrm>
            <a:off x="5143500" y="2640330"/>
            <a:ext cx="3360150" cy="6855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Storage em rede (Ethernet/IP), acesso em nível de arquivo (NFS/SMB).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1"/>
          <p:cNvSpPr/>
          <p:nvPr/>
        </p:nvSpPr>
        <p:spPr>
          <a:xfrm>
            <a:off x="4937760" y="3525120"/>
            <a:ext cx="3771630" cy="113130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320" rotWithShape="0" algn="bl" dir="5400000" dist="25560">
              <a:srgbClr val="1B263B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1"/>
          <p:cNvSpPr/>
          <p:nvPr/>
        </p:nvSpPr>
        <p:spPr>
          <a:xfrm>
            <a:off x="5143500" y="3627990"/>
            <a:ext cx="3360150" cy="27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200"/>
              <a:buFont typeface="Calibri"/>
              <a:buNone/>
            </a:pPr>
            <a:r>
              <a:rPr b="1" i="0" lang="pt-PT" sz="12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SAN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1"/>
          <p:cNvSpPr/>
          <p:nvPr/>
        </p:nvSpPr>
        <p:spPr>
          <a:xfrm>
            <a:off x="5143500" y="3922830"/>
            <a:ext cx="3360150" cy="6855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Rede dedicada de alto desempenho para blocos brutos (LUNs), compartilhada entre hosts.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1"/>
          <p:cNvSpPr/>
          <p:nvPr/>
        </p:nvSpPr>
        <p:spPr>
          <a:xfrm>
            <a:off x="342900" y="4896720"/>
            <a:ext cx="6171930" cy="205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700"/>
              <a:buFont typeface="Calibri"/>
              <a:buNone/>
            </a:pPr>
            <a:r>
              <a:rPr b="0" i="0" lang="pt-PT" sz="7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1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/>
          <p:nvPr/>
        </p:nvSpPr>
        <p:spPr>
          <a:xfrm>
            <a:off x="342900" y="240030"/>
            <a:ext cx="8435025" cy="4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000"/>
              <a:buFont typeface="Calibri"/>
              <a:buNone/>
            </a:pPr>
            <a:r>
              <a:rPr b="1" i="0" lang="pt-PT" sz="2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Interfaces DAS — SATA e eSATA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2"/>
          <p:cNvSpPr/>
          <p:nvPr/>
        </p:nvSpPr>
        <p:spPr>
          <a:xfrm>
            <a:off x="342900" y="4896720"/>
            <a:ext cx="6171975" cy="205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700"/>
              <a:buFont typeface="Calibri"/>
              <a:buNone/>
            </a:pPr>
            <a:r>
              <a:rPr b="0" i="0" lang="pt-PT" sz="7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2"/>
          <p:cNvSpPr/>
          <p:nvPr/>
        </p:nvSpPr>
        <p:spPr>
          <a:xfrm>
            <a:off x="1800221" y="1078328"/>
            <a:ext cx="2640375" cy="3497625"/>
          </a:xfrm>
          <a:prstGeom prst="roundRect">
            <a:avLst>
              <a:gd fmla="val 2078" name="adj"/>
            </a:avLst>
          </a:prstGeom>
          <a:solidFill>
            <a:srgbClr val="415A77"/>
          </a:solidFill>
          <a:ln cap="flat" cmpd="sng" w="12700">
            <a:solidFill>
              <a:srgbClr val="415A7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2"/>
          <p:cNvSpPr/>
          <p:nvPr/>
        </p:nvSpPr>
        <p:spPr>
          <a:xfrm>
            <a:off x="2005961" y="1284068"/>
            <a:ext cx="411525" cy="411525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2"/>
          <p:cNvSpPr txBox="1"/>
          <p:nvPr/>
        </p:nvSpPr>
        <p:spPr>
          <a:xfrm>
            <a:off x="2005961" y="1284068"/>
            <a:ext cx="411525" cy="41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pt-PT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2"/>
          <p:cNvSpPr txBox="1"/>
          <p:nvPr/>
        </p:nvSpPr>
        <p:spPr>
          <a:xfrm>
            <a:off x="2005961" y="1832707"/>
            <a:ext cx="2228850" cy="48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pt-PT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SATA 6 Gb/s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2"/>
          <p:cNvSpPr txBox="1"/>
          <p:nvPr/>
        </p:nvSpPr>
        <p:spPr>
          <a:xfrm>
            <a:off x="2005961" y="2278478"/>
            <a:ext cx="2228850" cy="27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0" i="1" lang="pt-PT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6 Gbps (≈600 MB/s)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t/>
            </a:r>
            <a:endParaRPr b="0" i="1" sz="1000" u="none" cap="none" strike="noStrike">
              <a:solidFill>
                <a:srgbClr val="E9C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2"/>
          <p:cNvSpPr txBox="1"/>
          <p:nvPr/>
        </p:nvSpPr>
        <p:spPr>
          <a:xfrm>
            <a:off x="2005961" y="2621377"/>
            <a:ext cx="2228850" cy="15772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PT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Interface serial ponto a ponto para discos internos. NCQ reordena até 32 comandos pendentes; suporta hot-plug quando o chassi permite. ~600 MB/s úteis na geração 6 Gb/s.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2"/>
          <p:cNvSpPr/>
          <p:nvPr/>
        </p:nvSpPr>
        <p:spPr>
          <a:xfrm>
            <a:off x="4680581" y="1078328"/>
            <a:ext cx="2640375" cy="3497625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2"/>
          <p:cNvSpPr/>
          <p:nvPr/>
        </p:nvSpPr>
        <p:spPr>
          <a:xfrm>
            <a:off x="4886321" y="1284068"/>
            <a:ext cx="411525" cy="411525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2"/>
          <p:cNvSpPr txBox="1"/>
          <p:nvPr/>
        </p:nvSpPr>
        <p:spPr>
          <a:xfrm>
            <a:off x="4886321" y="1284068"/>
            <a:ext cx="411525" cy="41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pt-PT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2"/>
          <p:cNvSpPr txBox="1"/>
          <p:nvPr/>
        </p:nvSpPr>
        <p:spPr>
          <a:xfrm>
            <a:off x="4886321" y="1832707"/>
            <a:ext cx="2228850" cy="48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pt-PT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eSATA</a:t>
            </a:r>
            <a:endParaRPr b="1" i="0" sz="12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2"/>
          <p:cNvSpPr txBox="1"/>
          <p:nvPr/>
        </p:nvSpPr>
        <p:spPr>
          <a:xfrm>
            <a:off x="4886321" y="2278478"/>
            <a:ext cx="2228850" cy="27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000"/>
              <a:buFont typeface="Calibri"/>
              <a:buNone/>
            </a:pPr>
            <a:r>
              <a:rPr b="0" i="1" lang="pt-PT" sz="10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Até 6 Gb/s (conforme a revisão)</a:t>
            </a:r>
            <a:endParaRPr b="0" i="1" sz="1000" u="none" cap="none" strike="noStrike">
              <a:solidFill>
                <a:srgbClr val="415A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2"/>
          <p:cNvSpPr txBox="1"/>
          <p:nvPr/>
        </p:nvSpPr>
        <p:spPr>
          <a:xfrm>
            <a:off x="4886321" y="2621377"/>
            <a:ext cx="2228850" cy="15772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Extensão externa do SATA, mesma velocidade elétrica do host, com conector e cabo blindados. Não fornece energia pelo cabo — exige fonte separada, o que acelerou seu declínio frente ao USB.</a:t>
            </a:r>
            <a:endParaRPr b="0" i="0" sz="9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2"/>
          <p:cNvSpPr/>
          <p:nvPr/>
        </p:nvSpPr>
        <p:spPr>
          <a:xfrm>
            <a:off x="2006077" y="4096448"/>
            <a:ext cx="2228625" cy="287775"/>
          </a:xfrm>
          <a:prstGeom prst="roundRect">
            <a:avLst>
              <a:gd fmla="val 19048" name="adj"/>
            </a:avLst>
          </a:prstGeom>
          <a:solidFill>
            <a:srgbClr val="E9C4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2"/>
          <p:cNvSpPr/>
          <p:nvPr/>
        </p:nvSpPr>
        <p:spPr>
          <a:xfrm>
            <a:off x="2006096" y="4096448"/>
            <a:ext cx="2228625" cy="287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1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Custo-benefício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2"/>
          <p:cNvSpPr/>
          <p:nvPr/>
        </p:nvSpPr>
        <p:spPr>
          <a:xfrm>
            <a:off x="4897145" y="4096448"/>
            <a:ext cx="2228625" cy="287775"/>
          </a:xfrm>
          <a:prstGeom prst="roundRect">
            <a:avLst>
              <a:gd fmla="val 1904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2"/>
          <p:cNvSpPr txBox="1"/>
          <p:nvPr/>
        </p:nvSpPr>
        <p:spPr>
          <a:xfrm>
            <a:off x="4875769" y="4104656"/>
            <a:ext cx="2250000" cy="2713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PT" sz="9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Legado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2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/>
          <p:nvPr/>
        </p:nvSpPr>
        <p:spPr>
          <a:xfrm>
            <a:off x="342900" y="240030"/>
            <a:ext cx="8435025" cy="4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000"/>
              <a:buFont typeface="Calibri"/>
              <a:buNone/>
            </a:pPr>
            <a:r>
              <a:rPr b="1" i="0" lang="pt-PT" sz="2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Interfaces DAS — SAS e FireWire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3"/>
          <p:cNvSpPr/>
          <p:nvPr/>
        </p:nvSpPr>
        <p:spPr>
          <a:xfrm>
            <a:off x="342900" y="4896720"/>
            <a:ext cx="6171975" cy="205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700"/>
              <a:buFont typeface="Calibri"/>
              <a:buNone/>
            </a:pPr>
            <a:r>
              <a:rPr b="0" i="0" lang="pt-PT" sz="7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3"/>
          <p:cNvSpPr/>
          <p:nvPr/>
        </p:nvSpPr>
        <p:spPr>
          <a:xfrm>
            <a:off x="1800221" y="1078328"/>
            <a:ext cx="2640375" cy="3497625"/>
          </a:xfrm>
          <a:prstGeom prst="roundRect">
            <a:avLst>
              <a:gd fmla="val 2078" name="adj"/>
            </a:avLst>
          </a:prstGeom>
          <a:solidFill>
            <a:srgbClr val="415A77"/>
          </a:solidFill>
          <a:ln cap="flat" cmpd="sng" w="12700">
            <a:solidFill>
              <a:srgbClr val="415A7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3"/>
          <p:cNvSpPr/>
          <p:nvPr/>
        </p:nvSpPr>
        <p:spPr>
          <a:xfrm>
            <a:off x="2005961" y="1284068"/>
            <a:ext cx="411525" cy="411525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3"/>
          <p:cNvSpPr txBox="1"/>
          <p:nvPr/>
        </p:nvSpPr>
        <p:spPr>
          <a:xfrm>
            <a:off x="2005961" y="1284068"/>
            <a:ext cx="411525" cy="41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pt-PT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3"/>
          <p:cNvSpPr txBox="1"/>
          <p:nvPr/>
        </p:nvSpPr>
        <p:spPr>
          <a:xfrm>
            <a:off x="2005961" y="1832707"/>
            <a:ext cx="2228850" cy="48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pt-PT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SAS-4 (24G)</a:t>
            </a:r>
            <a:endParaRPr b="1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3"/>
          <p:cNvSpPr txBox="1"/>
          <p:nvPr/>
        </p:nvSpPr>
        <p:spPr>
          <a:xfrm>
            <a:off x="2005961" y="2278478"/>
            <a:ext cx="2228850" cy="27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0" i="1" lang="pt-PT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22,5 Gbaud (≈2.400 MB/s)</a:t>
            </a:r>
            <a:endParaRPr b="0" i="1" sz="1000" u="none" cap="none" strike="noStrike">
              <a:solidFill>
                <a:srgbClr val="E9C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3"/>
          <p:cNvSpPr txBox="1"/>
          <p:nvPr/>
        </p:nvSpPr>
        <p:spPr>
          <a:xfrm>
            <a:off x="2005961" y="2621377"/>
            <a:ext cx="2228850" cy="15772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Classe empresarial: dual-port, multi-iniciador via expansores e filas de comandos tipicamente mais profundas que no SATA/NCQ. Padrão INCITS 534-2019.</a:t>
            </a:r>
            <a:endParaRPr sz="1100"/>
          </a:p>
        </p:txBody>
      </p:sp>
      <p:sp>
        <p:nvSpPr>
          <p:cNvPr id="230" name="Google Shape;230;p33"/>
          <p:cNvSpPr/>
          <p:nvPr/>
        </p:nvSpPr>
        <p:spPr>
          <a:xfrm>
            <a:off x="4680581" y="1078328"/>
            <a:ext cx="2640375" cy="3497625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3"/>
          <p:cNvSpPr/>
          <p:nvPr/>
        </p:nvSpPr>
        <p:spPr>
          <a:xfrm>
            <a:off x="4886321" y="1284068"/>
            <a:ext cx="411525" cy="411525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3"/>
          <p:cNvSpPr txBox="1"/>
          <p:nvPr/>
        </p:nvSpPr>
        <p:spPr>
          <a:xfrm>
            <a:off x="4886321" y="1284068"/>
            <a:ext cx="411525" cy="41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pt-PT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3"/>
          <p:cNvSpPr txBox="1"/>
          <p:nvPr/>
        </p:nvSpPr>
        <p:spPr>
          <a:xfrm>
            <a:off x="4886321" y="1832707"/>
            <a:ext cx="2228850" cy="48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00"/>
              <a:buFont typeface="Calibri"/>
              <a:buNone/>
            </a:pPr>
            <a:r>
              <a:rPr b="1" i="0" lang="pt-PT" sz="12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FireWire (IEEE 1394)</a:t>
            </a:r>
            <a:endParaRPr b="1" i="0" sz="12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3"/>
          <p:cNvSpPr txBox="1"/>
          <p:nvPr/>
        </p:nvSpPr>
        <p:spPr>
          <a:xfrm>
            <a:off x="4886321" y="2278478"/>
            <a:ext cx="2228850" cy="27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000"/>
              <a:buFont typeface="Calibri"/>
              <a:buNone/>
            </a:pPr>
            <a:r>
              <a:rPr b="0" i="1" lang="pt-PT" sz="10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400 / 800 Mbps</a:t>
            </a:r>
            <a:endParaRPr b="0" i="1" sz="1000" u="none" cap="none" strike="noStrike">
              <a:solidFill>
                <a:srgbClr val="415A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3"/>
          <p:cNvSpPr txBox="1"/>
          <p:nvPr/>
        </p:nvSpPr>
        <p:spPr>
          <a:xfrm>
            <a:off x="4886321" y="2621377"/>
            <a:ext cx="2228850" cy="15772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Peer-to-peer, encadeável. Interface legada, praticamente descontinuada nos equipamentos atuais.</a:t>
            </a:r>
            <a:endParaRPr b="0" i="0" sz="9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3"/>
          <p:cNvSpPr/>
          <p:nvPr/>
        </p:nvSpPr>
        <p:spPr>
          <a:xfrm>
            <a:off x="2006077" y="4096448"/>
            <a:ext cx="2228625" cy="287775"/>
          </a:xfrm>
          <a:prstGeom prst="roundRect">
            <a:avLst>
              <a:gd fmla="val 19048" name="adj"/>
            </a:avLst>
          </a:prstGeom>
          <a:solidFill>
            <a:srgbClr val="E9C4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3"/>
          <p:cNvSpPr/>
          <p:nvPr/>
        </p:nvSpPr>
        <p:spPr>
          <a:xfrm>
            <a:off x="2006096" y="4096448"/>
            <a:ext cx="2228625" cy="287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1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Padrão em SBD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3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 txBox="1"/>
          <p:nvPr/>
        </p:nvSpPr>
        <p:spPr>
          <a:xfrm>
            <a:off x="342900" y="240030"/>
            <a:ext cx="84353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000"/>
              <a:buFont typeface="Calibri"/>
              <a:buNone/>
            </a:pPr>
            <a:r>
              <a:rPr b="1" i="0" lang="pt-PT" sz="2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Interfaces DAS — USB e HBA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4"/>
          <p:cNvSpPr/>
          <p:nvPr/>
        </p:nvSpPr>
        <p:spPr>
          <a:xfrm>
            <a:off x="1800221" y="1078328"/>
            <a:ext cx="2640375" cy="3497625"/>
          </a:xfrm>
          <a:prstGeom prst="roundRect">
            <a:avLst>
              <a:gd fmla="val 2078" name="adj"/>
            </a:avLst>
          </a:prstGeom>
          <a:solidFill>
            <a:srgbClr val="415A77"/>
          </a:solidFill>
          <a:ln cap="flat" cmpd="sng" w="12700">
            <a:solidFill>
              <a:srgbClr val="415A7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4"/>
          <p:cNvSpPr/>
          <p:nvPr/>
        </p:nvSpPr>
        <p:spPr>
          <a:xfrm>
            <a:off x="2005961" y="1284068"/>
            <a:ext cx="411525" cy="411525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4"/>
          <p:cNvSpPr txBox="1"/>
          <p:nvPr/>
        </p:nvSpPr>
        <p:spPr>
          <a:xfrm>
            <a:off x="2005961" y="1284068"/>
            <a:ext cx="411525" cy="41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pt-PT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4"/>
          <p:cNvSpPr txBox="1"/>
          <p:nvPr/>
        </p:nvSpPr>
        <p:spPr>
          <a:xfrm>
            <a:off x="2005961" y="1832707"/>
            <a:ext cx="2228850" cy="48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pt-PT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USB 3 e USB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4"/>
          <p:cNvSpPr txBox="1"/>
          <p:nvPr/>
        </p:nvSpPr>
        <p:spPr>
          <a:xfrm>
            <a:off x="2005961" y="2278478"/>
            <a:ext cx="2228850" cy="27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0" i="1" lang="pt-PT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Até 80 Gbps (USB4 v2.0)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4"/>
          <p:cNvSpPr txBox="1"/>
          <p:nvPr/>
        </p:nvSpPr>
        <p:spPr>
          <a:xfrm>
            <a:off x="2005961" y="2621377"/>
            <a:ext cx="2228850" cy="15772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Host-cêntrica. USB4 Versão 2.0 (2022) eleva a banda agregada a 80 Gb/s simétricos; modo assimétrico opcional de 120 Gb/s num sentido e 40 Gb/s no outro, via PAM3.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4"/>
          <p:cNvSpPr/>
          <p:nvPr/>
        </p:nvSpPr>
        <p:spPr>
          <a:xfrm>
            <a:off x="4680581" y="1078328"/>
            <a:ext cx="2640375" cy="3497625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4"/>
          <p:cNvSpPr/>
          <p:nvPr/>
        </p:nvSpPr>
        <p:spPr>
          <a:xfrm>
            <a:off x="4886321" y="1284068"/>
            <a:ext cx="411525" cy="411525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4"/>
          <p:cNvSpPr txBox="1"/>
          <p:nvPr/>
        </p:nvSpPr>
        <p:spPr>
          <a:xfrm>
            <a:off x="4886321" y="1284068"/>
            <a:ext cx="411525" cy="41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pt-PT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4"/>
          <p:cNvSpPr txBox="1"/>
          <p:nvPr/>
        </p:nvSpPr>
        <p:spPr>
          <a:xfrm>
            <a:off x="4886321" y="1832707"/>
            <a:ext cx="2228850" cy="48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00"/>
              <a:buFont typeface="Calibri"/>
              <a:buNone/>
            </a:pPr>
            <a:r>
              <a:rPr b="1" i="0" lang="pt-PT" sz="12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HBA (Host Bus Adapter)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4"/>
          <p:cNvSpPr txBox="1"/>
          <p:nvPr/>
        </p:nvSpPr>
        <p:spPr>
          <a:xfrm>
            <a:off x="4886321" y="2278478"/>
            <a:ext cx="2228850" cy="27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000"/>
              <a:buFont typeface="Calibri"/>
              <a:buNone/>
            </a:pPr>
            <a:r>
              <a:rPr b="0" i="1" lang="pt-PT" sz="10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Controladora PCIe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4"/>
          <p:cNvSpPr txBox="1"/>
          <p:nvPr/>
        </p:nvSpPr>
        <p:spPr>
          <a:xfrm>
            <a:off x="4886321" y="2621377"/>
            <a:ext cx="2228850" cy="15772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Ponte PCIe entre o host e SAS/SATA/FC. Em modo HBA/passthrough expõe discos individualmente; JBOD descreve essa apresentação lógica, não o adaptador. Controladoras RAID acrescentam cache/XOR e gerenciam o arranjo.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4"/>
          <p:cNvSpPr txBox="1"/>
          <p:nvPr/>
        </p:nvSpPr>
        <p:spPr>
          <a:xfrm>
            <a:off x="342900" y="4896612"/>
            <a:ext cx="6172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700"/>
              <a:buFont typeface="Calibri"/>
              <a:buNone/>
            </a:pPr>
            <a:r>
              <a:rPr b="0" i="0" lang="pt-PT" sz="7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4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 txBox="1"/>
          <p:nvPr/>
        </p:nvSpPr>
        <p:spPr>
          <a:xfrm>
            <a:off x="342900" y="240030"/>
            <a:ext cx="84353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000"/>
              <a:buFont typeface="Calibri"/>
              <a:buNone/>
            </a:pPr>
            <a:r>
              <a:rPr b="1" i="0" lang="pt-PT" sz="2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RAID: Paralelismo x Redundância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5"/>
          <p:cNvSpPr txBox="1"/>
          <p:nvPr/>
        </p:nvSpPr>
        <p:spPr>
          <a:xfrm>
            <a:off x="411480" y="78867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00"/>
              <a:buFont typeface="Calibri"/>
              <a:buNone/>
            </a:pPr>
            <a:r>
              <a:rPr b="0" i="1" lang="pt-PT" sz="11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Todo nível de RAID equilibra dois objetivos que competem pelos mesmos discos físicos: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5"/>
          <p:cNvSpPr/>
          <p:nvPr/>
        </p:nvSpPr>
        <p:spPr>
          <a:xfrm>
            <a:off x="411480" y="1200150"/>
            <a:ext cx="4046220" cy="3154680"/>
          </a:xfrm>
          <a:prstGeom prst="roundRect">
            <a:avLst>
              <a:gd fmla="val 1739" name="adj"/>
            </a:avLst>
          </a:prstGeom>
          <a:solidFill>
            <a:srgbClr val="415A77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5"/>
          <p:cNvSpPr txBox="1"/>
          <p:nvPr/>
        </p:nvSpPr>
        <p:spPr>
          <a:xfrm>
            <a:off x="617220" y="1371600"/>
            <a:ext cx="36347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500"/>
              <a:buFont typeface="Calibri"/>
              <a:buNone/>
            </a:pPr>
            <a:r>
              <a:rPr b="1" i="0" lang="pt-PT" sz="15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Paralelismo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5"/>
          <p:cNvSpPr txBox="1"/>
          <p:nvPr/>
        </p:nvSpPr>
        <p:spPr>
          <a:xfrm>
            <a:off x="617220" y="1680210"/>
            <a:ext cx="36347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pt-P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Desempenho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5"/>
          <p:cNvSpPr txBox="1"/>
          <p:nvPr/>
        </p:nvSpPr>
        <p:spPr>
          <a:xfrm>
            <a:off x="617220" y="2023110"/>
            <a:ext cx="363474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pt-P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Distribuir leituras e escritas entre vários discos para que trabalhem simultaneamente sobre uma mesma requisição, obtido via striping.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pt-P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Ganho teórico de até N× na taxa de transferência com N discos.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5"/>
          <p:cNvSpPr/>
          <p:nvPr/>
        </p:nvSpPr>
        <p:spPr>
          <a:xfrm>
            <a:off x="4697730" y="1200150"/>
            <a:ext cx="4046220" cy="315468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E9C46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5"/>
          <p:cNvSpPr txBox="1"/>
          <p:nvPr/>
        </p:nvSpPr>
        <p:spPr>
          <a:xfrm>
            <a:off x="4903470" y="1371600"/>
            <a:ext cx="36347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500"/>
              <a:buFont typeface="Calibri"/>
              <a:buNone/>
            </a:pPr>
            <a:r>
              <a:rPr b="1" i="0" lang="pt-PT" sz="15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Redundância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5"/>
          <p:cNvSpPr txBox="1"/>
          <p:nvPr/>
        </p:nvSpPr>
        <p:spPr>
          <a:xfrm>
            <a:off x="4903470" y="1680210"/>
            <a:ext cx="36347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1" lang="pt-PT" sz="1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Disponibilidade e confiabilidade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5"/>
          <p:cNvSpPr txBox="1"/>
          <p:nvPr/>
        </p:nvSpPr>
        <p:spPr>
          <a:xfrm>
            <a:off x="4903470" y="2023110"/>
            <a:ext cx="363474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000"/>
              <a:buFont typeface="Calibri"/>
              <a:buNone/>
            </a:pPr>
            <a:r>
              <a:rPr lang="pt-PT" sz="10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Armazenar cópias (mirroring) ou paridade para que a falha de 1 ou 2 discos não cause perda de dados nem interrupção do serviço.</a:t>
            </a:r>
            <a:br>
              <a:rPr b="0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Sem redundância, o MTTF do arranjo cai ao aumentar o nº de discos (striping puro).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5"/>
          <p:cNvSpPr txBox="1"/>
          <p:nvPr/>
        </p:nvSpPr>
        <p:spPr>
          <a:xfrm>
            <a:off x="342900" y="4896612"/>
            <a:ext cx="6172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700"/>
              <a:buFont typeface="Calibri"/>
              <a:buNone/>
            </a:pPr>
            <a:r>
              <a:rPr b="0" i="0" lang="pt-PT" sz="7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5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"/>
          <p:cNvSpPr txBox="1"/>
          <p:nvPr/>
        </p:nvSpPr>
        <p:spPr>
          <a:xfrm>
            <a:off x="342900" y="240030"/>
            <a:ext cx="84353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000"/>
              <a:buFont typeface="Calibri"/>
              <a:buNone/>
            </a:pPr>
            <a:r>
              <a:rPr b="1" i="0" lang="pt-PT" sz="2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Mirroring, Shadowing e Paridade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6"/>
          <p:cNvSpPr txBox="1"/>
          <p:nvPr/>
        </p:nvSpPr>
        <p:spPr>
          <a:xfrm>
            <a:off x="411480" y="857250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200"/>
              <a:buFont typeface="Calibri"/>
              <a:buNone/>
            </a:pPr>
            <a:r>
              <a:rPr b="1" i="0" lang="pt-PT" sz="12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Mirroring (espelhamento)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6"/>
          <p:cNvSpPr/>
          <p:nvPr/>
        </p:nvSpPr>
        <p:spPr>
          <a:xfrm>
            <a:off x="891540" y="1371600"/>
            <a:ext cx="891540" cy="37719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6"/>
          <p:cNvSpPr txBox="1"/>
          <p:nvPr/>
        </p:nvSpPr>
        <p:spPr>
          <a:xfrm>
            <a:off x="891540" y="1371600"/>
            <a:ext cx="8915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pt-P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6"/>
          <p:cNvSpPr/>
          <p:nvPr/>
        </p:nvSpPr>
        <p:spPr>
          <a:xfrm>
            <a:off x="891540" y="1748790"/>
            <a:ext cx="891540" cy="37719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6"/>
          <p:cNvSpPr txBox="1"/>
          <p:nvPr/>
        </p:nvSpPr>
        <p:spPr>
          <a:xfrm>
            <a:off x="891540" y="1748790"/>
            <a:ext cx="8915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pt-P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6"/>
          <p:cNvSpPr/>
          <p:nvPr/>
        </p:nvSpPr>
        <p:spPr>
          <a:xfrm>
            <a:off x="891540" y="2125980"/>
            <a:ext cx="891540" cy="37719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6"/>
          <p:cNvSpPr txBox="1"/>
          <p:nvPr/>
        </p:nvSpPr>
        <p:spPr>
          <a:xfrm>
            <a:off x="891540" y="2125980"/>
            <a:ext cx="8915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pt-P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6"/>
          <p:cNvSpPr txBox="1"/>
          <p:nvPr/>
        </p:nvSpPr>
        <p:spPr>
          <a:xfrm>
            <a:off x="891540" y="2558034"/>
            <a:ext cx="8915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6"/>
          <p:cNvSpPr/>
          <p:nvPr/>
        </p:nvSpPr>
        <p:spPr>
          <a:xfrm>
            <a:off x="2400300" y="1371600"/>
            <a:ext cx="891540" cy="37719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6"/>
          <p:cNvSpPr txBox="1"/>
          <p:nvPr/>
        </p:nvSpPr>
        <p:spPr>
          <a:xfrm>
            <a:off x="2400300" y="1371600"/>
            <a:ext cx="8915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pt-P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6"/>
          <p:cNvSpPr/>
          <p:nvPr/>
        </p:nvSpPr>
        <p:spPr>
          <a:xfrm>
            <a:off x="2400300" y="1748790"/>
            <a:ext cx="891540" cy="37719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6"/>
          <p:cNvSpPr txBox="1"/>
          <p:nvPr/>
        </p:nvSpPr>
        <p:spPr>
          <a:xfrm>
            <a:off x="2400300" y="1748790"/>
            <a:ext cx="8915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pt-P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6"/>
          <p:cNvSpPr/>
          <p:nvPr/>
        </p:nvSpPr>
        <p:spPr>
          <a:xfrm>
            <a:off x="2400300" y="2125980"/>
            <a:ext cx="891540" cy="37719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6"/>
          <p:cNvSpPr txBox="1"/>
          <p:nvPr/>
        </p:nvSpPr>
        <p:spPr>
          <a:xfrm>
            <a:off x="2400300" y="2125980"/>
            <a:ext cx="8915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pt-P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6"/>
          <p:cNvSpPr txBox="1"/>
          <p:nvPr/>
        </p:nvSpPr>
        <p:spPr>
          <a:xfrm>
            <a:off x="2400300" y="2558034"/>
            <a:ext cx="8915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6"/>
          <p:cNvSpPr txBox="1"/>
          <p:nvPr/>
        </p:nvSpPr>
        <p:spPr>
          <a:xfrm>
            <a:off x="1783080" y="1371600"/>
            <a:ext cx="617220" cy="1131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A2E"/>
              </a:buClr>
              <a:buSzPts val="1700"/>
              <a:buFont typeface="Calibri"/>
              <a:buNone/>
            </a:pPr>
            <a:r>
              <a:rPr b="1" i="0" lang="pt-PT" sz="1700" u="none" cap="none" strike="noStrike">
                <a:solidFill>
                  <a:srgbClr val="C99A2E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6"/>
          <p:cNvSpPr txBox="1"/>
          <p:nvPr/>
        </p:nvSpPr>
        <p:spPr>
          <a:xfrm>
            <a:off x="411480" y="3017520"/>
            <a:ext cx="3977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Toda escrita é replicada integralmente em 2 discos; leituras podem ser divididas entre as cópias. "Shadowing" é termo histórico (ex.: Tandem NonStop) equivalente a mirroring — mesma técnica, nomes diferentes.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36"/>
          <p:cNvCxnSpPr/>
          <p:nvPr/>
        </p:nvCxnSpPr>
        <p:spPr>
          <a:xfrm>
            <a:off x="4560570" y="891540"/>
            <a:ext cx="0" cy="3840480"/>
          </a:xfrm>
          <a:prstGeom prst="straightConnector1">
            <a:avLst/>
          </a:prstGeom>
          <a:noFill/>
          <a:ln cap="flat" cmpd="sng" w="1905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36"/>
          <p:cNvSpPr txBox="1"/>
          <p:nvPr/>
        </p:nvSpPr>
        <p:spPr>
          <a:xfrm>
            <a:off x="4766310" y="857250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200"/>
              <a:buFont typeface="Calibri"/>
              <a:buNone/>
            </a:pPr>
            <a:r>
              <a:rPr b="1" i="0" lang="pt-PT" sz="12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Paridade (XOR)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6"/>
          <p:cNvSpPr/>
          <p:nvPr/>
        </p:nvSpPr>
        <p:spPr>
          <a:xfrm>
            <a:off x="4972050" y="1440180"/>
            <a:ext cx="617220" cy="37719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6"/>
          <p:cNvSpPr txBox="1"/>
          <p:nvPr/>
        </p:nvSpPr>
        <p:spPr>
          <a:xfrm>
            <a:off x="4972050" y="1440180"/>
            <a:ext cx="61722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6"/>
          <p:cNvSpPr/>
          <p:nvPr/>
        </p:nvSpPr>
        <p:spPr>
          <a:xfrm>
            <a:off x="5692140" y="1440180"/>
            <a:ext cx="617220" cy="37719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6"/>
          <p:cNvSpPr txBox="1"/>
          <p:nvPr/>
        </p:nvSpPr>
        <p:spPr>
          <a:xfrm>
            <a:off x="5692140" y="1440180"/>
            <a:ext cx="61722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6"/>
          <p:cNvSpPr/>
          <p:nvPr/>
        </p:nvSpPr>
        <p:spPr>
          <a:xfrm>
            <a:off x="6412230" y="1440180"/>
            <a:ext cx="617220" cy="37719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6"/>
          <p:cNvSpPr txBox="1"/>
          <p:nvPr/>
        </p:nvSpPr>
        <p:spPr>
          <a:xfrm>
            <a:off x="6412230" y="1440180"/>
            <a:ext cx="61722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6"/>
          <p:cNvSpPr txBox="1"/>
          <p:nvPr/>
        </p:nvSpPr>
        <p:spPr>
          <a:xfrm>
            <a:off x="7063740" y="1522476"/>
            <a:ext cx="37719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1" lang="pt-PT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XOR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6"/>
          <p:cNvSpPr/>
          <p:nvPr/>
        </p:nvSpPr>
        <p:spPr>
          <a:xfrm>
            <a:off x="7406640" y="1440180"/>
            <a:ext cx="617220" cy="377190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6"/>
          <p:cNvSpPr txBox="1"/>
          <p:nvPr/>
        </p:nvSpPr>
        <p:spPr>
          <a:xfrm>
            <a:off x="7406640" y="1440180"/>
            <a:ext cx="61722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000"/>
              <a:buFont typeface="Calibri"/>
              <a:buNone/>
            </a:pPr>
            <a:r>
              <a:rPr b="1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6"/>
          <p:cNvSpPr txBox="1"/>
          <p:nvPr/>
        </p:nvSpPr>
        <p:spPr>
          <a:xfrm>
            <a:off x="4972050" y="1872234"/>
            <a:ext cx="617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6"/>
          <p:cNvSpPr txBox="1"/>
          <p:nvPr/>
        </p:nvSpPr>
        <p:spPr>
          <a:xfrm>
            <a:off x="5692140" y="1872234"/>
            <a:ext cx="617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6"/>
          <p:cNvSpPr txBox="1"/>
          <p:nvPr/>
        </p:nvSpPr>
        <p:spPr>
          <a:xfrm>
            <a:off x="6412230" y="1872234"/>
            <a:ext cx="617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6"/>
          <p:cNvSpPr txBox="1"/>
          <p:nvPr/>
        </p:nvSpPr>
        <p:spPr>
          <a:xfrm>
            <a:off x="7406640" y="1872234"/>
            <a:ext cx="617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Paridade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6"/>
          <p:cNvSpPr txBox="1"/>
          <p:nvPr/>
        </p:nvSpPr>
        <p:spPr>
          <a:xfrm>
            <a:off x="4766310" y="2331720"/>
            <a:ext cx="397764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 = D0 ⊕ D1 ⊕ D2 (XOR). Qualquer disco perdido é recalculado a partir dos demais + paridade.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Mais eficiente em espaço que o mirroring, mas toda escrita pequena exige um ciclo de read-modify-write ("write penalty").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6"/>
          <p:cNvSpPr txBox="1"/>
          <p:nvPr/>
        </p:nvSpPr>
        <p:spPr>
          <a:xfrm>
            <a:off x="342900" y="4896612"/>
            <a:ext cx="6172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700"/>
              <a:buFont typeface="Calibri"/>
              <a:buNone/>
            </a:pPr>
            <a:r>
              <a:rPr b="0" i="0" lang="pt-PT" sz="7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6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7"/>
          <p:cNvSpPr txBox="1"/>
          <p:nvPr/>
        </p:nvSpPr>
        <p:spPr>
          <a:xfrm>
            <a:off x="342900" y="240030"/>
            <a:ext cx="8435250" cy="41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000"/>
              <a:buFont typeface="Calibri"/>
              <a:buNone/>
            </a:pPr>
            <a:r>
              <a:rPr b="1" i="0" lang="pt-PT" sz="2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Data Striping: Bit-Level x Block-Level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7"/>
          <p:cNvSpPr txBox="1"/>
          <p:nvPr/>
        </p:nvSpPr>
        <p:spPr>
          <a:xfrm>
            <a:off x="411480" y="857250"/>
            <a:ext cx="3977550" cy="2742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PT" sz="12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Bit-level &amp; Byte-level striping</a:t>
            </a:r>
            <a:endParaRPr b="1" i="0" sz="1200" u="none" cap="none" strike="noStrike">
              <a:solidFill>
                <a:srgbClr val="415A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7"/>
          <p:cNvSpPr txBox="1"/>
          <p:nvPr/>
        </p:nvSpPr>
        <p:spPr>
          <a:xfrm>
            <a:off x="411480" y="1131570"/>
            <a:ext cx="3977550" cy="24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1" lang="pt-PT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Discos em lockstep — cada acesso envolve todos os discos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7"/>
          <p:cNvSpPr/>
          <p:nvPr/>
        </p:nvSpPr>
        <p:spPr>
          <a:xfrm>
            <a:off x="617220" y="1543050"/>
            <a:ext cx="720000" cy="3771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7"/>
          <p:cNvSpPr txBox="1"/>
          <p:nvPr/>
        </p:nvSpPr>
        <p:spPr>
          <a:xfrm>
            <a:off x="617220" y="1543050"/>
            <a:ext cx="720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pt-PT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bit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7"/>
          <p:cNvSpPr txBox="1"/>
          <p:nvPr/>
        </p:nvSpPr>
        <p:spPr>
          <a:xfrm>
            <a:off x="617220" y="1975104"/>
            <a:ext cx="720000" cy="20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7"/>
          <p:cNvSpPr/>
          <p:nvPr/>
        </p:nvSpPr>
        <p:spPr>
          <a:xfrm>
            <a:off x="1440180" y="1543050"/>
            <a:ext cx="720000" cy="3771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7"/>
          <p:cNvSpPr txBox="1"/>
          <p:nvPr/>
        </p:nvSpPr>
        <p:spPr>
          <a:xfrm>
            <a:off x="1440180" y="1543050"/>
            <a:ext cx="720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pt-PT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bit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7"/>
          <p:cNvSpPr txBox="1"/>
          <p:nvPr/>
        </p:nvSpPr>
        <p:spPr>
          <a:xfrm>
            <a:off x="1440180" y="1975104"/>
            <a:ext cx="720000" cy="20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7"/>
          <p:cNvSpPr/>
          <p:nvPr/>
        </p:nvSpPr>
        <p:spPr>
          <a:xfrm>
            <a:off x="2263140" y="1543050"/>
            <a:ext cx="720000" cy="3771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7"/>
          <p:cNvSpPr txBox="1"/>
          <p:nvPr/>
        </p:nvSpPr>
        <p:spPr>
          <a:xfrm>
            <a:off x="2263140" y="1543050"/>
            <a:ext cx="720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pt-PT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bit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7"/>
          <p:cNvSpPr txBox="1"/>
          <p:nvPr/>
        </p:nvSpPr>
        <p:spPr>
          <a:xfrm>
            <a:off x="2263140" y="1975104"/>
            <a:ext cx="720000" cy="20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7"/>
          <p:cNvSpPr/>
          <p:nvPr/>
        </p:nvSpPr>
        <p:spPr>
          <a:xfrm>
            <a:off x="3086100" y="1543050"/>
            <a:ext cx="720000" cy="3771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7"/>
          <p:cNvSpPr txBox="1"/>
          <p:nvPr/>
        </p:nvSpPr>
        <p:spPr>
          <a:xfrm>
            <a:off x="3086100" y="1543050"/>
            <a:ext cx="720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pt-PT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bit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7"/>
          <p:cNvSpPr txBox="1"/>
          <p:nvPr/>
        </p:nvSpPr>
        <p:spPr>
          <a:xfrm>
            <a:off x="3086100" y="1975104"/>
            <a:ext cx="720000" cy="20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7"/>
          <p:cNvSpPr/>
          <p:nvPr/>
        </p:nvSpPr>
        <p:spPr>
          <a:xfrm>
            <a:off x="514350" y="1440180"/>
            <a:ext cx="3394800" cy="582975"/>
          </a:xfrm>
          <a:prstGeom prst="rect">
            <a:avLst/>
          </a:prstGeom>
          <a:noFill/>
          <a:ln cap="flat" cmpd="sng" w="25400">
            <a:solidFill>
              <a:srgbClr val="E9C46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7"/>
          <p:cNvSpPr txBox="1"/>
          <p:nvPr/>
        </p:nvSpPr>
        <p:spPr>
          <a:xfrm>
            <a:off x="514350" y="2297430"/>
            <a:ext cx="3429000" cy="27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A2E"/>
              </a:buClr>
              <a:buSzPts val="800"/>
              <a:buFont typeface="Calibri"/>
              <a:buNone/>
            </a:pPr>
            <a:r>
              <a:rPr b="0" i="1" lang="pt-PT" sz="800" u="none" cap="none" strike="noStrike">
                <a:solidFill>
                  <a:srgbClr val="C99A2E"/>
                </a:solidFill>
                <a:latin typeface="Calibri"/>
                <a:ea typeface="Calibri"/>
                <a:cs typeface="Calibri"/>
                <a:sym typeface="Calibri"/>
              </a:rPr>
              <a:t>1 stripe = 1 operação lógica (todos os discos)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7"/>
          <p:cNvSpPr txBox="1"/>
          <p:nvPr/>
        </p:nvSpPr>
        <p:spPr>
          <a:xfrm>
            <a:off x="411480" y="3120390"/>
            <a:ext cx="3977550" cy="13029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Maximiza transferência sequencial; ruim para I/O pequeno e aleatório (típico de OLTP), pois não há paralelismo entre requisições independentes.</a:t>
            </a:r>
            <a:endParaRPr b="0" i="0" sz="9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Base dos níveis RAID 2 (bit-level) e RAID 3 (bit ou byte-level).</a:t>
            </a:r>
            <a:endParaRPr b="0" i="0" sz="9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pt-PT" sz="8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Nota: Nos níveis de bit e byte, a fragmentação é extremamente fina, exigindo que os discos operem fisicamente sincronizados (lockstep) para compor a informação.</a:t>
            </a:r>
            <a:endParaRPr b="0" i="0" sz="8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" name="Google Shape;340;p37"/>
          <p:cNvCxnSpPr/>
          <p:nvPr/>
        </p:nvCxnSpPr>
        <p:spPr>
          <a:xfrm>
            <a:off x="4560570" y="891540"/>
            <a:ext cx="0" cy="3840525"/>
          </a:xfrm>
          <a:prstGeom prst="straightConnector1">
            <a:avLst/>
          </a:prstGeom>
          <a:noFill/>
          <a:ln cap="flat" cmpd="sng" w="1905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p37"/>
          <p:cNvSpPr txBox="1"/>
          <p:nvPr/>
        </p:nvSpPr>
        <p:spPr>
          <a:xfrm>
            <a:off x="4766310" y="857250"/>
            <a:ext cx="3977550" cy="27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200"/>
              <a:buFont typeface="Calibri"/>
              <a:buNone/>
            </a:pPr>
            <a:r>
              <a:rPr b="1" i="0" lang="pt-PT" sz="12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Block-level striping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7"/>
          <p:cNvSpPr txBox="1"/>
          <p:nvPr/>
        </p:nvSpPr>
        <p:spPr>
          <a:xfrm>
            <a:off x="4766310" y="1131570"/>
            <a:ext cx="3977550" cy="24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1" lang="pt-PT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Discos independentes — atendem requisições em paralelo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7"/>
          <p:cNvSpPr/>
          <p:nvPr/>
        </p:nvSpPr>
        <p:spPr>
          <a:xfrm>
            <a:off x="4972050" y="1543050"/>
            <a:ext cx="720000" cy="377100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7"/>
          <p:cNvSpPr txBox="1"/>
          <p:nvPr/>
        </p:nvSpPr>
        <p:spPr>
          <a:xfrm>
            <a:off x="4972050" y="1543050"/>
            <a:ext cx="720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0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7"/>
          <p:cNvSpPr/>
          <p:nvPr/>
        </p:nvSpPr>
        <p:spPr>
          <a:xfrm>
            <a:off x="4972050" y="1920240"/>
            <a:ext cx="720000" cy="3771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7"/>
          <p:cNvSpPr txBox="1"/>
          <p:nvPr/>
        </p:nvSpPr>
        <p:spPr>
          <a:xfrm>
            <a:off x="4972050" y="1920240"/>
            <a:ext cx="720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pt-PT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7"/>
          <p:cNvSpPr/>
          <p:nvPr/>
        </p:nvSpPr>
        <p:spPr>
          <a:xfrm>
            <a:off x="4972050" y="2297430"/>
            <a:ext cx="720000" cy="3771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7"/>
          <p:cNvSpPr txBox="1"/>
          <p:nvPr/>
        </p:nvSpPr>
        <p:spPr>
          <a:xfrm>
            <a:off x="4972050" y="2297430"/>
            <a:ext cx="720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pt-PT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7"/>
          <p:cNvSpPr txBox="1"/>
          <p:nvPr/>
        </p:nvSpPr>
        <p:spPr>
          <a:xfrm>
            <a:off x="4972050" y="2729484"/>
            <a:ext cx="720000" cy="20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7"/>
          <p:cNvSpPr/>
          <p:nvPr/>
        </p:nvSpPr>
        <p:spPr>
          <a:xfrm>
            <a:off x="5795010" y="1543050"/>
            <a:ext cx="720000" cy="377100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7"/>
          <p:cNvSpPr txBox="1"/>
          <p:nvPr/>
        </p:nvSpPr>
        <p:spPr>
          <a:xfrm>
            <a:off x="5795010" y="1543050"/>
            <a:ext cx="720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0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7"/>
          <p:cNvSpPr/>
          <p:nvPr/>
        </p:nvSpPr>
        <p:spPr>
          <a:xfrm>
            <a:off x="5795010" y="1920240"/>
            <a:ext cx="720000" cy="3771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7"/>
          <p:cNvSpPr txBox="1"/>
          <p:nvPr/>
        </p:nvSpPr>
        <p:spPr>
          <a:xfrm>
            <a:off x="5795010" y="1920240"/>
            <a:ext cx="720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pt-PT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7"/>
          <p:cNvSpPr/>
          <p:nvPr/>
        </p:nvSpPr>
        <p:spPr>
          <a:xfrm>
            <a:off x="5795010" y="2297430"/>
            <a:ext cx="720000" cy="3771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7"/>
          <p:cNvSpPr txBox="1"/>
          <p:nvPr/>
        </p:nvSpPr>
        <p:spPr>
          <a:xfrm>
            <a:off x="5795010" y="2297430"/>
            <a:ext cx="720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pt-PT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7"/>
          <p:cNvSpPr txBox="1"/>
          <p:nvPr/>
        </p:nvSpPr>
        <p:spPr>
          <a:xfrm>
            <a:off x="5795010" y="2729484"/>
            <a:ext cx="720000" cy="20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7"/>
          <p:cNvSpPr/>
          <p:nvPr/>
        </p:nvSpPr>
        <p:spPr>
          <a:xfrm>
            <a:off x="6617970" y="1543050"/>
            <a:ext cx="720000" cy="377100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7"/>
          <p:cNvSpPr txBox="1"/>
          <p:nvPr/>
        </p:nvSpPr>
        <p:spPr>
          <a:xfrm>
            <a:off x="6617970" y="1543050"/>
            <a:ext cx="720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0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7"/>
          <p:cNvSpPr/>
          <p:nvPr/>
        </p:nvSpPr>
        <p:spPr>
          <a:xfrm>
            <a:off x="6617970" y="1920240"/>
            <a:ext cx="720000" cy="3771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7"/>
          <p:cNvSpPr txBox="1"/>
          <p:nvPr/>
        </p:nvSpPr>
        <p:spPr>
          <a:xfrm>
            <a:off x="6617970" y="1920240"/>
            <a:ext cx="720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pt-PT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7"/>
          <p:cNvSpPr/>
          <p:nvPr/>
        </p:nvSpPr>
        <p:spPr>
          <a:xfrm>
            <a:off x="6617970" y="2297430"/>
            <a:ext cx="720000" cy="3771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7"/>
          <p:cNvSpPr txBox="1"/>
          <p:nvPr/>
        </p:nvSpPr>
        <p:spPr>
          <a:xfrm>
            <a:off x="6617970" y="2297430"/>
            <a:ext cx="720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pt-PT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7"/>
          <p:cNvSpPr txBox="1"/>
          <p:nvPr/>
        </p:nvSpPr>
        <p:spPr>
          <a:xfrm>
            <a:off x="6617970" y="2729484"/>
            <a:ext cx="720000" cy="20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7"/>
          <p:cNvSpPr/>
          <p:nvPr/>
        </p:nvSpPr>
        <p:spPr>
          <a:xfrm>
            <a:off x="7440930" y="1543050"/>
            <a:ext cx="720000" cy="377100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7"/>
          <p:cNvSpPr txBox="1"/>
          <p:nvPr/>
        </p:nvSpPr>
        <p:spPr>
          <a:xfrm>
            <a:off x="7440930" y="1543050"/>
            <a:ext cx="720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0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A4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7"/>
          <p:cNvSpPr/>
          <p:nvPr/>
        </p:nvSpPr>
        <p:spPr>
          <a:xfrm>
            <a:off x="7440930" y="1920240"/>
            <a:ext cx="720000" cy="3771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7"/>
          <p:cNvSpPr txBox="1"/>
          <p:nvPr/>
        </p:nvSpPr>
        <p:spPr>
          <a:xfrm>
            <a:off x="7440930" y="1920240"/>
            <a:ext cx="720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pt-PT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7"/>
          <p:cNvSpPr/>
          <p:nvPr/>
        </p:nvSpPr>
        <p:spPr>
          <a:xfrm>
            <a:off x="7440930" y="2297430"/>
            <a:ext cx="720000" cy="3771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7"/>
          <p:cNvSpPr txBox="1"/>
          <p:nvPr/>
        </p:nvSpPr>
        <p:spPr>
          <a:xfrm>
            <a:off x="7440930" y="2297430"/>
            <a:ext cx="720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pt-PT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7"/>
          <p:cNvSpPr txBox="1"/>
          <p:nvPr/>
        </p:nvSpPr>
        <p:spPr>
          <a:xfrm>
            <a:off x="7440930" y="2729484"/>
            <a:ext cx="720000" cy="20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7"/>
          <p:cNvSpPr txBox="1"/>
          <p:nvPr/>
        </p:nvSpPr>
        <p:spPr>
          <a:xfrm>
            <a:off x="4766310" y="3120390"/>
            <a:ext cx="3977550" cy="13029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Cada bloco (chunk) reside inteiramente em um disco; requisições pequenas e independentes podem ser atendidas em paralelo.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Base dos níveis RAID 0, 4, 5, 6, 0+1 e 10.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7"/>
          <p:cNvSpPr txBox="1"/>
          <p:nvPr/>
        </p:nvSpPr>
        <p:spPr>
          <a:xfrm>
            <a:off x="342900" y="4896612"/>
            <a:ext cx="6172200" cy="20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700"/>
              <a:buFont typeface="Calibri"/>
              <a:buNone/>
            </a:pPr>
            <a:r>
              <a:rPr b="0" i="0" lang="pt-PT" sz="7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7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8"/>
          <p:cNvSpPr txBox="1"/>
          <p:nvPr/>
        </p:nvSpPr>
        <p:spPr>
          <a:xfrm>
            <a:off x="342900" y="240030"/>
            <a:ext cx="8435250" cy="41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000"/>
              <a:buFont typeface="Calibri"/>
              <a:buNone/>
            </a:pPr>
            <a:r>
              <a:rPr b="1" i="0" lang="pt-PT" sz="2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Métricas de Confiabilidade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8"/>
          <p:cNvSpPr/>
          <p:nvPr/>
        </p:nvSpPr>
        <p:spPr>
          <a:xfrm>
            <a:off x="268605" y="1285875"/>
            <a:ext cx="2023200" cy="2714625"/>
          </a:xfrm>
          <a:prstGeom prst="roundRect">
            <a:avLst>
              <a:gd fmla="val 2711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8"/>
          <p:cNvSpPr txBox="1"/>
          <p:nvPr/>
        </p:nvSpPr>
        <p:spPr>
          <a:xfrm>
            <a:off x="405765" y="1457325"/>
            <a:ext cx="1748700" cy="37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PT" sz="17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MTTF</a:t>
            </a:r>
            <a:endParaRPr b="1" i="0" sz="1700" u="none" cap="none" strike="noStrike">
              <a:solidFill>
                <a:srgbClr val="415A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8"/>
          <p:cNvSpPr txBox="1"/>
          <p:nvPr/>
        </p:nvSpPr>
        <p:spPr>
          <a:xfrm>
            <a:off x="405765" y="1928813"/>
            <a:ext cx="1748700" cy="19289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Mean Time To Failure — tempo médio até a 1ª falha de um disco (item não reparado).</a:t>
            </a:r>
            <a:endParaRPr b="0" i="0" sz="9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8"/>
          <p:cNvSpPr/>
          <p:nvPr/>
        </p:nvSpPr>
        <p:spPr>
          <a:xfrm>
            <a:off x="2463165" y="1285875"/>
            <a:ext cx="2023200" cy="2714625"/>
          </a:xfrm>
          <a:prstGeom prst="roundRect">
            <a:avLst>
              <a:gd fmla="val 2711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8"/>
          <p:cNvSpPr txBox="1"/>
          <p:nvPr/>
        </p:nvSpPr>
        <p:spPr>
          <a:xfrm>
            <a:off x="2600325" y="1457325"/>
            <a:ext cx="1748700" cy="37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PT" sz="17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MTBF</a:t>
            </a:r>
            <a:endParaRPr b="1" i="0" sz="1700" u="none" cap="none" strike="noStrike">
              <a:solidFill>
                <a:srgbClr val="415A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8"/>
          <p:cNvSpPr txBox="1"/>
          <p:nvPr/>
        </p:nvSpPr>
        <p:spPr>
          <a:xfrm>
            <a:off x="2600325" y="1928813"/>
            <a:ext cx="1748700" cy="19289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Mean Time Between Failures — para sistemas reparáveis: MTBF = MTTF + MTTR.</a:t>
            </a:r>
            <a:endParaRPr b="0" i="0" sz="9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8"/>
          <p:cNvSpPr/>
          <p:nvPr/>
        </p:nvSpPr>
        <p:spPr>
          <a:xfrm>
            <a:off x="4657725" y="1285875"/>
            <a:ext cx="2023200" cy="2714625"/>
          </a:xfrm>
          <a:prstGeom prst="roundRect">
            <a:avLst>
              <a:gd fmla="val 2711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8"/>
          <p:cNvSpPr txBox="1"/>
          <p:nvPr/>
        </p:nvSpPr>
        <p:spPr>
          <a:xfrm>
            <a:off x="4794885" y="1457325"/>
            <a:ext cx="1748700" cy="37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PT" sz="17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MTTR</a:t>
            </a:r>
            <a:endParaRPr b="1" i="0" sz="1700" u="none" cap="none" strike="noStrike">
              <a:solidFill>
                <a:srgbClr val="415A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8"/>
          <p:cNvSpPr txBox="1"/>
          <p:nvPr/>
        </p:nvSpPr>
        <p:spPr>
          <a:xfrm>
            <a:off x="4794885" y="1928813"/>
            <a:ext cx="1748700" cy="19289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Mean Time To Repair — tempo médio para detectar, trocar e reconstruir (rebuild) um disco falho.</a:t>
            </a:r>
            <a:endParaRPr b="0" i="0" sz="9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8"/>
          <p:cNvSpPr/>
          <p:nvPr/>
        </p:nvSpPr>
        <p:spPr>
          <a:xfrm>
            <a:off x="6852285" y="1285875"/>
            <a:ext cx="2023200" cy="2714625"/>
          </a:xfrm>
          <a:prstGeom prst="roundRect">
            <a:avLst>
              <a:gd fmla="val 2711" name="adj"/>
            </a:avLst>
          </a:prstGeom>
          <a:solidFill>
            <a:srgbClr val="415A77"/>
          </a:solidFill>
          <a:ln cap="flat" cmpd="sng" w="12700">
            <a:solidFill>
              <a:srgbClr val="415A7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8"/>
          <p:cNvSpPr txBox="1"/>
          <p:nvPr/>
        </p:nvSpPr>
        <p:spPr>
          <a:xfrm>
            <a:off x="6989445" y="1457325"/>
            <a:ext cx="1748700" cy="37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PT" sz="17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MTTDL</a:t>
            </a:r>
            <a:endParaRPr b="1" i="0" sz="1700" u="none" cap="none" strike="noStrike">
              <a:solidFill>
                <a:srgbClr val="E9C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8"/>
          <p:cNvSpPr txBox="1"/>
          <p:nvPr/>
        </p:nvSpPr>
        <p:spPr>
          <a:xfrm>
            <a:off x="6989445" y="1928813"/>
            <a:ext cx="1748700" cy="19289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Mean Time To Data Loss — tempo médio esperado até uma combinação de falhas causar perda efetiva de dados.</a:t>
            </a:r>
            <a:b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Depende do nível de RAID, nº de discos, taxa de falhas e tempo de reconstrução.</a:t>
            </a:r>
            <a:endParaRPr b="0" i="0" sz="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8"/>
          <p:cNvSpPr txBox="1"/>
          <p:nvPr/>
        </p:nvSpPr>
        <p:spPr>
          <a:xfrm>
            <a:off x="342900" y="4896612"/>
            <a:ext cx="6172200" cy="20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700"/>
              <a:buFont typeface="Calibri"/>
              <a:buNone/>
            </a:pPr>
            <a:r>
              <a:rPr b="0" i="0" lang="pt-PT" sz="7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8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9"/>
          <p:cNvSpPr txBox="1"/>
          <p:nvPr/>
        </p:nvSpPr>
        <p:spPr>
          <a:xfrm>
            <a:off x="342900" y="240030"/>
            <a:ext cx="84353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000"/>
              <a:buFont typeface="Calibri"/>
              <a:buNone/>
            </a:pPr>
            <a:r>
              <a:rPr b="1" i="0" lang="pt-PT" sz="2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RAID 0 e RAID 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9"/>
          <p:cNvSpPr txBox="1"/>
          <p:nvPr/>
        </p:nvSpPr>
        <p:spPr>
          <a:xfrm>
            <a:off x="411480" y="822960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300"/>
              <a:buFont typeface="Calibri"/>
              <a:buNone/>
            </a:pPr>
            <a:r>
              <a:rPr b="1" i="0" lang="pt-PT" sz="13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RAID 0 — Striping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9"/>
          <p:cNvSpPr/>
          <p:nvPr/>
        </p:nvSpPr>
        <p:spPr>
          <a:xfrm>
            <a:off x="617220" y="1200150"/>
            <a:ext cx="788670" cy="37719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9"/>
          <p:cNvSpPr txBox="1"/>
          <p:nvPr/>
        </p:nvSpPr>
        <p:spPr>
          <a:xfrm>
            <a:off x="617220" y="1200150"/>
            <a:ext cx="78867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9"/>
          <p:cNvSpPr/>
          <p:nvPr/>
        </p:nvSpPr>
        <p:spPr>
          <a:xfrm>
            <a:off x="617220" y="1577340"/>
            <a:ext cx="788670" cy="37719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9"/>
          <p:cNvSpPr txBox="1"/>
          <p:nvPr/>
        </p:nvSpPr>
        <p:spPr>
          <a:xfrm>
            <a:off x="617220" y="1577340"/>
            <a:ext cx="78867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9"/>
          <p:cNvSpPr txBox="1"/>
          <p:nvPr/>
        </p:nvSpPr>
        <p:spPr>
          <a:xfrm>
            <a:off x="617220" y="2009394"/>
            <a:ext cx="7886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9"/>
          <p:cNvSpPr/>
          <p:nvPr/>
        </p:nvSpPr>
        <p:spPr>
          <a:xfrm>
            <a:off x="1508760" y="1200150"/>
            <a:ext cx="788670" cy="37719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9"/>
          <p:cNvSpPr txBox="1"/>
          <p:nvPr/>
        </p:nvSpPr>
        <p:spPr>
          <a:xfrm>
            <a:off x="1508760" y="1200150"/>
            <a:ext cx="78867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9"/>
          <p:cNvSpPr/>
          <p:nvPr/>
        </p:nvSpPr>
        <p:spPr>
          <a:xfrm>
            <a:off x="1508760" y="1577340"/>
            <a:ext cx="788670" cy="37719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1508760" y="1577340"/>
            <a:ext cx="78867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9"/>
          <p:cNvSpPr txBox="1"/>
          <p:nvPr/>
        </p:nvSpPr>
        <p:spPr>
          <a:xfrm>
            <a:off x="1508760" y="2009394"/>
            <a:ext cx="7886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9"/>
          <p:cNvSpPr/>
          <p:nvPr/>
        </p:nvSpPr>
        <p:spPr>
          <a:xfrm>
            <a:off x="2400300" y="1200150"/>
            <a:ext cx="788670" cy="37719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9"/>
          <p:cNvSpPr txBox="1"/>
          <p:nvPr/>
        </p:nvSpPr>
        <p:spPr>
          <a:xfrm>
            <a:off x="2400300" y="1200150"/>
            <a:ext cx="78867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9"/>
          <p:cNvSpPr/>
          <p:nvPr/>
        </p:nvSpPr>
        <p:spPr>
          <a:xfrm>
            <a:off x="2400300" y="1577340"/>
            <a:ext cx="788670" cy="37719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9"/>
          <p:cNvSpPr txBox="1"/>
          <p:nvPr/>
        </p:nvSpPr>
        <p:spPr>
          <a:xfrm>
            <a:off x="2400300" y="1577340"/>
            <a:ext cx="78867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9"/>
          <p:cNvSpPr txBox="1"/>
          <p:nvPr/>
        </p:nvSpPr>
        <p:spPr>
          <a:xfrm>
            <a:off x="2400300" y="2009394"/>
            <a:ext cx="7886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9"/>
          <p:cNvSpPr/>
          <p:nvPr/>
        </p:nvSpPr>
        <p:spPr>
          <a:xfrm>
            <a:off x="3291840" y="1200150"/>
            <a:ext cx="788670" cy="37719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9"/>
          <p:cNvSpPr txBox="1"/>
          <p:nvPr/>
        </p:nvSpPr>
        <p:spPr>
          <a:xfrm>
            <a:off x="3291840" y="1200150"/>
            <a:ext cx="78867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9"/>
          <p:cNvSpPr/>
          <p:nvPr/>
        </p:nvSpPr>
        <p:spPr>
          <a:xfrm>
            <a:off x="3291840" y="1577340"/>
            <a:ext cx="788670" cy="37719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9"/>
          <p:cNvSpPr txBox="1"/>
          <p:nvPr/>
        </p:nvSpPr>
        <p:spPr>
          <a:xfrm>
            <a:off x="3291840" y="1577340"/>
            <a:ext cx="78867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9"/>
          <p:cNvSpPr txBox="1"/>
          <p:nvPr/>
        </p:nvSpPr>
        <p:spPr>
          <a:xfrm>
            <a:off x="3291840" y="2009394"/>
            <a:ext cx="7886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9"/>
          <p:cNvSpPr txBox="1"/>
          <p:nvPr/>
        </p:nvSpPr>
        <p:spPr>
          <a:xfrm>
            <a:off x="411480" y="2434590"/>
            <a:ext cx="397764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0 discos tolerados  •  Capacidade: N × disco  •  Desempenho: muito alto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Uso: dados não críticos/temporários (tempdb)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" name="Google Shape;422;p39"/>
          <p:cNvCxnSpPr/>
          <p:nvPr/>
        </p:nvCxnSpPr>
        <p:spPr>
          <a:xfrm>
            <a:off x="4560570" y="891540"/>
            <a:ext cx="0" cy="3840480"/>
          </a:xfrm>
          <a:prstGeom prst="straightConnector1">
            <a:avLst/>
          </a:prstGeom>
          <a:noFill/>
          <a:ln cap="flat" cmpd="sng" w="1905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3" name="Google Shape;423;p39"/>
          <p:cNvSpPr txBox="1"/>
          <p:nvPr/>
        </p:nvSpPr>
        <p:spPr>
          <a:xfrm>
            <a:off x="4766310" y="822960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300"/>
              <a:buFont typeface="Calibri"/>
              <a:buNone/>
            </a:pPr>
            <a:r>
              <a:rPr b="1" i="0" lang="pt-PT" sz="13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RAID 1 — Mirroring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9"/>
          <p:cNvSpPr/>
          <p:nvPr/>
        </p:nvSpPr>
        <p:spPr>
          <a:xfrm>
            <a:off x="5212080" y="1200150"/>
            <a:ext cx="891540" cy="37719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9"/>
          <p:cNvSpPr txBox="1"/>
          <p:nvPr/>
        </p:nvSpPr>
        <p:spPr>
          <a:xfrm>
            <a:off x="5212080" y="1200150"/>
            <a:ext cx="8915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pt-P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9"/>
          <p:cNvSpPr/>
          <p:nvPr/>
        </p:nvSpPr>
        <p:spPr>
          <a:xfrm>
            <a:off x="5212080" y="1577340"/>
            <a:ext cx="891540" cy="37719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9"/>
          <p:cNvSpPr txBox="1"/>
          <p:nvPr/>
        </p:nvSpPr>
        <p:spPr>
          <a:xfrm>
            <a:off x="5212080" y="1577340"/>
            <a:ext cx="8915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pt-P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9"/>
          <p:cNvSpPr/>
          <p:nvPr/>
        </p:nvSpPr>
        <p:spPr>
          <a:xfrm>
            <a:off x="5212080" y="1954530"/>
            <a:ext cx="891540" cy="37719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9"/>
          <p:cNvSpPr txBox="1"/>
          <p:nvPr/>
        </p:nvSpPr>
        <p:spPr>
          <a:xfrm>
            <a:off x="5212080" y="1954530"/>
            <a:ext cx="8915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pt-P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9"/>
          <p:cNvSpPr txBox="1"/>
          <p:nvPr/>
        </p:nvSpPr>
        <p:spPr>
          <a:xfrm>
            <a:off x="5212080" y="2386584"/>
            <a:ext cx="8915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9"/>
          <p:cNvSpPr/>
          <p:nvPr/>
        </p:nvSpPr>
        <p:spPr>
          <a:xfrm>
            <a:off x="6789420" y="1200150"/>
            <a:ext cx="891540" cy="37719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9"/>
          <p:cNvSpPr txBox="1"/>
          <p:nvPr/>
        </p:nvSpPr>
        <p:spPr>
          <a:xfrm>
            <a:off x="6789420" y="1200150"/>
            <a:ext cx="8915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pt-P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9"/>
          <p:cNvSpPr/>
          <p:nvPr/>
        </p:nvSpPr>
        <p:spPr>
          <a:xfrm>
            <a:off x="6789420" y="1577340"/>
            <a:ext cx="891540" cy="37719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9"/>
          <p:cNvSpPr txBox="1"/>
          <p:nvPr/>
        </p:nvSpPr>
        <p:spPr>
          <a:xfrm>
            <a:off x="6789420" y="1577340"/>
            <a:ext cx="8915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pt-P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9"/>
          <p:cNvSpPr/>
          <p:nvPr/>
        </p:nvSpPr>
        <p:spPr>
          <a:xfrm>
            <a:off x="6789420" y="1954530"/>
            <a:ext cx="891540" cy="37719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9"/>
          <p:cNvSpPr txBox="1"/>
          <p:nvPr/>
        </p:nvSpPr>
        <p:spPr>
          <a:xfrm>
            <a:off x="6789420" y="1954530"/>
            <a:ext cx="8915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pt-P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9"/>
          <p:cNvSpPr txBox="1"/>
          <p:nvPr/>
        </p:nvSpPr>
        <p:spPr>
          <a:xfrm>
            <a:off x="6789420" y="2386584"/>
            <a:ext cx="8915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9"/>
          <p:cNvSpPr txBox="1"/>
          <p:nvPr/>
        </p:nvSpPr>
        <p:spPr>
          <a:xfrm>
            <a:off x="4766310" y="2434590"/>
            <a:ext cx="397764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1 disco tolerado (de 2)  •  Capacidade: 1 × disco  •  Desempenho de leitura alto (paralelo)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Uso: logs de transação, volumes de sistema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9"/>
          <p:cNvSpPr txBox="1"/>
          <p:nvPr/>
        </p:nvSpPr>
        <p:spPr>
          <a:xfrm>
            <a:off x="342900" y="4896612"/>
            <a:ext cx="6172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700"/>
              <a:buFont typeface="Calibri"/>
              <a:buNone/>
            </a:pPr>
            <a:r>
              <a:rPr b="0" i="0" lang="pt-PT" sz="7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9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40"/>
          <p:cNvGrpSpPr/>
          <p:nvPr/>
        </p:nvGrpSpPr>
        <p:grpSpPr>
          <a:xfrm>
            <a:off x="342900" y="240030"/>
            <a:ext cx="8435250" cy="411525"/>
            <a:chOff x="0" y="0"/>
            <a:chExt cx="11247000" cy="548700"/>
          </a:xfrm>
        </p:grpSpPr>
        <p:sp>
          <p:nvSpPr>
            <p:cNvPr id="447" name="Google Shape;447;p40"/>
            <p:cNvSpPr/>
            <p:nvPr/>
          </p:nvSpPr>
          <p:spPr>
            <a:xfrm>
              <a:off x="0" y="0"/>
              <a:ext cx="11247000" cy="54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40"/>
            <p:cNvSpPr txBox="1"/>
            <p:nvPr/>
          </p:nvSpPr>
          <p:spPr>
            <a:xfrm>
              <a:off x="0" y="0"/>
              <a:ext cx="112470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PT" sz="20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RAID 2 e RAID 3</a:t>
              </a:r>
              <a:endParaRPr b="1" i="0" sz="2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9" name="Google Shape;449;p40"/>
          <p:cNvGrpSpPr/>
          <p:nvPr/>
        </p:nvGrpSpPr>
        <p:grpSpPr>
          <a:xfrm>
            <a:off x="411480" y="822960"/>
            <a:ext cx="3977550" cy="274275"/>
            <a:chOff x="0" y="0"/>
            <a:chExt cx="5303400" cy="365700"/>
          </a:xfrm>
        </p:grpSpPr>
        <p:sp>
          <p:nvSpPr>
            <p:cNvPr id="450" name="Google Shape;450;p40"/>
            <p:cNvSpPr/>
            <p:nvPr/>
          </p:nvSpPr>
          <p:spPr>
            <a:xfrm>
              <a:off x="0" y="0"/>
              <a:ext cx="5303400" cy="365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40"/>
            <p:cNvSpPr txBox="1"/>
            <p:nvPr/>
          </p:nvSpPr>
          <p:spPr>
            <a:xfrm>
              <a:off x="0" y="0"/>
              <a:ext cx="53034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pt-PT" sz="1300" u="none" cap="none" strike="noStrike">
                  <a:solidFill>
                    <a:srgbClr val="415A77"/>
                  </a:solidFill>
                  <a:latin typeface="Calibri"/>
                  <a:ea typeface="Calibri"/>
                  <a:cs typeface="Calibri"/>
                  <a:sym typeface="Calibri"/>
                </a:rPr>
                <a:t>RAID 2 — Bit-Level Striping</a:t>
              </a:r>
              <a:endParaRPr b="1" i="0" sz="13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2" name="Google Shape;452;p40"/>
          <p:cNvGrpSpPr/>
          <p:nvPr/>
        </p:nvGrpSpPr>
        <p:grpSpPr>
          <a:xfrm>
            <a:off x="411480" y="1200150"/>
            <a:ext cx="535725" cy="1014894"/>
            <a:chOff x="0" y="0"/>
            <a:chExt cx="714300" cy="1353192"/>
          </a:xfrm>
        </p:grpSpPr>
        <p:sp>
          <p:nvSpPr>
            <p:cNvPr id="453" name="Google Shape;453;p40"/>
            <p:cNvSpPr/>
            <p:nvPr/>
          </p:nvSpPr>
          <p:spPr>
            <a:xfrm>
              <a:off x="0" y="0"/>
              <a:ext cx="714300" cy="502800"/>
            </a:xfrm>
            <a:prstGeom prst="rect">
              <a:avLst/>
            </a:prstGeom>
            <a:solidFill>
              <a:srgbClr val="415A77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0"/>
            <p:cNvSpPr txBox="1"/>
            <p:nvPr/>
          </p:nvSpPr>
          <p:spPr>
            <a:xfrm>
              <a:off x="0" y="0"/>
              <a:ext cx="71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pt-PT" sz="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A1</a:t>
              </a:r>
              <a:endPara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40"/>
            <p:cNvSpPr/>
            <p:nvPr/>
          </p:nvSpPr>
          <p:spPr>
            <a:xfrm>
              <a:off x="0" y="502920"/>
              <a:ext cx="714300" cy="502800"/>
            </a:xfrm>
            <a:prstGeom prst="rect">
              <a:avLst/>
            </a:prstGeom>
            <a:solidFill>
              <a:srgbClr val="415A77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0"/>
            <p:cNvSpPr txBox="1"/>
            <p:nvPr/>
          </p:nvSpPr>
          <p:spPr>
            <a:xfrm>
              <a:off x="0" y="502920"/>
              <a:ext cx="71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pt-PT" sz="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B1</a:t>
              </a:r>
              <a:endPara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40"/>
            <p:cNvSpPr txBox="1"/>
            <p:nvPr/>
          </p:nvSpPr>
          <p:spPr>
            <a:xfrm>
              <a:off x="0" y="1078992"/>
              <a:ext cx="714300" cy="274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PT" sz="8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Disco 1</a:t>
              </a:r>
              <a:endParaRPr b="1" i="0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8" name="Google Shape;458;p40"/>
          <p:cNvGrpSpPr/>
          <p:nvPr/>
        </p:nvGrpSpPr>
        <p:grpSpPr>
          <a:xfrm>
            <a:off x="1032986" y="1200150"/>
            <a:ext cx="535725" cy="1014894"/>
            <a:chOff x="0" y="0"/>
            <a:chExt cx="714300" cy="1353192"/>
          </a:xfrm>
        </p:grpSpPr>
        <p:sp>
          <p:nvSpPr>
            <p:cNvPr id="459" name="Google Shape;459;p40"/>
            <p:cNvSpPr/>
            <p:nvPr/>
          </p:nvSpPr>
          <p:spPr>
            <a:xfrm>
              <a:off x="0" y="0"/>
              <a:ext cx="714300" cy="502800"/>
            </a:xfrm>
            <a:prstGeom prst="rect">
              <a:avLst/>
            </a:prstGeom>
            <a:solidFill>
              <a:srgbClr val="415A77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40"/>
            <p:cNvSpPr txBox="1"/>
            <p:nvPr/>
          </p:nvSpPr>
          <p:spPr>
            <a:xfrm>
              <a:off x="0" y="0"/>
              <a:ext cx="71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pt-PT" sz="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A2</a:t>
              </a:r>
              <a:endPara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40"/>
            <p:cNvSpPr/>
            <p:nvPr/>
          </p:nvSpPr>
          <p:spPr>
            <a:xfrm>
              <a:off x="0" y="502920"/>
              <a:ext cx="714300" cy="502800"/>
            </a:xfrm>
            <a:prstGeom prst="rect">
              <a:avLst/>
            </a:prstGeom>
            <a:solidFill>
              <a:srgbClr val="415A77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40"/>
            <p:cNvSpPr txBox="1"/>
            <p:nvPr/>
          </p:nvSpPr>
          <p:spPr>
            <a:xfrm>
              <a:off x="0" y="502920"/>
              <a:ext cx="71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pt-PT" sz="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B2</a:t>
              </a:r>
              <a:endPara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40"/>
            <p:cNvSpPr txBox="1"/>
            <p:nvPr/>
          </p:nvSpPr>
          <p:spPr>
            <a:xfrm>
              <a:off x="0" y="1078992"/>
              <a:ext cx="714300" cy="274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PT" sz="8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Disco 2</a:t>
              </a:r>
              <a:endParaRPr b="1" i="0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4" name="Google Shape;464;p40"/>
          <p:cNvGrpSpPr/>
          <p:nvPr/>
        </p:nvGrpSpPr>
        <p:grpSpPr>
          <a:xfrm>
            <a:off x="1654493" y="1200150"/>
            <a:ext cx="535725" cy="1014894"/>
            <a:chOff x="0" y="0"/>
            <a:chExt cx="714300" cy="1353192"/>
          </a:xfrm>
        </p:grpSpPr>
        <p:sp>
          <p:nvSpPr>
            <p:cNvPr id="465" name="Google Shape;465;p40"/>
            <p:cNvSpPr/>
            <p:nvPr/>
          </p:nvSpPr>
          <p:spPr>
            <a:xfrm>
              <a:off x="0" y="0"/>
              <a:ext cx="714300" cy="502800"/>
            </a:xfrm>
            <a:prstGeom prst="rect">
              <a:avLst/>
            </a:prstGeom>
            <a:solidFill>
              <a:srgbClr val="415A77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0"/>
            <p:cNvSpPr txBox="1"/>
            <p:nvPr/>
          </p:nvSpPr>
          <p:spPr>
            <a:xfrm>
              <a:off x="0" y="0"/>
              <a:ext cx="71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pt-PT" sz="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A3</a:t>
              </a:r>
              <a:endPara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40"/>
            <p:cNvSpPr/>
            <p:nvPr/>
          </p:nvSpPr>
          <p:spPr>
            <a:xfrm>
              <a:off x="0" y="502920"/>
              <a:ext cx="714300" cy="502800"/>
            </a:xfrm>
            <a:prstGeom prst="rect">
              <a:avLst/>
            </a:prstGeom>
            <a:solidFill>
              <a:srgbClr val="415A77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0"/>
            <p:cNvSpPr txBox="1"/>
            <p:nvPr/>
          </p:nvSpPr>
          <p:spPr>
            <a:xfrm>
              <a:off x="0" y="502920"/>
              <a:ext cx="71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pt-PT" sz="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B3</a:t>
              </a:r>
              <a:endPara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40"/>
            <p:cNvSpPr txBox="1"/>
            <p:nvPr/>
          </p:nvSpPr>
          <p:spPr>
            <a:xfrm>
              <a:off x="0" y="1078992"/>
              <a:ext cx="714300" cy="274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PT" sz="8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Disco 3</a:t>
              </a:r>
              <a:endParaRPr b="1" i="0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0" name="Google Shape;470;p40"/>
          <p:cNvGrpSpPr/>
          <p:nvPr/>
        </p:nvGrpSpPr>
        <p:grpSpPr>
          <a:xfrm>
            <a:off x="2275999" y="1200150"/>
            <a:ext cx="535725" cy="1014894"/>
            <a:chOff x="0" y="0"/>
            <a:chExt cx="714300" cy="1353192"/>
          </a:xfrm>
        </p:grpSpPr>
        <p:sp>
          <p:nvSpPr>
            <p:cNvPr id="471" name="Google Shape;471;p40"/>
            <p:cNvSpPr/>
            <p:nvPr/>
          </p:nvSpPr>
          <p:spPr>
            <a:xfrm>
              <a:off x="0" y="0"/>
              <a:ext cx="714300" cy="502800"/>
            </a:xfrm>
            <a:prstGeom prst="rect">
              <a:avLst/>
            </a:prstGeom>
            <a:solidFill>
              <a:srgbClr val="E9C46A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40"/>
            <p:cNvSpPr txBox="1"/>
            <p:nvPr/>
          </p:nvSpPr>
          <p:spPr>
            <a:xfrm>
              <a:off x="0" y="0"/>
              <a:ext cx="71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PT" sz="8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H1</a:t>
              </a:r>
              <a:endParaRPr b="1" i="0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40"/>
            <p:cNvSpPr/>
            <p:nvPr/>
          </p:nvSpPr>
          <p:spPr>
            <a:xfrm>
              <a:off x="0" y="502920"/>
              <a:ext cx="714300" cy="502800"/>
            </a:xfrm>
            <a:prstGeom prst="rect">
              <a:avLst/>
            </a:prstGeom>
            <a:solidFill>
              <a:srgbClr val="E9C46A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0"/>
            <p:cNvSpPr txBox="1"/>
            <p:nvPr/>
          </p:nvSpPr>
          <p:spPr>
            <a:xfrm>
              <a:off x="0" y="502920"/>
              <a:ext cx="71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PT" sz="8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H2</a:t>
              </a:r>
              <a:endParaRPr b="1" i="0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40"/>
            <p:cNvSpPr txBox="1"/>
            <p:nvPr/>
          </p:nvSpPr>
          <p:spPr>
            <a:xfrm>
              <a:off x="0" y="1078992"/>
              <a:ext cx="714300" cy="274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PT" sz="8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Disco 4</a:t>
              </a:r>
              <a:endParaRPr b="1" i="0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6" name="Google Shape;476;p40"/>
          <p:cNvGrpSpPr/>
          <p:nvPr/>
        </p:nvGrpSpPr>
        <p:grpSpPr>
          <a:xfrm>
            <a:off x="411480" y="2434590"/>
            <a:ext cx="3977550" cy="1071675"/>
            <a:chOff x="0" y="0"/>
            <a:chExt cx="5303400" cy="1428900"/>
          </a:xfrm>
        </p:grpSpPr>
        <p:sp>
          <p:nvSpPr>
            <p:cNvPr id="477" name="Google Shape;477;p40"/>
            <p:cNvSpPr/>
            <p:nvPr/>
          </p:nvSpPr>
          <p:spPr>
            <a:xfrm>
              <a:off x="0" y="0"/>
              <a:ext cx="53034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40"/>
            <p:cNvSpPr txBox="1"/>
            <p:nvPr/>
          </p:nvSpPr>
          <p:spPr>
            <a:xfrm>
              <a:off x="0" y="0"/>
              <a:ext cx="5303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pt-PT" sz="9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• Fragmentação em nível de bit com código Hamming para detecção/correção de erros.</a:t>
              </a:r>
              <a:endParaRPr b="0" i="0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pt-PT" sz="9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• Discos sincronizados (lockstep) • Altamente ineficiente para discos modernos.</a:t>
              </a:r>
              <a:endParaRPr b="0" i="0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pt-PT" sz="9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• Uso: histórico / obsoleto (substituído pelo ECC interno dos discos).</a:t>
              </a:r>
              <a:endParaRPr b="0" i="0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p40"/>
          <p:cNvGrpSpPr/>
          <p:nvPr/>
        </p:nvGrpSpPr>
        <p:grpSpPr>
          <a:xfrm>
            <a:off x="2897505" y="1200150"/>
            <a:ext cx="535725" cy="1014894"/>
            <a:chOff x="0" y="0"/>
            <a:chExt cx="714300" cy="1353192"/>
          </a:xfrm>
        </p:grpSpPr>
        <p:sp>
          <p:nvSpPr>
            <p:cNvPr id="480" name="Google Shape;480;p40"/>
            <p:cNvSpPr/>
            <p:nvPr/>
          </p:nvSpPr>
          <p:spPr>
            <a:xfrm>
              <a:off x="0" y="0"/>
              <a:ext cx="714300" cy="502800"/>
            </a:xfrm>
            <a:prstGeom prst="rect">
              <a:avLst/>
            </a:prstGeom>
            <a:solidFill>
              <a:srgbClr val="E9C46A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40"/>
            <p:cNvSpPr txBox="1"/>
            <p:nvPr/>
          </p:nvSpPr>
          <p:spPr>
            <a:xfrm>
              <a:off x="0" y="0"/>
              <a:ext cx="71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PT" sz="8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H3</a:t>
              </a:r>
              <a:endParaRPr b="1" i="0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40"/>
            <p:cNvSpPr/>
            <p:nvPr/>
          </p:nvSpPr>
          <p:spPr>
            <a:xfrm>
              <a:off x="0" y="502920"/>
              <a:ext cx="714300" cy="502800"/>
            </a:xfrm>
            <a:prstGeom prst="rect">
              <a:avLst/>
            </a:prstGeom>
            <a:solidFill>
              <a:srgbClr val="E9C46A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40"/>
            <p:cNvSpPr txBox="1"/>
            <p:nvPr/>
          </p:nvSpPr>
          <p:spPr>
            <a:xfrm>
              <a:off x="0" y="502920"/>
              <a:ext cx="71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PT" sz="8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H4</a:t>
              </a:r>
              <a:endParaRPr b="1" i="0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40"/>
            <p:cNvSpPr txBox="1"/>
            <p:nvPr/>
          </p:nvSpPr>
          <p:spPr>
            <a:xfrm>
              <a:off x="0" y="1078992"/>
              <a:ext cx="714300" cy="274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PT" sz="8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Disco 5</a:t>
              </a:r>
              <a:endParaRPr b="1" i="0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85" name="Google Shape;485;p40"/>
          <p:cNvCxnSpPr/>
          <p:nvPr/>
        </p:nvCxnSpPr>
        <p:spPr>
          <a:xfrm>
            <a:off x="4560570" y="891540"/>
            <a:ext cx="0" cy="3840525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86" name="Google Shape;486;p40"/>
          <p:cNvGrpSpPr/>
          <p:nvPr/>
        </p:nvGrpSpPr>
        <p:grpSpPr>
          <a:xfrm>
            <a:off x="3519011" y="1200150"/>
            <a:ext cx="535725" cy="1014894"/>
            <a:chOff x="0" y="0"/>
            <a:chExt cx="714300" cy="1353192"/>
          </a:xfrm>
        </p:grpSpPr>
        <p:sp>
          <p:nvSpPr>
            <p:cNvPr id="487" name="Google Shape;487;p40"/>
            <p:cNvSpPr/>
            <p:nvPr/>
          </p:nvSpPr>
          <p:spPr>
            <a:xfrm>
              <a:off x="0" y="0"/>
              <a:ext cx="714300" cy="502800"/>
            </a:xfrm>
            <a:prstGeom prst="rect">
              <a:avLst/>
            </a:prstGeom>
            <a:solidFill>
              <a:srgbClr val="E9C46A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40"/>
            <p:cNvSpPr txBox="1"/>
            <p:nvPr/>
          </p:nvSpPr>
          <p:spPr>
            <a:xfrm>
              <a:off x="0" y="0"/>
              <a:ext cx="71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PT" sz="8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H5</a:t>
              </a:r>
              <a:endParaRPr b="1" i="0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40"/>
            <p:cNvSpPr/>
            <p:nvPr/>
          </p:nvSpPr>
          <p:spPr>
            <a:xfrm>
              <a:off x="0" y="502920"/>
              <a:ext cx="714300" cy="502800"/>
            </a:xfrm>
            <a:prstGeom prst="rect">
              <a:avLst/>
            </a:prstGeom>
            <a:solidFill>
              <a:srgbClr val="E9C46A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40"/>
            <p:cNvSpPr txBox="1"/>
            <p:nvPr/>
          </p:nvSpPr>
          <p:spPr>
            <a:xfrm>
              <a:off x="0" y="502920"/>
              <a:ext cx="71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PT" sz="8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H6</a:t>
              </a:r>
              <a:endParaRPr b="1" i="0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40"/>
            <p:cNvSpPr txBox="1"/>
            <p:nvPr/>
          </p:nvSpPr>
          <p:spPr>
            <a:xfrm>
              <a:off x="0" y="1078992"/>
              <a:ext cx="714300" cy="274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PT" sz="8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Disco 6</a:t>
              </a:r>
              <a:endParaRPr b="1" i="0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2" name="Google Shape;492;p40"/>
          <p:cNvGrpSpPr/>
          <p:nvPr/>
        </p:nvGrpSpPr>
        <p:grpSpPr>
          <a:xfrm>
            <a:off x="4766310" y="822960"/>
            <a:ext cx="3977550" cy="274275"/>
            <a:chOff x="0" y="0"/>
            <a:chExt cx="5303400" cy="365700"/>
          </a:xfrm>
        </p:grpSpPr>
        <p:sp>
          <p:nvSpPr>
            <p:cNvPr id="493" name="Google Shape;493;p40"/>
            <p:cNvSpPr/>
            <p:nvPr/>
          </p:nvSpPr>
          <p:spPr>
            <a:xfrm>
              <a:off x="0" y="0"/>
              <a:ext cx="5303400" cy="365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40"/>
            <p:cNvSpPr txBox="1"/>
            <p:nvPr/>
          </p:nvSpPr>
          <p:spPr>
            <a:xfrm>
              <a:off x="0" y="0"/>
              <a:ext cx="53034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pt-PT" sz="1300" u="none" cap="none" strike="noStrike">
                  <a:solidFill>
                    <a:srgbClr val="415A77"/>
                  </a:solidFill>
                  <a:latin typeface="Calibri"/>
                  <a:ea typeface="Calibri"/>
                  <a:cs typeface="Calibri"/>
                  <a:sym typeface="Calibri"/>
                </a:rPr>
                <a:t>RAID 3 — Byte-Level Striping</a:t>
              </a:r>
              <a:endParaRPr b="1" i="0" sz="13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5" name="Google Shape;495;p40"/>
          <p:cNvGrpSpPr/>
          <p:nvPr/>
        </p:nvGrpSpPr>
        <p:grpSpPr>
          <a:xfrm>
            <a:off x="5109210" y="1200150"/>
            <a:ext cx="788625" cy="1014894"/>
            <a:chOff x="0" y="0"/>
            <a:chExt cx="1051500" cy="1353192"/>
          </a:xfrm>
        </p:grpSpPr>
        <p:sp>
          <p:nvSpPr>
            <p:cNvPr id="496" name="Google Shape;496;p40"/>
            <p:cNvSpPr/>
            <p:nvPr/>
          </p:nvSpPr>
          <p:spPr>
            <a:xfrm>
              <a:off x="0" y="0"/>
              <a:ext cx="1051500" cy="502800"/>
            </a:xfrm>
            <a:prstGeom prst="rect">
              <a:avLst/>
            </a:prstGeom>
            <a:solidFill>
              <a:srgbClr val="415A77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0"/>
            <p:cNvSpPr txBox="1"/>
            <p:nvPr/>
          </p:nvSpPr>
          <p:spPr>
            <a:xfrm>
              <a:off x="0" y="0"/>
              <a:ext cx="10515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pt-PT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A1</a:t>
              </a:r>
              <a:endPara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40"/>
            <p:cNvSpPr/>
            <p:nvPr/>
          </p:nvSpPr>
          <p:spPr>
            <a:xfrm>
              <a:off x="0" y="502920"/>
              <a:ext cx="1051500" cy="502800"/>
            </a:xfrm>
            <a:prstGeom prst="rect">
              <a:avLst/>
            </a:prstGeom>
            <a:solidFill>
              <a:srgbClr val="415A77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40"/>
            <p:cNvSpPr txBox="1"/>
            <p:nvPr/>
          </p:nvSpPr>
          <p:spPr>
            <a:xfrm>
              <a:off x="0" y="502920"/>
              <a:ext cx="10515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pt-PT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B1</a:t>
              </a:r>
              <a:endPara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40"/>
            <p:cNvSpPr txBox="1"/>
            <p:nvPr/>
          </p:nvSpPr>
          <p:spPr>
            <a:xfrm>
              <a:off x="0" y="1078992"/>
              <a:ext cx="10515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PT" sz="8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Disco 1</a:t>
              </a:r>
              <a:endParaRPr b="1" i="0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1" name="Google Shape;501;p40"/>
          <p:cNvGrpSpPr/>
          <p:nvPr/>
        </p:nvGrpSpPr>
        <p:grpSpPr>
          <a:xfrm>
            <a:off x="6183630" y="1200150"/>
            <a:ext cx="788625" cy="1014894"/>
            <a:chOff x="0" y="0"/>
            <a:chExt cx="1051500" cy="1353192"/>
          </a:xfrm>
        </p:grpSpPr>
        <p:sp>
          <p:nvSpPr>
            <p:cNvPr id="502" name="Google Shape;502;p40"/>
            <p:cNvSpPr/>
            <p:nvPr/>
          </p:nvSpPr>
          <p:spPr>
            <a:xfrm>
              <a:off x="0" y="0"/>
              <a:ext cx="1051500" cy="502800"/>
            </a:xfrm>
            <a:prstGeom prst="rect">
              <a:avLst/>
            </a:prstGeom>
            <a:solidFill>
              <a:srgbClr val="415A77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40"/>
            <p:cNvSpPr txBox="1"/>
            <p:nvPr/>
          </p:nvSpPr>
          <p:spPr>
            <a:xfrm>
              <a:off x="0" y="0"/>
              <a:ext cx="10515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pt-PT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A2</a:t>
              </a:r>
              <a:endPara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40"/>
            <p:cNvSpPr/>
            <p:nvPr/>
          </p:nvSpPr>
          <p:spPr>
            <a:xfrm>
              <a:off x="0" y="502920"/>
              <a:ext cx="1051500" cy="502800"/>
            </a:xfrm>
            <a:prstGeom prst="rect">
              <a:avLst/>
            </a:prstGeom>
            <a:solidFill>
              <a:srgbClr val="415A77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40"/>
            <p:cNvSpPr txBox="1"/>
            <p:nvPr/>
          </p:nvSpPr>
          <p:spPr>
            <a:xfrm>
              <a:off x="0" y="502920"/>
              <a:ext cx="10515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pt-PT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B2</a:t>
              </a:r>
              <a:endPara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40"/>
            <p:cNvSpPr txBox="1"/>
            <p:nvPr/>
          </p:nvSpPr>
          <p:spPr>
            <a:xfrm>
              <a:off x="0" y="1078992"/>
              <a:ext cx="10515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PT" sz="8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Disco 2</a:t>
              </a:r>
              <a:endParaRPr b="1" i="0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7" name="Google Shape;507;p40"/>
          <p:cNvGrpSpPr/>
          <p:nvPr/>
        </p:nvGrpSpPr>
        <p:grpSpPr>
          <a:xfrm>
            <a:off x="7258050" y="1200150"/>
            <a:ext cx="788625" cy="1014894"/>
            <a:chOff x="0" y="0"/>
            <a:chExt cx="1051500" cy="1353192"/>
          </a:xfrm>
        </p:grpSpPr>
        <p:sp>
          <p:nvSpPr>
            <p:cNvPr id="508" name="Google Shape;508;p40"/>
            <p:cNvSpPr/>
            <p:nvPr/>
          </p:nvSpPr>
          <p:spPr>
            <a:xfrm>
              <a:off x="0" y="0"/>
              <a:ext cx="1051500" cy="502800"/>
            </a:xfrm>
            <a:prstGeom prst="rect">
              <a:avLst/>
            </a:prstGeom>
            <a:solidFill>
              <a:srgbClr val="E9C46A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40"/>
            <p:cNvSpPr txBox="1"/>
            <p:nvPr/>
          </p:nvSpPr>
          <p:spPr>
            <a:xfrm>
              <a:off x="0" y="0"/>
              <a:ext cx="10515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pt-PT" sz="9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P1</a:t>
              </a:r>
              <a:endParaRPr b="1" i="0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40"/>
            <p:cNvSpPr/>
            <p:nvPr/>
          </p:nvSpPr>
          <p:spPr>
            <a:xfrm>
              <a:off x="0" y="502920"/>
              <a:ext cx="1051500" cy="502800"/>
            </a:xfrm>
            <a:prstGeom prst="rect">
              <a:avLst/>
            </a:prstGeom>
            <a:solidFill>
              <a:srgbClr val="E9C46A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0"/>
            <p:cNvSpPr txBox="1"/>
            <p:nvPr/>
          </p:nvSpPr>
          <p:spPr>
            <a:xfrm>
              <a:off x="0" y="502920"/>
              <a:ext cx="10515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pt-PT" sz="9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P2</a:t>
              </a:r>
              <a:endParaRPr b="1" i="0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40"/>
            <p:cNvSpPr txBox="1"/>
            <p:nvPr/>
          </p:nvSpPr>
          <p:spPr>
            <a:xfrm>
              <a:off x="0" y="1078992"/>
              <a:ext cx="10515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PT" sz="8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Disco 3</a:t>
              </a:r>
              <a:endParaRPr b="1" i="0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p40"/>
          <p:cNvGrpSpPr/>
          <p:nvPr/>
        </p:nvGrpSpPr>
        <p:grpSpPr>
          <a:xfrm>
            <a:off x="4766310" y="2434590"/>
            <a:ext cx="3977550" cy="1071675"/>
            <a:chOff x="0" y="0"/>
            <a:chExt cx="5303400" cy="1428900"/>
          </a:xfrm>
        </p:grpSpPr>
        <p:sp>
          <p:nvSpPr>
            <p:cNvPr id="514" name="Google Shape;514;p40"/>
            <p:cNvSpPr/>
            <p:nvPr/>
          </p:nvSpPr>
          <p:spPr>
            <a:xfrm>
              <a:off x="0" y="0"/>
              <a:ext cx="53034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40"/>
            <p:cNvSpPr txBox="1"/>
            <p:nvPr/>
          </p:nvSpPr>
          <p:spPr>
            <a:xfrm>
              <a:off x="0" y="0"/>
              <a:ext cx="53034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pt-PT" sz="9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• Fragmentação em nível de byte (ou bit) com um único disco dedicado exclusivamente à paridade.</a:t>
              </a:r>
              <a:endParaRPr b="0" i="0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pt-PT" sz="9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• Alta taxa de transferência sequencial, mas baixo desempenho para I/O aleatório.</a:t>
              </a:r>
              <a:endParaRPr b="0" i="0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pt-PT" sz="9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• Uso: histórico / obsoleto (substituído por soluções em nível de bloco, como o RAID 5).</a:t>
              </a:r>
              <a:endParaRPr b="0" i="0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42900" y="4896612"/>
            <a:ext cx="6172200" cy="205650"/>
            <a:chOff x="0" y="0"/>
            <a:chExt cx="8229600" cy="274200"/>
          </a:xfrm>
        </p:grpSpPr>
        <p:sp>
          <p:nvSpPr>
            <p:cNvPr id="517" name="Google Shape;517;p40"/>
            <p:cNvSpPr/>
            <p:nvPr/>
          </p:nvSpPr>
          <p:spPr>
            <a:xfrm>
              <a:off x="0" y="0"/>
              <a:ext cx="8229600" cy="274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0"/>
            <p:cNvSpPr txBox="1"/>
            <p:nvPr/>
          </p:nvSpPr>
          <p:spPr>
            <a:xfrm>
              <a:off x="0" y="0"/>
              <a:ext cx="82296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pt-PT" sz="700" u="none" cap="none" strike="noStrike">
                  <a:solidFill>
                    <a:srgbClr val="5B6B79"/>
                  </a:solidFill>
                  <a:latin typeface="Calibri"/>
                  <a:ea typeface="Calibri"/>
                  <a:cs typeface="Calibri"/>
                  <a:sym typeface="Calibri"/>
                </a:rPr>
                <a:t>Armazenamento DAS e RAID para SBD — UFRJ</a:t>
              </a:r>
              <a:endParaRPr b="0" i="0" sz="7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9" name="Google Shape;519;p40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1"/>
          <p:cNvSpPr txBox="1"/>
          <p:nvPr/>
        </p:nvSpPr>
        <p:spPr>
          <a:xfrm>
            <a:off x="342900" y="240030"/>
            <a:ext cx="8435250" cy="41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PT" sz="2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RAID 4 — Paridade Dedicada (Block-Level)</a:t>
            </a:r>
            <a:endParaRPr b="1" i="0" sz="20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41"/>
          <p:cNvSpPr txBox="1"/>
          <p:nvPr/>
        </p:nvSpPr>
        <p:spPr>
          <a:xfrm>
            <a:off x="411480" y="788670"/>
            <a:ext cx="8229600" cy="27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pt-PT" sz="1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Striping em nível de bloco com um único disco dedicado exclusivamente à paridade</a:t>
            </a:r>
            <a:endParaRPr b="0" i="1" sz="1000" u="none" cap="none" strike="noStrike">
              <a:solidFill>
                <a:srgbClr val="5B6B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1"/>
          <p:cNvSpPr txBox="1"/>
          <p:nvPr/>
        </p:nvSpPr>
        <p:spPr>
          <a:xfrm>
            <a:off x="617220" y="994410"/>
            <a:ext cx="823050" cy="20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1</a:t>
            </a:r>
            <a:endParaRPr b="1" i="0" sz="8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2" name="Google Shape;532;p41"/>
          <p:cNvGrpSpPr/>
          <p:nvPr/>
        </p:nvGrpSpPr>
        <p:grpSpPr>
          <a:xfrm>
            <a:off x="617220" y="1268730"/>
            <a:ext cx="823050" cy="493875"/>
            <a:chOff x="0" y="0"/>
            <a:chExt cx="1097400" cy="658500"/>
          </a:xfrm>
        </p:grpSpPr>
        <p:sp>
          <p:nvSpPr>
            <p:cNvPr id="533" name="Google Shape;533;p41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415A77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41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PT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A1</a:t>
              </a:r>
              <a:endParaRPr b="1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" name="Google Shape;535;p41"/>
          <p:cNvGrpSpPr/>
          <p:nvPr/>
        </p:nvGrpSpPr>
        <p:grpSpPr>
          <a:xfrm>
            <a:off x="617220" y="1844802"/>
            <a:ext cx="823050" cy="493875"/>
            <a:chOff x="0" y="0"/>
            <a:chExt cx="1097400" cy="658500"/>
          </a:xfrm>
        </p:grpSpPr>
        <p:sp>
          <p:nvSpPr>
            <p:cNvPr id="536" name="Google Shape;536;p41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415A77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1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PT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B1</a:t>
              </a:r>
              <a:endParaRPr b="1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8" name="Google Shape;538;p41"/>
          <p:cNvGrpSpPr/>
          <p:nvPr/>
        </p:nvGrpSpPr>
        <p:grpSpPr>
          <a:xfrm>
            <a:off x="617220" y="2420874"/>
            <a:ext cx="823050" cy="493875"/>
            <a:chOff x="0" y="0"/>
            <a:chExt cx="1097400" cy="658500"/>
          </a:xfrm>
        </p:grpSpPr>
        <p:sp>
          <p:nvSpPr>
            <p:cNvPr id="539" name="Google Shape;539;p41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415A77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41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PT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C1</a:t>
              </a:r>
              <a:endParaRPr b="1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1" name="Google Shape;541;p41"/>
          <p:cNvGrpSpPr/>
          <p:nvPr/>
        </p:nvGrpSpPr>
        <p:grpSpPr>
          <a:xfrm>
            <a:off x="617220" y="2996946"/>
            <a:ext cx="823050" cy="493875"/>
            <a:chOff x="0" y="0"/>
            <a:chExt cx="1097400" cy="658500"/>
          </a:xfrm>
        </p:grpSpPr>
        <p:sp>
          <p:nvSpPr>
            <p:cNvPr id="542" name="Google Shape;542;p41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415A77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41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PT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D1</a:t>
              </a:r>
              <a:endParaRPr b="1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4" name="Google Shape;544;p41"/>
          <p:cNvSpPr txBox="1"/>
          <p:nvPr/>
        </p:nvSpPr>
        <p:spPr>
          <a:xfrm>
            <a:off x="1611630" y="994410"/>
            <a:ext cx="823050" cy="20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2</a:t>
            </a:r>
            <a:endParaRPr b="1" i="0" sz="8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5" name="Google Shape;545;p41"/>
          <p:cNvGrpSpPr/>
          <p:nvPr/>
        </p:nvGrpSpPr>
        <p:grpSpPr>
          <a:xfrm>
            <a:off x="1611630" y="1268730"/>
            <a:ext cx="823050" cy="493875"/>
            <a:chOff x="0" y="0"/>
            <a:chExt cx="1097400" cy="658500"/>
          </a:xfrm>
        </p:grpSpPr>
        <p:sp>
          <p:nvSpPr>
            <p:cNvPr id="546" name="Google Shape;546;p41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415A77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41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PT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A2</a:t>
              </a:r>
              <a:endParaRPr b="1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8" name="Google Shape;548;p41"/>
          <p:cNvGrpSpPr/>
          <p:nvPr/>
        </p:nvGrpSpPr>
        <p:grpSpPr>
          <a:xfrm>
            <a:off x="1611630" y="1844802"/>
            <a:ext cx="823050" cy="493875"/>
            <a:chOff x="0" y="0"/>
            <a:chExt cx="1097400" cy="658500"/>
          </a:xfrm>
        </p:grpSpPr>
        <p:sp>
          <p:nvSpPr>
            <p:cNvPr id="549" name="Google Shape;549;p41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415A77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41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PT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B2</a:t>
              </a:r>
              <a:endParaRPr b="1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1" name="Google Shape;551;p41"/>
          <p:cNvGrpSpPr/>
          <p:nvPr/>
        </p:nvGrpSpPr>
        <p:grpSpPr>
          <a:xfrm>
            <a:off x="1611630" y="2420874"/>
            <a:ext cx="823050" cy="493875"/>
            <a:chOff x="0" y="0"/>
            <a:chExt cx="1097400" cy="658500"/>
          </a:xfrm>
        </p:grpSpPr>
        <p:sp>
          <p:nvSpPr>
            <p:cNvPr id="552" name="Google Shape;552;p41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415A77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1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PT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C2</a:t>
              </a:r>
              <a:endParaRPr b="1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4" name="Google Shape;554;p41"/>
          <p:cNvGrpSpPr/>
          <p:nvPr/>
        </p:nvGrpSpPr>
        <p:grpSpPr>
          <a:xfrm>
            <a:off x="1611630" y="2996946"/>
            <a:ext cx="823050" cy="493875"/>
            <a:chOff x="0" y="0"/>
            <a:chExt cx="1097400" cy="658500"/>
          </a:xfrm>
        </p:grpSpPr>
        <p:sp>
          <p:nvSpPr>
            <p:cNvPr id="555" name="Google Shape;555;p41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415A77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41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PT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D2</a:t>
              </a:r>
              <a:endParaRPr b="1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7" name="Google Shape;557;p41"/>
          <p:cNvSpPr txBox="1"/>
          <p:nvPr/>
        </p:nvSpPr>
        <p:spPr>
          <a:xfrm>
            <a:off x="2606040" y="994410"/>
            <a:ext cx="823050" cy="20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3</a:t>
            </a:r>
            <a:endParaRPr b="1" i="0" sz="8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8" name="Google Shape;558;p41"/>
          <p:cNvGrpSpPr/>
          <p:nvPr/>
        </p:nvGrpSpPr>
        <p:grpSpPr>
          <a:xfrm>
            <a:off x="2606040" y="1268730"/>
            <a:ext cx="823050" cy="493875"/>
            <a:chOff x="0" y="0"/>
            <a:chExt cx="1097400" cy="658500"/>
          </a:xfrm>
        </p:grpSpPr>
        <p:sp>
          <p:nvSpPr>
            <p:cNvPr id="559" name="Google Shape;559;p41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415A77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1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PT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A3</a:t>
              </a:r>
              <a:endParaRPr b="1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1" name="Google Shape;561;p41"/>
          <p:cNvGrpSpPr/>
          <p:nvPr/>
        </p:nvGrpSpPr>
        <p:grpSpPr>
          <a:xfrm>
            <a:off x="2606040" y="1844802"/>
            <a:ext cx="823050" cy="493875"/>
            <a:chOff x="0" y="0"/>
            <a:chExt cx="1097400" cy="658500"/>
          </a:xfrm>
        </p:grpSpPr>
        <p:sp>
          <p:nvSpPr>
            <p:cNvPr id="562" name="Google Shape;562;p41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415A77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1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PT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B3</a:t>
              </a:r>
              <a:endParaRPr b="1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4" name="Google Shape;564;p41"/>
          <p:cNvGrpSpPr/>
          <p:nvPr/>
        </p:nvGrpSpPr>
        <p:grpSpPr>
          <a:xfrm>
            <a:off x="2606040" y="2420874"/>
            <a:ext cx="823050" cy="493875"/>
            <a:chOff x="0" y="0"/>
            <a:chExt cx="1097400" cy="658500"/>
          </a:xfrm>
        </p:grpSpPr>
        <p:sp>
          <p:nvSpPr>
            <p:cNvPr id="565" name="Google Shape;565;p41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415A77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41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PT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C3</a:t>
              </a:r>
              <a:endParaRPr b="1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7" name="Google Shape;567;p41"/>
          <p:cNvGrpSpPr/>
          <p:nvPr/>
        </p:nvGrpSpPr>
        <p:grpSpPr>
          <a:xfrm>
            <a:off x="2606040" y="2996946"/>
            <a:ext cx="823050" cy="493875"/>
            <a:chOff x="0" y="0"/>
            <a:chExt cx="1097400" cy="658500"/>
          </a:xfrm>
        </p:grpSpPr>
        <p:sp>
          <p:nvSpPr>
            <p:cNvPr id="568" name="Google Shape;568;p41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415A77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1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PT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D3</a:t>
              </a:r>
              <a:endParaRPr b="1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0" name="Google Shape;570;p41"/>
          <p:cNvSpPr txBox="1"/>
          <p:nvPr/>
        </p:nvSpPr>
        <p:spPr>
          <a:xfrm>
            <a:off x="3600450" y="994410"/>
            <a:ext cx="823050" cy="20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4 (Paridade)</a:t>
            </a:r>
            <a:endParaRPr b="1" i="0" sz="8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1" name="Google Shape;571;p41"/>
          <p:cNvGrpSpPr/>
          <p:nvPr/>
        </p:nvGrpSpPr>
        <p:grpSpPr>
          <a:xfrm>
            <a:off x="3600450" y="1268730"/>
            <a:ext cx="823050" cy="493875"/>
            <a:chOff x="0" y="0"/>
            <a:chExt cx="1097400" cy="658500"/>
          </a:xfrm>
        </p:grpSpPr>
        <p:sp>
          <p:nvSpPr>
            <p:cNvPr id="572" name="Google Shape;572;p41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E9C46A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1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PT" sz="11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AP</a:t>
              </a:r>
              <a:endParaRPr b="1" i="0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4" name="Google Shape;574;p41"/>
          <p:cNvGrpSpPr/>
          <p:nvPr/>
        </p:nvGrpSpPr>
        <p:grpSpPr>
          <a:xfrm>
            <a:off x="3600450" y="1844802"/>
            <a:ext cx="823050" cy="493875"/>
            <a:chOff x="0" y="0"/>
            <a:chExt cx="1097400" cy="658500"/>
          </a:xfrm>
        </p:grpSpPr>
        <p:sp>
          <p:nvSpPr>
            <p:cNvPr id="575" name="Google Shape;575;p41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E9C46A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41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PT" sz="11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BP</a:t>
              </a:r>
              <a:endParaRPr b="1" i="0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3600450" y="2420874"/>
            <a:ext cx="823050" cy="493875"/>
            <a:chOff x="0" y="0"/>
            <a:chExt cx="1097400" cy="658500"/>
          </a:xfrm>
        </p:grpSpPr>
        <p:sp>
          <p:nvSpPr>
            <p:cNvPr id="578" name="Google Shape;578;p41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E9C46A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41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PT" sz="11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CP</a:t>
              </a:r>
              <a:endParaRPr b="1" i="0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3600450" y="2996946"/>
            <a:ext cx="823050" cy="493875"/>
            <a:chOff x="0" y="0"/>
            <a:chExt cx="1097400" cy="658500"/>
          </a:xfrm>
        </p:grpSpPr>
        <p:sp>
          <p:nvSpPr>
            <p:cNvPr id="581" name="Google Shape;581;p41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E9C46A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1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PT" sz="1100" u="none" cap="none" strike="noStrike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DP</a:t>
              </a:r>
              <a:endParaRPr b="1" i="0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3" name="Google Shape;583;p41"/>
          <p:cNvSpPr txBox="1"/>
          <p:nvPr/>
        </p:nvSpPr>
        <p:spPr>
          <a:xfrm>
            <a:off x="4766310" y="1178719"/>
            <a:ext cx="4000500" cy="30003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000"/>
              <a:buFont typeface="Calibri"/>
              <a:buChar char="●"/>
            </a:pPr>
            <a:r>
              <a:rPr b="0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Mínimo 3 discos • Tolera 1 falha • Capacidade útil: (N−1) × disco</a:t>
            </a:r>
            <a:endParaRPr b="0" i="0" sz="10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B263B"/>
              </a:buClr>
              <a:buSzPts val="1000"/>
              <a:buFont typeface="Calibri"/>
              <a:buChar char="●"/>
            </a:pPr>
            <a:r>
              <a:rPr b="0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Diferente do RAID 3, o striping em nível de bloco permite que requisições pequenas de leitura sejam atendidas em paralelo por discos diferentes.</a:t>
            </a:r>
            <a:endParaRPr b="0" i="0" sz="10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B263B"/>
              </a:buClr>
              <a:buSzPts val="1000"/>
              <a:buFont typeface="Calibri"/>
              <a:buChar char="●"/>
            </a:pPr>
            <a:r>
              <a:rPr b="1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Gargalo de escrita (Parity Bottleneck):</a:t>
            </a:r>
            <a:r>
              <a:rPr b="0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 Toda gravação pequena e aleatória exige atualizar o único disco de paridade (ciclo read-modify-write), tornando-o o ponto de serialização do arranjo.</a:t>
            </a:r>
            <a:endParaRPr b="0" i="0" sz="10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1B263B"/>
              </a:buClr>
              <a:buSzPts val="1000"/>
              <a:buFont typeface="Calibri"/>
              <a:buChar char="●"/>
            </a:pPr>
            <a:r>
              <a:rPr b="0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Uso recomendado: historicamente usado para leituras paralelas, mas amplamente superado pelo RAID 5.</a:t>
            </a:r>
            <a:endParaRPr b="0" i="0" sz="1000" u="none" cap="none" strike="noStrike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41"/>
          <p:cNvSpPr txBox="1"/>
          <p:nvPr/>
        </p:nvSpPr>
        <p:spPr>
          <a:xfrm>
            <a:off x="342900" y="4896612"/>
            <a:ext cx="6172200" cy="20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PT" sz="7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700" u="none" cap="none" strike="noStrike">
              <a:solidFill>
                <a:srgbClr val="5B6B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41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2"/>
          <p:cNvSpPr txBox="1"/>
          <p:nvPr/>
        </p:nvSpPr>
        <p:spPr>
          <a:xfrm>
            <a:off x="342900" y="240030"/>
            <a:ext cx="84353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000"/>
              <a:buFont typeface="Calibri"/>
              <a:buNone/>
            </a:pPr>
            <a:r>
              <a:rPr b="1" i="0" lang="pt-PT" sz="2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RAID 5 — Paridade Distribuída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42"/>
          <p:cNvSpPr txBox="1"/>
          <p:nvPr/>
        </p:nvSpPr>
        <p:spPr>
          <a:xfrm>
            <a:off x="411480" y="78867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1" lang="pt-PT" sz="1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Striping em bloco + paridade rotacionada entre todos os discos (elimina o gargalo do RAID4)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2"/>
          <p:cNvSpPr txBox="1"/>
          <p:nvPr/>
        </p:nvSpPr>
        <p:spPr>
          <a:xfrm>
            <a:off x="617220" y="994410"/>
            <a:ext cx="9258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2"/>
          <p:cNvSpPr/>
          <p:nvPr/>
        </p:nvSpPr>
        <p:spPr>
          <a:xfrm>
            <a:off x="617220" y="1268730"/>
            <a:ext cx="925830" cy="493776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42"/>
          <p:cNvSpPr txBox="1"/>
          <p:nvPr/>
        </p:nvSpPr>
        <p:spPr>
          <a:xfrm>
            <a:off x="617220" y="1268730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42"/>
          <p:cNvSpPr/>
          <p:nvPr/>
        </p:nvSpPr>
        <p:spPr>
          <a:xfrm>
            <a:off x="617220" y="1844802"/>
            <a:ext cx="925830" cy="493776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2"/>
          <p:cNvSpPr txBox="1"/>
          <p:nvPr/>
        </p:nvSpPr>
        <p:spPr>
          <a:xfrm>
            <a:off x="617220" y="1844802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42"/>
          <p:cNvSpPr/>
          <p:nvPr/>
        </p:nvSpPr>
        <p:spPr>
          <a:xfrm>
            <a:off x="617220" y="2420874"/>
            <a:ext cx="925830" cy="493776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42"/>
          <p:cNvSpPr txBox="1"/>
          <p:nvPr/>
        </p:nvSpPr>
        <p:spPr>
          <a:xfrm>
            <a:off x="617220" y="2420874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42"/>
          <p:cNvSpPr/>
          <p:nvPr/>
        </p:nvSpPr>
        <p:spPr>
          <a:xfrm>
            <a:off x="617220" y="2996946"/>
            <a:ext cx="925830" cy="493776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42"/>
          <p:cNvSpPr txBox="1"/>
          <p:nvPr/>
        </p:nvSpPr>
        <p:spPr>
          <a:xfrm>
            <a:off x="617220" y="2996946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42"/>
          <p:cNvSpPr txBox="1"/>
          <p:nvPr/>
        </p:nvSpPr>
        <p:spPr>
          <a:xfrm>
            <a:off x="1645920" y="994410"/>
            <a:ext cx="9258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42"/>
          <p:cNvSpPr/>
          <p:nvPr/>
        </p:nvSpPr>
        <p:spPr>
          <a:xfrm>
            <a:off x="1645920" y="1268730"/>
            <a:ext cx="925830" cy="493776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42"/>
          <p:cNvSpPr txBox="1"/>
          <p:nvPr/>
        </p:nvSpPr>
        <p:spPr>
          <a:xfrm>
            <a:off x="1645920" y="1268730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42"/>
          <p:cNvSpPr/>
          <p:nvPr/>
        </p:nvSpPr>
        <p:spPr>
          <a:xfrm>
            <a:off x="1645920" y="1844802"/>
            <a:ext cx="925830" cy="493776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42"/>
          <p:cNvSpPr txBox="1"/>
          <p:nvPr/>
        </p:nvSpPr>
        <p:spPr>
          <a:xfrm>
            <a:off x="1645920" y="1844802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2"/>
          <p:cNvSpPr/>
          <p:nvPr/>
        </p:nvSpPr>
        <p:spPr>
          <a:xfrm>
            <a:off x="1645920" y="2420874"/>
            <a:ext cx="925830" cy="493776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2"/>
          <p:cNvSpPr txBox="1"/>
          <p:nvPr/>
        </p:nvSpPr>
        <p:spPr>
          <a:xfrm>
            <a:off x="1645920" y="2420874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2"/>
          <p:cNvSpPr/>
          <p:nvPr/>
        </p:nvSpPr>
        <p:spPr>
          <a:xfrm>
            <a:off x="1645920" y="2996946"/>
            <a:ext cx="925830" cy="493776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42"/>
          <p:cNvSpPr txBox="1"/>
          <p:nvPr/>
        </p:nvSpPr>
        <p:spPr>
          <a:xfrm>
            <a:off x="1645920" y="2996946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42"/>
          <p:cNvSpPr txBox="1"/>
          <p:nvPr/>
        </p:nvSpPr>
        <p:spPr>
          <a:xfrm>
            <a:off x="2674620" y="994410"/>
            <a:ext cx="9258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42"/>
          <p:cNvSpPr/>
          <p:nvPr/>
        </p:nvSpPr>
        <p:spPr>
          <a:xfrm>
            <a:off x="2674620" y="1268730"/>
            <a:ext cx="925830" cy="493776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42"/>
          <p:cNvSpPr txBox="1"/>
          <p:nvPr/>
        </p:nvSpPr>
        <p:spPr>
          <a:xfrm>
            <a:off x="2674620" y="1268730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42"/>
          <p:cNvSpPr/>
          <p:nvPr/>
        </p:nvSpPr>
        <p:spPr>
          <a:xfrm>
            <a:off x="2674620" y="1844802"/>
            <a:ext cx="925830" cy="493776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42"/>
          <p:cNvSpPr txBox="1"/>
          <p:nvPr/>
        </p:nvSpPr>
        <p:spPr>
          <a:xfrm>
            <a:off x="2674620" y="1844802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42"/>
          <p:cNvSpPr/>
          <p:nvPr/>
        </p:nvSpPr>
        <p:spPr>
          <a:xfrm>
            <a:off x="2674620" y="2420874"/>
            <a:ext cx="925830" cy="493776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42"/>
          <p:cNvSpPr txBox="1"/>
          <p:nvPr/>
        </p:nvSpPr>
        <p:spPr>
          <a:xfrm>
            <a:off x="2674620" y="2420874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2"/>
          <p:cNvSpPr/>
          <p:nvPr/>
        </p:nvSpPr>
        <p:spPr>
          <a:xfrm>
            <a:off x="2674620" y="2996946"/>
            <a:ext cx="925830" cy="493776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2"/>
          <p:cNvSpPr txBox="1"/>
          <p:nvPr/>
        </p:nvSpPr>
        <p:spPr>
          <a:xfrm>
            <a:off x="2674620" y="2996946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42"/>
          <p:cNvSpPr txBox="1"/>
          <p:nvPr/>
        </p:nvSpPr>
        <p:spPr>
          <a:xfrm>
            <a:off x="3703320" y="994410"/>
            <a:ext cx="9258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2"/>
          <p:cNvSpPr/>
          <p:nvPr/>
        </p:nvSpPr>
        <p:spPr>
          <a:xfrm>
            <a:off x="3703320" y="1268730"/>
            <a:ext cx="925830" cy="493776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42"/>
          <p:cNvSpPr txBox="1"/>
          <p:nvPr/>
        </p:nvSpPr>
        <p:spPr>
          <a:xfrm>
            <a:off x="3703320" y="1268730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42"/>
          <p:cNvSpPr/>
          <p:nvPr/>
        </p:nvSpPr>
        <p:spPr>
          <a:xfrm>
            <a:off x="3703320" y="1844802"/>
            <a:ext cx="925830" cy="493776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42"/>
          <p:cNvSpPr txBox="1"/>
          <p:nvPr/>
        </p:nvSpPr>
        <p:spPr>
          <a:xfrm>
            <a:off x="3703320" y="1844802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42"/>
          <p:cNvSpPr/>
          <p:nvPr/>
        </p:nvSpPr>
        <p:spPr>
          <a:xfrm>
            <a:off x="3703320" y="2420874"/>
            <a:ext cx="925830" cy="493776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42"/>
          <p:cNvSpPr txBox="1"/>
          <p:nvPr/>
        </p:nvSpPr>
        <p:spPr>
          <a:xfrm>
            <a:off x="3703320" y="2420874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42"/>
          <p:cNvSpPr/>
          <p:nvPr/>
        </p:nvSpPr>
        <p:spPr>
          <a:xfrm>
            <a:off x="3703320" y="2996946"/>
            <a:ext cx="925830" cy="493776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42"/>
          <p:cNvSpPr txBox="1"/>
          <p:nvPr/>
        </p:nvSpPr>
        <p:spPr>
          <a:xfrm>
            <a:off x="3703320" y="2996946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42"/>
          <p:cNvSpPr txBox="1"/>
          <p:nvPr/>
        </p:nvSpPr>
        <p:spPr>
          <a:xfrm>
            <a:off x="4903470" y="1440180"/>
            <a:ext cx="3840480" cy="26746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000"/>
              <a:buFont typeface="Calibri"/>
              <a:buNone/>
            </a:pPr>
            <a:r>
              <a:rPr b="0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Mínimo 3 discos  •  Tolera 1 falha  •  Capacidade útil: (N−1) × disco</a:t>
            </a:r>
            <a:br>
              <a:rPr b="0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Write penalty: 4 I/Os por escrita pequena (read-modify-write)</a:t>
            </a:r>
            <a:br>
              <a:rPr b="0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Uso: leitura predominante e eficiência de capacidade; em discos grandes ou cargas críticas, avaliar RAID 6/10 pelo risco de rebuild.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42"/>
          <p:cNvSpPr txBox="1"/>
          <p:nvPr/>
        </p:nvSpPr>
        <p:spPr>
          <a:xfrm>
            <a:off x="342900" y="4896612"/>
            <a:ext cx="6172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700"/>
              <a:buFont typeface="Calibri"/>
              <a:buNone/>
            </a:pPr>
            <a:r>
              <a:rPr b="0" i="0" lang="pt-PT" sz="7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42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3"/>
          <p:cNvSpPr txBox="1"/>
          <p:nvPr/>
        </p:nvSpPr>
        <p:spPr>
          <a:xfrm>
            <a:off x="342900" y="240030"/>
            <a:ext cx="84353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000"/>
              <a:buFont typeface="Calibri"/>
              <a:buNone/>
            </a:pPr>
            <a:r>
              <a:rPr b="1" i="0" lang="pt-PT" sz="2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RAID 6 — Dupla Paridade Distribuída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43"/>
          <p:cNvSpPr txBox="1"/>
          <p:nvPr/>
        </p:nvSpPr>
        <p:spPr>
          <a:xfrm>
            <a:off x="411480" y="78867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1" lang="pt-PT" sz="1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Como o RAID5, mas com uma segunda paridade (P+Q) independente — tolera 2 falhas simultâneas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43"/>
          <p:cNvSpPr txBox="1"/>
          <p:nvPr/>
        </p:nvSpPr>
        <p:spPr>
          <a:xfrm>
            <a:off x="617220" y="994410"/>
            <a:ext cx="9258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43"/>
          <p:cNvSpPr/>
          <p:nvPr/>
        </p:nvSpPr>
        <p:spPr>
          <a:xfrm>
            <a:off x="617220" y="1268730"/>
            <a:ext cx="925830" cy="493776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3"/>
          <p:cNvSpPr txBox="1"/>
          <p:nvPr/>
        </p:nvSpPr>
        <p:spPr>
          <a:xfrm>
            <a:off x="617220" y="1268730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43"/>
          <p:cNvSpPr/>
          <p:nvPr/>
        </p:nvSpPr>
        <p:spPr>
          <a:xfrm>
            <a:off x="617220" y="1844802"/>
            <a:ext cx="925830" cy="493776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43"/>
          <p:cNvSpPr txBox="1"/>
          <p:nvPr/>
        </p:nvSpPr>
        <p:spPr>
          <a:xfrm>
            <a:off x="617220" y="1844802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43"/>
          <p:cNvSpPr/>
          <p:nvPr/>
        </p:nvSpPr>
        <p:spPr>
          <a:xfrm>
            <a:off x="617220" y="2420874"/>
            <a:ext cx="925830" cy="493776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43"/>
          <p:cNvSpPr txBox="1"/>
          <p:nvPr/>
        </p:nvSpPr>
        <p:spPr>
          <a:xfrm>
            <a:off x="617220" y="2420874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43"/>
          <p:cNvSpPr/>
          <p:nvPr/>
        </p:nvSpPr>
        <p:spPr>
          <a:xfrm>
            <a:off x="617220" y="2996946"/>
            <a:ext cx="925830" cy="493776"/>
          </a:xfrm>
          <a:prstGeom prst="rect">
            <a:avLst/>
          </a:prstGeom>
          <a:solidFill>
            <a:srgbClr val="C1512E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43"/>
          <p:cNvSpPr txBox="1"/>
          <p:nvPr/>
        </p:nvSpPr>
        <p:spPr>
          <a:xfrm>
            <a:off x="617220" y="2996946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43"/>
          <p:cNvSpPr txBox="1"/>
          <p:nvPr/>
        </p:nvSpPr>
        <p:spPr>
          <a:xfrm>
            <a:off x="1645920" y="994410"/>
            <a:ext cx="9258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43"/>
          <p:cNvSpPr/>
          <p:nvPr/>
        </p:nvSpPr>
        <p:spPr>
          <a:xfrm>
            <a:off x="1645920" y="1268730"/>
            <a:ext cx="925830" cy="493776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43"/>
          <p:cNvSpPr txBox="1"/>
          <p:nvPr/>
        </p:nvSpPr>
        <p:spPr>
          <a:xfrm>
            <a:off x="1645920" y="1268730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43"/>
          <p:cNvSpPr/>
          <p:nvPr/>
        </p:nvSpPr>
        <p:spPr>
          <a:xfrm>
            <a:off x="1645920" y="1844802"/>
            <a:ext cx="925830" cy="493776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43"/>
          <p:cNvSpPr txBox="1"/>
          <p:nvPr/>
        </p:nvSpPr>
        <p:spPr>
          <a:xfrm>
            <a:off x="1645920" y="1844802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43"/>
          <p:cNvSpPr/>
          <p:nvPr/>
        </p:nvSpPr>
        <p:spPr>
          <a:xfrm>
            <a:off x="1645920" y="2420874"/>
            <a:ext cx="925830" cy="493776"/>
          </a:xfrm>
          <a:prstGeom prst="rect">
            <a:avLst/>
          </a:prstGeom>
          <a:solidFill>
            <a:srgbClr val="C1512E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43"/>
          <p:cNvSpPr txBox="1"/>
          <p:nvPr/>
        </p:nvSpPr>
        <p:spPr>
          <a:xfrm>
            <a:off x="1645920" y="2420874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43"/>
          <p:cNvSpPr/>
          <p:nvPr/>
        </p:nvSpPr>
        <p:spPr>
          <a:xfrm>
            <a:off x="1645920" y="2996946"/>
            <a:ext cx="925830" cy="493776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43"/>
          <p:cNvSpPr txBox="1"/>
          <p:nvPr/>
        </p:nvSpPr>
        <p:spPr>
          <a:xfrm>
            <a:off x="1645920" y="2996946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43"/>
          <p:cNvSpPr txBox="1"/>
          <p:nvPr/>
        </p:nvSpPr>
        <p:spPr>
          <a:xfrm>
            <a:off x="2674620" y="994410"/>
            <a:ext cx="9258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43"/>
          <p:cNvSpPr/>
          <p:nvPr/>
        </p:nvSpPr>
        <p:spPr>
          <a:xfrm>
            <a:off x="2674620" y="1268730"/>
            <a:ext cx="925830" cy="493776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43"/>
          <p:cNvSpPr txBox="1"/>
          <p:nvPr/>
        </p:nvSpPr>
        <p:spPr>
          <a:xfrm>
            <a:off x="2674620" y="1268730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3"/>
          <p:cNvSpPr/>
          <p:nvPr/>
        </p:nvSpPr>
        <p:spPr>
          <a:xfrm>
            <a:off x="2674620" y="1844802"/>
            <a:ext cx="925830" cy="493776"/>
          </a:xfrm>
          <a:prstGeom prst="rect">
            <a:avLst/>
          </a:prstGeom>
          <a:solidFill>
            <a:srgbClr val="C1512E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43"/>
          <p:cNvSpPr txBox="1"/>
          <p:nvPr/>
        </p:nvSpPr>
        <p:spPr>
          <a:xfrm>
            <a:off x="2674620" y="1844802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43"/>
          <p:cNvSpPr/>
          <p:nvPr/>
        </p:nvSpPr>
        <p:spPr>
          <a:xfrm>
            <a:off x="2674620" y="2420874"/>
            <a:ext cx="925830" cy="493776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43"/>
          <p:cNvSpPr txBox="1"/>
          <p:nvPr/>
        </p:nvSpPr>
        <p:spPr>
          <a:xfrm>
            <a:off x="2674620" y="2420874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43"/>
          <p:cNvSpPr/>
          <p:nvPr/>
        </p:nvSpPr>
        <p:spPr>
          <a:xfrm>
            <a:off x="2674620" y="2996946"/>
            <a:ext cx="925830" cy="493776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43"/>
          <p:cNvSpPr txBox="1"/>
          <p:nvPr/>
        </p:nvSpPr>
        <p:spPr>
          <a:xfrm>
            <a:off x="2674620" y="2996946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43"/>
          <p:cNvSpPr txBox="1"/>
          <p:nvPr/>
        </p:nvSpPr>
        <p:spPr>
          <a:xfrm>
            <a:off x="3703320" y="994410"/>
            <a:ext cx="9258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1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43"/>
          <p:cNvSpPr/>
          <p:nvPr/>
        </p:nvSpPr>
        <p:spPr>
          <a:xfrm>
            <a:off x="3703320" y="1268730"/>
            <a:ext cx="925830" cy="493776"/>
          </a:xfrm>
          <a:prstGeom prst="rect">
            <a:avLst/>
          </a:prstGeom>
          <a:solidFill>
            <a:srgbClr val="C1512E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43"/>
          <p:cNvSpPr txBox="1"/>
          <p:nvPr/>
        </p:nvSpPr>
        <p:spPr>
          <a:xfrm>
            <a:off x="3703320" y="1268730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43"/>
          <p:cNvSpPr/>
          <p:nvPr/>
        </p:nvSpPr>
        <p:spPr>
          <a:xfrm>
            <a:off x="3703320" y="1844802"/>
            <a:ext cx="925830" cy="493776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3"/>
          <p:cNvSpPr txBox="1"/>
          <p:nvPr/>
        </p:nvSpPr>
        <p:spPr>
          <a:xfrm>
            <a:off x="3703320" y="1844802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43"/>
          <p:cNvSpPr/>
          <p:nvPr/>
        </p:nvSpPr>
        <p:spPr>
          <a:xfrm>
            <a:off x="3703320" y="2420874"/>
            <a:ext cx="925830" cy="493776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43"/>
          <p:cNvSpPr txBox="1"/>
          <p:nvPr/>
        </p:nvSpPr>
        <p:spPr>
          <a:xfrm>
            <a:off x="3703320" y="2420874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43"/>
          <p:cNvSpPr/>
          <p:nvPr/>
        </p:nvSpPr>
        <p:spPr>
          <a:xfrm>
            <a:off x="3703320" y="2996946"/>
            <a:ext cx="925830" cy="493776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43"/>
          <p:cNvSpPr txBox="1"/>
          <p:nvPr/>
        </p:nvSpPr>
        <p:spPr>
          <a:xfrm>
            <a:off x="3703320" y="2996946"/>
            <a:ext cx="9258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43"/>
          <p:cNvSpPr txBox="1"/>
          <p:nvPr/>
        </p:nvSpPr>
        <p:spPr>
          <a:xfrm>
            <a:off x="4903470" y="1440180"/>
            <a:ext cx="3840480" cy="26746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000"/>
              <a:buFont typeface="Calibri"/>
              <a:buNone/>
            </a:pPr>
            <a:r>
              <a:rPr b="0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Mínimo 4 discos  •  Tolera 2 falhas simultâneas  •  Capacidade útil: (N−2) × disco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000"/>
              <a:buFont typeface="Calibri"/>
              <a:buNone/>
            </a:pPr>
            <a:r>
              <a:rPr b="0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Write penalty ainda maior que o RAID 5 (até 6 I/Os por escrita)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000"/>
              <a:buFont typeface="Calibri"/>
              <a:buNone/>
            </a:pPr>
            <a:r>
              <a:rPr b="0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Uso recomendado: arranjos grandes / discos de alta capacidade, onde o rebuild é longo e uma 2ª falha é um risco real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43"/>
          <p:cNvSpPr txBox="1"/>
          <p:nvPr/>
        </p:nvSpPr>
        <p:spPr>
          <a:xfrm>
            <a:off x="342900" y="4896612"/>
            <a:ext cx="6172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700"/>
              <a:buFont typeface="Calibri"/>
              <a:buNone/>
            </a:pPr>
            <a:r>
              <a:rPr b="0" i="0" lang="pt-PT" sz="7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43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4"/>
          <p:cNvSpPr txBox="1"/>
          <p:nvPr/>
        </p:nvSpPr>
        <p:spPr>
          <a:xfrm>
            <a:off x="342900" y="240030"/>
            <a:ext cx="84353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000"/>
              <a:buFont typeface="Calibri"/>
              <a:buNone/>
            </a:pPr>
            <a:r>
              <a:rPr b="1" i="0" lang="pt-PT" sz="2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RAID 0+1 x RAID 10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44"/>
          <p:cNvSpPr txBox="1"/>
          <p:nvPr/>
        </p:nvSpPr>
        <p:spPr>
          <a:xfrm>
            <a:off x="411480" y="822960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200"/>
              <a:buFont typeface="Calibri"/>
              <a:buNone/>
            </a:pPr>
            <a:r>
              <a:rPr b="1" i="0" lang="pt-PT" sz="12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RAID 0+1 — Mirror de Stripes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44"/>
          <p:cNvSpPr/>
          <p:nvPr/>
        </p:nvSpPr>
        <p:spPr>
          <a:xfrm>
            <a:off x="445770" y="1097280"/>
            <a:ext cx="1474470" cy="548640"/>
          </a:xfrm>
          <a:prstGeom prst="roundRect">
            <a:avLst>
              <a:gd fmla="val 10000" name="adj"/>
            </a:avLst>
          </a:prstGeom>
          <a:solidFill>
            <a:srgbClr val="F4F6F8"/>
          </a:solidFill>
          <a:ln cap="flat" cmpd="sng" w="12700">
            <a:solidFill>
              <a:srgbClr val="415A7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44"/>
          <p:cNvSpPr/>
          <p:nvPr/>
        </p:nvSpPr>
        <p:spPr>
          <a:xfrm>
            <a:off x="548640" y="1200150"/>
            <a:ext cx="582930" cy="3429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44"/>
          <p:cNvSpPr txBox="1"/>
          <p:nvPr/>
        </p:nvSpPr>
        <p:spPr>
          <a:xfrm>
            <a:off x="548640" y="1200150"/>
            <a:ext cx="5829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44"/>
          <p:cNvSpPr/>
          <p:nvPr/>
        </p:nvSpPr>
        <p:spPr>
          <a:xfrm>
            <a:off x="1234440" y="1200150"/>
            <a:ext cx="582930" cy="342900"/>
          </a:xfrm>
          <a:prstGeom prst="rect">
            <a:avLst/>
          </a:prstGeom>
          <a:solidFill>
            <a:srgbClr val="C1512E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44"/>
          <p:cNvSpPr txBox="1"/>
          <p:nvPr/>
        </p:nvSpPr>
        <p:spPr>
          <a:xfrm>
            <a:off x="1234440" y="1200150"/>
            <a:ext cx="5829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44"/>
          <p:cNvSpPr txBox="1"/>
          <p:nvPr/>
        </p:nvSpPr>
        <p:spPr>
          <a:xfrm>
            <a:off x="445770" y="1680210"/>
            <a:ext cx="14744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800"/>
              <a:buFont typeface="Calibri"/>
              <a:buNone/>
            </a:pPr>
            <a:r>
              <a:rPr b="0" i="1" lang="pt-PT" sz="8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Stripe A (RAID0)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44"/>
          <p:cNvSpPr/>
          <p:nvPr/>
        </p:nvSpPr>
        <p:spPr>
          <a:xfrm>
            <a:off x="2503170" y="1097280"/>
            <a:ext cx="1474470" cy="548640"/>
          </a:xfrm>
          <a:prstGeom prst="roundRect">
            <a:avLst>
              <a:gd fmla="val 10000" name="adj"/>
            </a:avLst>
          </a:prstGeom>
          <a:solidFill>
            <a:srgbClr val="F4F6F8"/>
          </a:solidFill>
          <a:ln cap="flat" cmpd="sng" w="12700">
            <a:solidFill>
              <a:srgbClr val="415A7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44"/>
          <p:cNvSpPr/>
          <p:nvPr/>
        </p:nvSpPr>
        <p:spPr>
          <a:xfrm>
            <a:off x="2606040" y="1200150"/>
            <a:ext cx="582930" cy="3429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44"/>
          <p:cNvSpPr txBox="1"/>
          <p:nvPr/>
        </p:nvSpPr>
        <p:spPr>
          <a:xfrm>
            <a:off x="2606040" y="1200150"/>
            <a:ext cx="5829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44"/>
          <p:cNvSpPr/>
          <p:nvPr/>
        </p:nvSpPr>
        <p:spPr>
          <a:xfrm>
            <a:off x="3291840" y="1200150"/>
            <a:ext cx="582930" cy="3429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44"/>
          <p:cNvSpPr txBox="1"/>
          <p:nvPr/>
        </p:nvSpPr>
        <p:spPr>
          <a:xfrm>
            <a:off x="3291840" y="1200150"/>
            <a:ext cx="5829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44"/>
          <p:cNvSpPr txBox="1"/>
          <p:nvPr/>
        </p:nvSpPr>
        <p:spPr>
          <a:xfrm>
            <a:off x="2503170" y="1680210"/>
            <a:ext cx="14744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800"/>
              <a:buFont typeface="Calibri"/>
              <a:buNone/>
            </a:pPr>
            <a:r>
              <a:rPr b="0" i="1" lang="pt-PT" sz="8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Stripe B (RAID0)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44"/>
          <p:cNvSpPr txBox="1"/>
          <p:nvPr/>
        </p:nvSpPr>
        <p:spPr>
          <a:xfrm>
            <a:off x="548640" y="1920240"/>
            <a:ext cx="332613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A2E"/>
              </a:buClr>
              <a:buSzPts val="900"/>
              <a:buFont typeface="Calibri"/>
              <a:buNone/>
            </a:pPr>
            <a:r>
              <a:rPr b="1" i="0" lang="pt-PT" sz="900" u="none" cap="none" strike="noStrike">
                <a:solidFill>
                  <a:srgbClr val="C99A2E"/>
                </a:solidFill>
                <a:latin typeface="Calibri"/>
                <a:ea typeface="Calibri"/>
                <a:cs typeface="Calibri"/>
                <a:sym typeface="Calibri"/>
              </a:rPr>
              <a:t>◄── MIRROR ──►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44"/>
          <p:cNvSpPr txBox="1"/>
          <p:nvPr/>
        </p:nvSpPr>
        <p:spPr>
          <a:xfrm>
            <a:off x="411480" y="2640330"/>
            <a:ext cx="39776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D2 (em vermelho) falhou → todo o Stripe A é considerado comprometido. Uma 2ª falha em qualquer disco do Stripe B (D3 ou D4) causa perda total. Rebuild recopia o stripe inteiro.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9" name="Google Shape;699;p44"/>
          <p:cNvCxnSpPr/>
          <p:nvPr/>
        </p:nvCxnSpPr>
        <p:spPr>
          <a:xfrm>
            <a:off x="4560570" y="891540"/>
            <a:ext cx="0" cy="3840480"/>
          </a:xfrm>
          <a:prstGeom prst="straightConnector1">
            <a:avLst/>
          </a:prstGeom>
          <a:noFill/>
          <a:ln cap="flat" cmpd="sng" w="1905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0" name="Google Shape;700;p44"/>
          <p:cNvSpPr txBox="1"/>
          <p:nvPr/>
        </p:nvSpPr>
        <p:spPr>
          <a:xfrm>
            <a:off x="4766310" y="822960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200"/>
              <a:buFont typeface="Calibri"/>
              <a:buNone/>
            </a:pPr>
            <a:r>
              <a:rPr b="1" i="0" lang="pt-PT" sz="12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RAID 10 — Stripe de Espelhos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44"/>
          <p:cNvSpPr/>
          <p:nvPr/>
        </p:nvSpPr>
        <p:spPr>
          <a:xfrm>
            <a:off x="4800600" y="1097280"/>
            <a:ext cx="1474470" cy="548640"/>
          </a:xfrm>
          <a:prstGeom prst="roundRect">
            <a:avLst>
              <a:gd fmla="val 10000" name="adj"/>
            </a:avLst>
          </a:prstGeom>
          <a:solidFill>
            <a:srgbClr val="F4F6F8"/>
          </a:solidFill>
          <a:ln cap="flat" cmpd="sng" w="12700">
            <a:solidFill>
              <a:srgbClr val="415A7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4"/>
          <p:cNvSpPr/>
          <p:nvPr/>
        </p:nvSpPr>
        <p:spPr>
          <a:xfrm>
            <a:off x="4903470" y="1200150"/>
            <a:ext cx="582930" cy="3429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4"/>
          <p:cNvSpPr txBox="1"/>
          <p:nvPr/>
        </p:nvSpPr>
        <p:spPr>
          <a:xfrm>
            <a:off x="4903470" y="1200150"/>
            <a:ext cx="5829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44"/>
          <p:cNvSpPr/>
          <p:nvPr/>
        </p:nvSpPr>
        <p:spPr>
          <a:xfrm>
            <a:off x="5589270" y="1200150"/>
            <a:ext cx="582930" cy="342900"/>
          </a:xfrm>
          <a:prstGeom prst="rect">
            <a:avLst/>
          </a:prstGeom>
          <a:solidFill>
            <a:srgbClr val="C1512E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4"/>
          <p:cNvSpPr txBox="1"/>
          <p:nvPr/>
        </p:nvSpPr>
        <p:spPr>
          <a:xfrm>
            <a:off x="5589270" y="1200150"/>
            <a:ext cx="5829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44"/>
          <p:cNvSpPr txBox="1"/>
          <p:nvPr/>
        </p:nvSpPr>
        <p:spPr>
          <a:xfrm>
            <a:off x="4800600" y="1680210"/>
            <a:ext cx="14744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800"/>
              <a:buFont typeface="Calibri"/>
              <a:buNone/>
            </a:pPr>
            <a:r>
              <a:rPr b="0" i="1" lang="pt-PT" sz="8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Par espelhado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4"/>
          <p:cNvSpPr/>
          <p:nvPr/>
        </p:nvSpPr>
        <p:spPr>
          <a:xfrm>
            <a:off x="6858000" y="1097280"/>
            <a:ext cx="1474470" cy="548640"/>
          </a:xfrm>
          <a:prstGeom prst="roundRect">
            <a:avLst>
              <a:gd fmla="val 10000" name="adj"/>
            </a:avLst>
          </a:prstGeom>
          <a:solidFill>
            <a:srgbClr val="F4F6F8"/>
          </a:solidFill>
          <a:ln cap="flat" cmpd="sng" w="12700">
            <a:solidFill>
              <a:srgbClr val="415A7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44"/>
          <p:cNvSpPr/>
          <p:nvPr/>
        </p:nvSpPr>
        <p:spPr>
          <a:xfrm>
            <a:off x="6960870" y="1200150"/>
            <a:ext cx="582930" cy="3429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44"/>
          <p:cNvSpPr txBox="1"/>
          <p:nvPr/>
        </p:nvSpPr>
        <p:spPr>
          <a:xfrm>
            <a:off x="6960870" y="1200150"/>
            <a:ext cx="5829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44"/>
          <p:cNvSpPr/>
          <p:nvPr/>
        </p:nvSpPr>
        <p:spPr>
          <a:xfrm>
            <a:off x="7646670" y="1200150"/>
            <a:ext cx="582930" cy="3429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44"/>
          <p:cNvSpPr txBox="1"/>
          <p:nvPr/>
        </p:nvSpPr>
        <p:spPr>
          <a:xfrm>
            <a:off x="7646670" y="1200150"/>
            <a:ext cx="5829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44"/>
          <p:cNvSpPr txBox="1"/>
          <p:nvPr/>
        </p:nvSpPr>
        <p:spPr>
          <a:xfrm>
            <a:off x="6858000" y="1680210"/>
            <a:ext cx="14744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800"/>
              <a:buFont typeface="Calibri"/>
              <a:buNone/>
            </a:pPr>
            <a:r>
              <a:rPr b="0" i="1" lang="pt-PT" sz="8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Par espelhado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44"/>
          <p:cNvSpPr txBox="1"/>
          <p:nvPr/>
        </p:nvSpPr>
        <p:spPr>
          <a:xfrm>
            <a:off x="4903470" y="1920240"/>
            <a:ext cx="332613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A2E"/>
              </a:buClr>
              <a:buSzPts val="900"/>
              <a:buFont typeface="Calibri"/>
              <a:buNone/>
            </a:pPr>
            <a:r>
              <a:rPr b="1" i="0" lang="pt-PT" sz="900" u="none" cap="none" strike="noStrike">
                <a:solidFill>
                  <a:srgbClr val="C99A2E"/>
                </a:solidFill>
                <a:latin typeface="Calibri"/>
                <a:ea typeface="Calibri"/>
                <a:cs typeface="Calibri"/>
                <a:sym typeface="Calibri"/>
              </a:rPr>
              <a:t>◄── STRIPE ──►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44"/>
          <p:cNvSpPr txBox="1"/>
          <p:nvPr/>
        </p:nvSpPr>
        <p:spPr>
          <a:xfrm>
            <a:off x="4766310" y="2640330"/>
            <a:ext cx="39776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D2 (em vermelho) falhou → apenas o Par 1 fica exposto. O Par 2 continua plenamente espelhado. Rebuild copia só o disco individual, a partir de seu par — muito mais rápido.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44"/>
          <p:cNvSpPr/>
          <p:nvPr/>
        </p:nvSpPr>
        <p:spPr>
          <a:xfrm>
            <a:off x="4766310" y="3943350"/>
            <a:ext cx="3977640" cy="377190"/>
          </a:xfrm>
          <a:prstGeom prst="roundRect">
            <a:avLst>
              <a:gd fmla="val 14545" name="adj"/>
            </a:avLst>
          </a:prstGeom>
          <a:solidFill>
            <a:srgbClr val="E9C4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44"/>
          <p:cNvSpPr txBox="1"/>
          <p:nvPr/>
        </p:nvSpPr>
        <p:spPr>
          <a:xfrm>
            <a:off x="4766310" y="3943350"/>
            <a:ext cx="39776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000"/>
              <a:buFont typeface="Calibri"/>
              <a:buNone/>
            </a:pPr>
            <a:r>
              <a:rPr b="1" i="0" lang="pt-PT" sz="1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RAID10 é, na prática, preferível ao RAID0+1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44"/>
          <p:cNvSpPr txBox="1"/>
          <p:nvPr/>
        </p:nvSpPr>
        <p:spPr>
          <a:xfrm>
            <a:off x="342900" y="4896612"/>
            <a:ext cx="6172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700"/>
              <a:buFont typeface="Calibri"/>
              <a:buNone/>
            </a:pPr>
            <a:r>
              <a:rPr b="0" i="0" lang="pt-PT" sz="7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44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5"/>
          <p:cNvSpPr txBox="1"/>
          <p:nvPr/>
        </p:nvSpPr>
        <p:spPr>
          <a:xfrm>
            <a:off x="342900" y="240030"/>
            <a:ext cx="84353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800"/>
              <a:buFont typeface="Calibri"/>
              <a:buNone/>
            </a:pPr>
            <a:r>
              <a:rPr b="1" i="0" lang="pt-PT" sz="1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Níveis Não Padrão de RAID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45"/>
          <p:cNvSpPr txBox="1"/>
          <p:nvPr/>
        </p:nvSpPr>
        <p:spPr>
          <a:xfrm>
            <a:off x="411480" y="788670"/>
            <a:ext cx="82296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1" lang="pt-PT" sz="1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Implementações proprietárias de fabricantes específicos — não são padrões abertos como RAID 0–6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45"/>
          <p:cNvSpPr/>
          <p:nvPr/>
        </p:nvSpPr>
        <p:spPr>
          <a:xfrm>
            <a:off x="411480" y="1200150"/>
            <a:ext cx="1591056" cy="336042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5"/>
          <p:cNvSpPr/>
          <p:nvPr/>
        </p:nvSpPr>
        <p:spPr>
          <a:xfrm>
            <a:off x="411480" y="1200150"/>
            <a:ext cx="1591056" cy="37719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5"/>
          <p:cNvSpPr txBox="1"/>
          <p:nvPr/>
        </p:nvSpPr>
        <p:spPr>
          <a:xfrm>
            <a:off x="411480" y="1200150"/>
            <a:ext cx="1591056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RAID 1.5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45"/>
          <p:cNvSpPr txBox="1"/>
          <p:nvPr/>
        </p:nvSpPr>
        <p:spPr>
          <a:xfrm>
            <a:off x="514350" y="1680210"/>
            <a:ext cx="13853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800E"/>
              </a:buClr>
              <a:buSzPts val="900"/>
              <a:buFont typeface="Calibri"/>
              <a:buNone/>
            </a:pPr>
            <a:r>
              <a:rPr b="1" i="1" lang="pt-PT" sz="900" u="none" cap="none" strike="noStrike">
                <a:solidFill>
                  <a:srgbClr val="B9800E"/>
                </a:solidFill>
                <a:latin typeface="Calibri"/>
                <a:ea typeface="Calibri"/>
                <a:cs typeface="Calibri"/>
                <a:sym typeface="Calibri"/>
              </a:rPr>
              <a:t>HighPoint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45"/>
          <p:cNvSpPr txBox="1"/>
          <p:nvPr/>
        </p:nvSpPr>
        <p:spPr>
          <a:xfrm>
            <a:off x="514350" y="2091690"/>
            <a:ext cx="1385316" cy="23660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0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Termo histórico da HighPoint: 2 discos, redundância semelhante a RAID 1 + leitura paralela. Não é padrão aberto.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45"/>
          <p:cNvSpPr/>
          <p:nvPr/>
        </p:nvSpPr>
        <p:spPr>
          <a:xfrm>
            <a:off x="2125980" y="1200150"/>
            <a:ext cx="1591056" cy="336042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45"/>
          <p:cNvSpPr/>
          <p:nvPr/>
        </p:nvSpPr>
        <p:spPr>
          <a:xfrm>
            <a:off x="2125980" y="1200150"/>
            <a:ext cx="1591056" cy="37719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45"/>
          <p:cNvSpPr txBox="1"/>
          <p:nvPr/>
        </p:nvSpPr>
        <p:spPr>
          <a:xfrm>
            <a:off x="2125980" y="1200150"/>
            <a:ext cx="1591056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RAID 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45"/>
          <p:cNvSpPr txBox="1"/>
          <p:nvPr/>
        </p:nvSpPr>
        <p:spPr>
          <a:xfrm>
            <a:off x="2228850" y="1680210"/>
            <a:ext cx="13853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800E"/>
              </a:buClr>
              <a:buSzPts val="900"/>
              <a:buFont typeface="Calibri"/>
              <a:buNone/>
            </a:pPr>
            <a:r>
              <a:rPr b="1" i="1" lang="pt-PT" sz="900" u="none" cap="none" strike="noStrike">
                <a:solidFill>
                  <a:srgbClr val="B9800E"/>
                </a:solidFill>
                <a:latin typeface="Calibri"/>
                <a:ea typeface="Calibri"/>
                <a:cs typeface="Calibri"/>
                <a:sym typeface="Calibri"/>
              </a:rPr>
              <a:t>Storage Computer Corp. (extinta)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5"/>
          <p:cNvSpPr txBox="1"/>
          <p:nvPr/>
        </p:nvSpPr>
        <p:spPr>
          <a:xfrm>
            <a:off x="2228850" y="2091690"/>
            <a:ext cx="1385316" cy="23660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lang="pt-PT" sz="8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Cache independente por disco + microprocessador com SO de tempo real. Marca registrada.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5"/>
          <p:cNvSpPr/>
          <p:nvPr/>
        </p:nvSpPr>
        <p:spPr>
          <a:xfrm>
            <a:off x="3840480" y="1200150"/>
            <a:ext cx="1591056" cy="336042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45"/>
          <p:cNvSpPr/>
          <p:nvPr/>
        </p:nvSpPr>
        <p:spPr>
          <a:xfrm>
            <a:off x="3840480" y="1200150"/>
            <a:ext cx="1591056" cy="37719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5"/>
          <p:cNvSpPr txBox="1"/>
          <p:nvPr/>
        </p:nvSpPr>
        <p:spPr>
          <a:xfrm>
            <a:off x="3840480" y="1200150"/>
            <a:ext cx="1591056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RAID-DP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45"/>
          <p:cNvSpPr txBox="1"/>
          <p:nvPr/>
        </p:nvSpPr>
        <p:spPr>
          <a:xfrm>
            <a:off x="3943350" y="1680210"/>
            <a:ext cx="13853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800E"/>
              </a:buClr>
              <a:buSzPts val="900"/>
              <a:buFont typeface="Calibri"/>
              <a:buNone/>
            </a:pPr>
            <a:r>
              <a:rPr b="1" i="1" lang="pt-PT" sz="900" u="none" cap="none" strike="noStrike">
                <a:solidFill>
                  <a:srgbClr val="B9800E"/>
                </a:solidFill>
                <a:latin typeface="Calibri"/>
                <a:ea typeface="Calibri"/>
                <a:cs typeface="Calibri"/>
                <a:sym typeface="Calibri"/>
              </a:rPr>
              <a:t>NetApp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45"/>
          <p:cNvSpPr txBox="1"/>
          <p:nvPr/>
        </p:nvSpPr>
        <p:spPr>
          <a:xfrm>
            <a:off x="3943350" y="2091690"/>
            <a:ext cx="1385316" cy="23660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0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Dupla paridade da NetApp integrada ao ONTAP/WAFL; tolera duas falhas de disco no grupo.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45"/>
          <p:cNvSpPr/>
          <p:nvPr/>
        </p:nvSpPr>
        <p:spPr>
          <a:xfrm>
            <a:off x="5554980" y="1200150"/>
            <a:ext cx="1591056" cy="336042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5"/>
          <p:cNvSpPr/>
          <p:nvPr/>
        </p:nvSpPr>
        <p:spPr>
          <a:xfrm>
            <a:off x="5554980" y="1200150"/>
            <a:ext cx="1591056" cy="37719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45"/>
          <p:cNvSpPr txBox="1"/>
          <p:nvPr/>
        </p:nvSpPr>
        <p:spPr>
          <a:xfrm>
            <a:off x="5554980" y="1200150"/>
            <a:ext cx="1591056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RAID-S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45"/>
          <p:cNvSpPr txBox="1"/>
          <p:nvPr/>
        </p:nvSpPr>
        <p:spPr>
          <a:xfrm>
            <a:off x="5657850" y="1680210"/>
            <a:ext cx="13853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800E"/>
              </a:buClr>
              <a:buSzPts val="900"/>
              <a:buFont typeface="Calibri"/>
              <a:buNone/>
            </a:pPr>
            <a:r>
              <a:rPr b="1" i="1" lang="pt-PT" sz="900" u="none" cap="none" strike="noStrike">
                <a:solidFill>
                  <a:srgbClr val="B9800E"/>
                </a:solidFill>
                <a:latin typeface="Calibri"/>
                <a:ea typeface="Calibri"/>
                <a:cs typeface="Calibri"/>
                <a:sym typeface="Calibri"/>
              </a:rPr>
              <a:t>EMC Symmetrix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45"/>
          <p:cNvSpPr txBox="1"/>
          <p:nvPr/>
        </p:nvSpPr>
        <p:spPr>
          <a:xfrm>
            <a:off x="5657850" y="2091690"/>
            <a:ext cx="1385316" cy="23660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lang="pt-PT" sz="8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Paridade proprietária otimizada para a cache espelhada dos arrays EMC.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45"/>
          <p:cNvSpPr/>
          <p:nvPr/>
        </p:nvSpPr>
        <p:spPr>
          <a:xfrm>
            <a:off x="7269480" y="1200150"/>
            <a:ext cx="1591056" cy="336042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45"/>
          <p:cNvSpPr/>
          <p:nvPr/>
        </p:nvSpPr>
        <p:spPr>
          <a:xfrm>
            <a:off x="7269480" y="1200150"/>
            <a:ext cx="1591056" cy="37719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45"/>
          <p:cNvSpPr txBox="1"/>
          <p:nvPr/>
        </p:nvSpPr>
        <p:spPr>
          <a:xfrm>
            <a:off x="7269480" y="1200150"/>
            <a:ext cx="1591056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Matrix RAID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45"/>
          <p:cNvSpPr txBox="1"/>
          <p:nvPr/>
        </p:nvSpPr>
        <p:spPr>
          <a:xfrm>
            <a:off x="7372350" y="1680210"/>
            <a:ext cx="13853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800E"/>
              </a:buClr>
              <a:buSzPts val="900"/>
              <a:buFont typeface="Calibri"/>
              <a:buNone/>
            </a:pPr>
            <a:r>
              <a:rPr b="1" i="1" lang="pt-PT" sz="900" u="none" cap="none" strike="noStrike">
                <a:solidFill>
                  <a:srgbClr val="B9800E"/>
                </a:solidFill>
                <a:latin typeface="Calibri"/>
                <a:ea typeface="Calibri"/>
                <a:cs typeface="Calibri"/>
                <a:sym typeface="Calibri"/>
              </a:rPr>
              <a:t>Intel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45"/>
          <p:cNvSpPr txBox="1"/>
          <p:nvPr/>
        </p:nvSpPr>
        <p:spPr>
          <a:xfrm>
            <a:off x="7372350" y="2091690"/>
            <a:ext cx="1385316" cy="23660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800"/>
              <a:buFont typeface="Calibri"/>
              <a:buNone/>
            </a:pPr>
            <a:r>
              <a:rPr b="0" i="0" lang="pt-PT" sz="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Tecnologia Intel: dois volumes RAID independentes sobre o mesmo array físico</a:t>
            </a:r>
            <a:r>
              <a:rPr lang="pt-PT" sz="8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45"/>
          <p:cNvSpPr txBox="1"/>
          <p:nvPr/>
        </p:nvSpPr>
        <p:spPr>
          <a:xfrm>
            <a:off x="342900" y="4896612"/>
            <a:ext cx="6172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700"/>
              <a:buFont typeface="Calibri"/>
              <a:buNone/>
            </a:pPr>
            <a:r>
              <a:rPr b="0" i="0" lang="pt-PT" sz="7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45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753" name="Google Shape;753;p45"/>
          <p:cNvSpPr txBox="1"/>
          <p:nvPr/>
        </p:nvSpPr>
        <p:spPr>
          <a:xfrm>
            <a:off x="514350" y="4608576"/>
            <a:ext cx="58978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PT" sz="600" u="none" cap="none" strike="noStrike">
                <a:solidFill>
                  <a:srgbClr val="5C6876"/>
                </a:solidFill>
                <a:latin typeface="Arial"/>
                <a:ea typeface="Arial"/>
                <a:cs typeface="Arial"/>
                <a:sym typeface="Arial"/>
              </a:rPr>
              <a:t>Fontes e contexto histórico: HighPoint/Tom's Hardware, Storage Computer/SEC, NetApp, EMC/NASA e Intel; referências completas no relatório.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6"/>
          <p:cNvSpPr txBox="1"/>
          <p:nvPr/>
        </p:nvSpPr>
        <p:spPr>
          <a:xfrm>
            <a:off x="342900" y="240030"/>
            <a:ext cx="84353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000"/>
              <a:buFont typeface="Calibri"/>
              <a:buNone/>
            </a:pPr>
            <a:r>
              <a:rPr b="1" i="0" lang="pt-PT" sz="2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Recomendações de Uso em SBD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46"/>
          <p:cNvSpPr/>
          <p:nvPr/>
        </p:nvSpPr>
        <p:spPr>
          <a:xfrm>
            <a:off x="411480" y="1028700"/>
            <a:ext cx="3703320" cy="377190"/>
          </a:xfrm>
          <a:prstGeom prst="rect">
            <a:avLst/>
          </a:prstGeom>
          <a:solidFill>
            <a:srgbClr val="1B263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46"/>
          <p:cNvSpPr txBox="1"/>
          <p:nvPr/>
        </p:nvSpPr>
        <p:spPr>
          <a:xfrm>
            <a:off x="411480" y="1028700"/>
            <a:ext cx="370332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pt-P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Componente do SBD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46"/>
          <p:cNvSpPr/>
          <p:nvPr/>
        </p:nvSpPr>
        <p:spPr>
          <a:xfrm>
            <a:off x="4114800" y="1028700"/>
            <a:ext cx="2880360" cy="377190"/>
          </a:xfrm>
          <a:prstGeom prst="rect">
            <a:avLst/>
          </a:prstGeom>
          <a:solidFill>
            <a:srgbClr val="1B263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46"/>
          <p:cNvSpPr txBox="1"/>
          <p:nvPr/>
        </p:nvSpPr>
        <p:spPr>
          <a:xfrm>
            <a:off x="4114800" y="1028700"/>
            <a:ext cx="28803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pt-P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Nível de RAID recomendado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46"/>
          <p:cNvSpPr/>
          <p:nvPr/>
        </p:nvSpPr>
        <p:spPr>
          <a:xfrm>
            <a:off x="6995160" y="1028700"/>
            <a:ext cx="1714500" cy="377190"/>
          </a:xfrm>
          <a:prstGeom prst="rect">
            <a:avLst/>
          </a:prstGeom>
          <a:solidFill>
            <a:srgbClr val="1B263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46"/>
          <p:cNvSpPr txBox="1"/>
          <p:nvPr/>
        </p:nvSpPr>
        <p:spPr>
          <a:xfrm>
            <a:off x="6995160" y="1028700"/>
            <a:ext cx="17145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pt-P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Interface típica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46"/>
          <p:cNvSpPr/>
          <p:nvPr/>
        </p:nvSpPr>
        <p:spPr>
          <a:xfrm>
            <a:off x="411480" y="1405890"/>
            <a:ext cx="370332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46"/>
          <p:cNvSpPr txBox="1"/>
          <p:nvPr/>
        </p:nvSpPr>
        <p:spPr>
          <a:xfrm>
            <a:off x="480060" y="1405890"/>
            <a:ext cx="35661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Logs de transação (redo/undo)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6"/>
          <p:cNvSpPr/>
          <p:nvPr/>
        </p:nvSpPr>
        <p:spPr>
          <a:xfrm>
            <a:off x="4114800" y="1405890"/>
            <a:ext cx="288036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46"/>
          <p:cNvSpPr txBox="1"/>
          <p:nvPr/>
        </p:nvSpPr>
        <p:spPr>
          <a:xfrm>
            <a:off x="4183380" y="1405890"/>
            <a:ext cx="2743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00"/>
              <a:buFont typeface="Calibri"/>
              <a:buNone/>
            </a:pPr>
            <a:r>
              <a:rPr b="1" i="0" lang="pt-PT" sz="9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RAID 1 ou RAID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46"/>
          <p:cNvSpPr/>
          <p:nvPr/>
        </p:nvSpPr>
        <p:spPr>
          <a:xfrm>
            <a:off x="6995160" y="1405890"/>
            <a:ext cx="171450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46"/>
          <p:cNvSpPr txBox="1"/>
          <p:nvPr/>
        </p:nvSpPr>
        <p:spPr>
          <a:xfrm>
            <a:off x="7063740" y="1405890"/>
            <a:ext cx="15773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46"/>
          <p:cNvSpPr/>
          <p:nvPr/>
        </p:nvSpPr>
        <p:spPr>
          <a:xfrm>
            <a:off x="411480" y="1899666"/>
            <a:ext cx="3703320" cy="493776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46"/>
          <p:cNvSpPr txBox="1"/>
          <p:nvPr/>
        </p:nvSpPr>
        <p:spPr>
          <a:xfrm>
            <a:off x="480060" y="1899666"/>
            <a:ext cx="35661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Arquivos de dados OLTP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6"/>
          <p:cNvSpPr/>
          <p:nvPr/>
        </p:nvSpPr>
        <p:spPr>
          <a:xfrm>
            <a:off x="4114800" y="1899666"/>
            <a:ext cx="2880360" cy="493776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6"/>
          <p:cNvSpPr txBox="1"/>
          <p:nvPr/>
        </p:nvSpPr>
        <p:spPr>
          <a:xfrm>
            <a:off x="4183380" y="1899666"/>
            <a:ext cx="2743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00"/>
              <a:buFont typeface="Calibri"/>
              <a:buNone/>
            </a:pPr>
            <a:r>
              <a:rPr b="1" i="0" lang="pt-PT" sz="9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RAID 10; RAID 5/6 conforme workload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46"/>
          <p:cNvSpPr/>
          <p:nvPr/>
        </p:nvSpPr>
        <p:spPr>
          <a:xfrm>
            <a:off x="6995160" y="1899666"/>
            <a:ext cx="1714500" cy="493776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46"/>
          <p:cNvSpPr txBox="1"/>
          <p:nvPr/>
        </p:nvSpPr>
        <p:spPr>
          <a:xfrm>
            <a:off x="7063740" y="1899666"/>
            <a:ext cx="15773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46"/>
          <p:cNvSpPr/>
          <p:nvPr/>
        </p:nvSpPr>
        <p:spPr>
          <a:xfrm>
            <a:off x="411480" y="2393442"/>
            <a:ext cx="370332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46"/>
          <p:cNvSpPr txBox="1"/>
          <p:nvPr/>
        </p:nvSpPr>
        <p:spPr>
          <a:xfrm>
            <a:off x="480060" y="2393442"/>
            <a:ext cx="35661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Data Warehouse / OLAP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46"/>
          <p:cNvSpPr/>
          <p:nvPr/>
        </p:nvSpPr>
        <p:spPr>
          <a:xfrm>
            <a:off x="4114800" y="2393442"/>
            <a:ext cx="288036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46"/>
          <p:cNvSpPr txBox="1"/>
          <p:nvPr/>
        </p:nvSpPr>
        <p:spPr>
          <a:xfrm>
            <a:off x="4183380" y="2393442"/>
            <a:ext cx="2743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00"/>
              <a:buFont typeface="Calibri"/>
              <a:buNone/>
            </a:pPr>
            <a:r>
              <a:rPr b="1" i="0" lang="pt-PT" sz="9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RAID 5/6 conforme escrita e rebuild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46"/>
          <p:cNvSpPr/>
          <p:nvPr/>
        </p:nvSpPr>
        <p:spPr>
          <a:xfrm>
            <a:off x="6995160" y="2393442"/>
            <a:ext cx="171450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46"/>
          <p:cNvSpPr txBox="1"/>
          <p:nvPr/>
        </p:nvSpPr>
        <p:spPr>
          <a:xfrm>
            <a:off x="7063740" y="2393442"/>
            <a:ext cx="15773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SAS / SATA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46"/>
          <p:cNvSpPr/>
          <p:nvPr/>
        </p:nvSpPr>
        <p:spPr>
          <a:xfrm>
            <a:off x="411480" y="2887218"/>
            <a:ext cx="3703320" cy="493776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46"/>
          <p:cNvSpPr txBox="1"/>
          <p:nvPr/>
        </p:nvSpPr>
        <p:spPr>
          <a:xfrm>
            <a:off x="480060" y="2887218"/>
            <a:ext cx="35661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Repositório local de backup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46"/>
          <p:cNvSpPr/>
          <p:nvPr/>
        </p:nvSpPr>
        <p:spPr>
          <a:xfrm>
            <a:off x="4114800" y="2887218"/>
            <a:ext cx="2880360" cy="493776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46"/>
          <p:cNvSpPr txBox="1"/>
          <p:nvPr/>
        </p:nvSpPr>
        <p:spPr>
          <a:xfrm>
            <a:off x="4183380" y="2887218"/>
            <a:ext cx="2743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00"/>
              <a:buFont typeface="Calibri"/>
              <a:buNone/>
            </a:pPr>
            <a:r>
              <a:rPr b="1" i="0" lang="pt-PT" sz="9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RAID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46"/>
          <p:cNvSpPr/>
          <p:nvPr/>
        </p:nvSpPr>
        <p:spPr>
          <a:xfrm>
            <a:off x="6995160" y="2887218"/>
            <a:ext cx="1714500" cy="493776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46"/>
          <p:cNvSpPr txBox="1"/>
          <p:nvPr/>
        </p:nvSpPr>
        <p:spPr>
          <a:xfrm>
            <a:off x="7063740" y="2887218"/>
            <a:ext cx="15773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46"/>
          <p:cNvSpPr/>
          <p:nvPr/>
        </p:nvSpPr>
        <p:spPr>
          <a:xfrm>
            <a:off x="411480" y="3380994"/>
            <a:ext cx="370332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46"/>
          <p:cNvSpPr txBox="1"/>
          <p:nvPr/>
        </p:nvSpPr>
        <p:spPr>
          <a:xfrm>
            <a:off x="480060" y="3380994"/>
            <a:ext cx="35661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Áreas temporárias (tempdb)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46"/>
          <p:cNvSpPr/>
          <p:nvPr/>
        </p:nvSpPr>
        <p:spPr>
          <a:xfrm>
            <a:off x="4114800" y="3380994"/>
            <a:ext cx="288036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46"/>
          <p:cNvSpPr txBox="1"/>
          <p:nvPr/>
        </p:nvSpPr>
        <p:spPr>
          <a:xfrm>
            <a:off x="4183380" y="3380994"/>
            <a:ext cx="2743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00"/>
              <a:buFont typeface="Calibri"/>
              <a:buNone/>
            </a:pPr>
            <a:r>
              <a:rPr b="1" i="0" lang="pt-PT" sz="9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RAID 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46"/>
          <p:cNvSpPr/>
          <p:nvPr/>
        </p:nvSpPr>
        <p:spPr>
          <a:xfrm>
            <a:off x="6995160" y="3380994"/>
            <a:ext cx="171450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46"/>
          <p:cNvSpPr txBox="1"/>
          <p:nvPr/>
        </p:nvSpPr>
        <p:spPr>
          <a:xfrm>
            <a:off x="7063740" y="3380994"/>
            <a:ext cx="15773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SAS / SATA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46"/>
          <p:cNvSpPr/>
          <p:nvPr/>
        </p:nvSpPr>
        <p:spPr>
          <a:xfrm>
            <a:off x="411480" y="3874770"/>
            <a:ext cx="3703320" cy="493776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46"/>
          <p:cNvSpPr txBox="1"/>
          <p:nvPr/>
        </p:nvSpPr>
        <p:spPr>
          <a:xfrm>
            <a:off x="480060" y="3874770"/>
            <a:ext cx="35661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DAS externo de alto desempenho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46"/>
          <p:cNvSpPr/>
          <p:nvPr/>
        </p:nvSpPr>
        <p:spPr>
          <a:xfrm>
            <a:off x="4114800" y="3874770"/>
            <a:ext cx="2880360" cy="493776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46"/>
          <p:cNvSpPr txBox="1"/>
          <p:nvPr/>
        </p:nvSpPr>
        <p:spPr>
          <a:xfrm>
            <a:off x="4183380" y="3874770"/>
            <a:ext cx="2743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00"/>
              <a:buFont typeface="Calibri"/>
              <a:buNone/>
            </a:pPr>
            <a:r>
              <a:rPr b="1" i="0" lang="pt-PT" sz="9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46"/>
          <p:cNvSpPr/>
          <p:nvPr/>
        </p:nvSpPr>
        <p:spPr>
          <a:xfrm>
            <a:off x="6995160" y="3874770"/>
            <a:ext cx="1714500" cy="493776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46"/>
          <p:cNvSpPr txBox="1"/>
          <p:nvPr/>
        </p:nvSpPr>
        <p:spPr>
          <a:xfrm>
            <a:off x="7063740" y="3874770"/>
            <a:ext cx="15773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USB4 v2.0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46"/>
          <p:cNvSpPr txBox="1"/>
          <p:nvPr/>
        </p:nvSpPr>
        <p:spPr>
          <a:xfrm>
            <a:off x="342900" y="4896612"/>
            <a:ext cx="6172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700"/>
              <a:buFont typeface="Calibri"/>
              <a:buNone/>
            </a:pPr>
            <a:r>
              <a:rPr b="0" i="0" lang="pt-PT" sz="7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46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804" name="Google Shape;804;p46"/>
          <p:cNvSpPr txBox="1"/>
          <p:nvPr/>
        </p:nvSpPr>
        <p:spPr>
          <a:xfrm>
            <a:off x="617220" y="4423410"/>
            <a:ext cx="56921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PT" sz="700" u="none" cap="none" strike="noStrike">
                <a:solidFill>
                  <a:srgbClr val="5C6876"/>
                </a:solidFill>
                <a:latin typeface="Arial"/>
                <a:ea typeface="Arial"/>
                <a:cs typeface="Arial"/>
                <a:sym typeface="Arial"/>
              </a:rPr>
              <a:t>* RAID aumenta disponibilidade local, mas não substitui backup independente. USB4 depende de gabinete/controlador/cabos e não é substituto automático de SAS em produção.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B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7"/>
          <p:cNvSpPr/>
          <p:nvPr/>
        </p:nvSpPr>
        <p:spPr>
          <a:xfrm>
            <a:off x="7680960" y="-891540"/>
            <a:ext cx="2331720" cy="2331720"/>
          </a:xfrm>
          <a:prstGeom prst="ellipse">
            <a:avLst/>
          </a:prstGeom>
          <a:solidFill>
            <a:srgbClr val="415A77">
              <a:alpha val="4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47"/>
          <p:cNvSpPr/>
          <p:nvPr/>
        </p:nvSpPr>
        <p:spPr>
          <a:xfrm>
            <a:off x="8435340" y="137160"/>
            <a:ext cx="1303020" cy="1303020"/>
          </a:xfrm>
          <a:prstGeom prst="ellipse">
            <a:avLst/>
          </a:prstGeom>
          <a:solidFill>
            <a:srgbClr val="E9C46A">
              <a:alpha val="3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47"/>
          <p:cNvSpPr txBox="1"/>
          <p:nvPr/>
        </p:nvSpPr>
        <p:spPr>
          <a:xfrm>
            <a:off x="480060" y="480060"/>
            <a:ext cx="54864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i="0" lang="pt-PT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47"/>
          <p:cNvSpPr/>
          <p:nvPr/>
        </p:nvSpPr>
        <p:spPr>
          <a:xfrm>
            <a:off x="548640" y="1303020"/>
            <a:ext cx="288036" cy="288036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7"/>
          <p:cNvSpPr txBox="1"/>
          <p:nvPr/>
        </p:nvSpPr>
        <p:spPr>
          <a:xfrm>
            <a:off x="548640" y="1303020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47"/>
          <p:cNvSpPr txBox="1"/>
          <p:nvPr/>
        </p:nvSpPr>
        <p:spPr>
          <a:xfrm>
            <a:off x="994410" y="1248156"/>
            <a:ext cx="7543800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escolha de interface (SATA, eSATA, SAS, FireWire, USB, HBA) e de nível de RAID é uma decisão de arquitetura, não apenas de hardware.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47"/>
          <p:cNvSpPr/>
          <p:nvPr/>
        </p:nvSpPr>
        <p:spPr>
          <a:xfrm>
            <a:off x="548640" y="2091690"/>
            <a:ext cx="288036" cy="288036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47"/>
          <p:cNvSpPr txBox="1"/>
          <p:nvPr/>
        </p:nvSpPr>
        <p:spPr>
          <a:xfrm>
            <a:off x="548640" y="2091690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47"/>
          <p:cNvSpPr txBox="1"/>
          <p:nvPr/>
        </p:nvSpPr>
        <p:spPr>
          <a:xfrm>
            <a:off x="994410" y="2036826"/>
            <a:ext cx="7543800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Paralelismo e redundância competem pelos mesmos discos: striping maximiza desempenho, mirroring/paridade sacrificam capacidade ou escrita por confiabilidade.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47"/>
          <p:cNvSpPr/>
          <p:nvPr/>
        </p:nvSpPr>
        <p:spPr>
          <a:xfrm>
            <a:off x="548640" y="2880360"/>
            <a:ext cx="288036" cy="288036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47"/>
          <p:cNvSpPr txBox="1"/>
          <p:nvPr/>
        </p:nvSpPr>
        <p:spPr>
          <a:xfrm>
            <a:off x="548640" y="2880360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47"/>
          <p:cNvSpPr txBox="1"/>
          <p:nvPr/>
        </p:nvSpPr>
        <p:spPr>
          <a:xfrm>
            <a:off x="994410" y="2825496"/>
            <a:ext cx="7543800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MTTF, MTTR, MTBF e MTTDL ajudam a quantificar o risco — e mostram por que RAID 6 ou RAID 10 podem ser preferíveis em cenários críticos e discos de alta capacidade.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47"/>
          <p:cNvSpPr/>
          <p:nvPr/>
        </p:nvSpPr>
        <p:spPr>
          <a:xfrm>
            <a:off x="548640" y="3669030"/>
            <a:ext cx="288036" cy="288036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47"/>
          <p:cNvSpPr txBox="1"/>
          <p:nvPr/>
        </p:nvSpPr>
        <p:spPr>
          <a:xfrm>
            <a:off x="548640" y="3669030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47"/>
          <p:cNvSpPr txBox="1"/>
          <p:nvPr/>
        </p:nvSpPr>
        <p:spPr>
          <a:xfrm>
            <a:off x="994410" y="3614166"/>
            <a:ext cx="7543800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Níveis não padrão (1.5, 7, DP, S, Matrix) mostram como fabricantes adaptam os conceitos acadêmicos às suas próprias arquiteturas.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47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48"/>
          <p:cNvSpPr txBox="1"/>
          <p:nvPr/>
        </p:nvSpPr>
        <p:spPr>
          <a:xfrm>
            <a:off x="342900" y="240030"/>
            <a:ext cx="84353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000"/>
              <a:buFont typeface="Calibri"/>
              <a:buNone/>
            </a:pPr>
            <a:r>
              <a:rPr b="1" i="0" lang="pt-PT" sz="20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Post-Mortem — Uso de IA Generativa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48"/>
          <p:cNvSpPr txBox="1"/>
          <p:nvPr/>
        </p:nvSpPr>
        <p:spPr>
          <a:xfrm>
            <a:off x="411480" y="78867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1" lang="pt-PT" sz="1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Assistentes utilizados: Claude (Anthropic) e OpenAI (Codex/ChatGPT)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48"/>
          <p:cNvSpPr/>
          <p:nvPr/>
        </p:nvSpPr>
        <p:spPr>
          <a:xfrm>
            <a:off x="411480" y="1200150"/>
            <a:ext cx="2640330" cy="322326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48"/>
          <p:cNvSpPr/>
          <p:nvPr/>
        </p:nvSpPr>
        <p:spPr>
          <a:xfrm>
            <a:off x="411480" y="1200150"/>
            <a:ext cx="2640330" cy="37719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48"/>
          <p:cNvSpPr txBox="1"/>
          <p:nvPr/>
        </p:nvSpPr>
        <p:spPr>
          <a:xfrm>
            <a:off x="411480" y="1200150"/>
            <a:ext cx="264033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 de prompts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48"/>
          <p:cNvSpPr txBox="1"/>
          <p:nvPr/>
        </p:nvSpPr>
        <p:spPr>
          <a:xfrm>
            <a:off x="582930" y="1783080"/>
            <a:ext cx="229743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lang="pt-PT" sz="9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Do enunciado à auditoria final: estrutura inicial do relatório; pesquisa das especificações vigentes de SAS-4 e USB4 v2.0; correção de nomenclaturas SATA/HBA; reordenação das métricas de confiabilidade; aprofundamento da seção de redundância.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48"/>
          <p:cNvSpPr/>
          <p:nvPr/>
        </p:nvSpPr>
        <p:spPr>
          <a:xfrm>
            <a:off x="3291840" y="1200150"/>
            <a:ext cx="2640330" cy="322326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48"/>
          <p:cNvSpPr/>
          <p:nvPr/>
        </p:nvSpPr>
        <p:spPr>
          <a:xfrm>
            <a:off x="3291840" y="1200150"/>
            <a:ext cx="2640330" cy="37719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48"/>
          <p:cNvSpPr txBox="1"/>
          <p:nvPr/>
        </p:nvSpPr>
        <p:spPr>
          <a:xfrm>
            <a:off x="3291840" y="1200150"/>
            <a:ext cx="264033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48"/>
          <p:cNvSpPr txBox="1"/>
          <p:nvPr/>
        </p:nvSpPr>
        <p:spPr>
          <a:xfrm>
            <a:off x="3463290" y="1783080"/>
            <a:ext cx="229743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lang="pt-PT" sz="9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Cada integrante documenta o que fez, as decisões tomadas e por quê, matriz completa de responsabilidades e autoria no relatório em PDF (Seção 12.2).</a:t>
            </a:r>
            <a:endParaRPr sz="90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lang="pt-PT" sz="9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Apesar da responsabilidade individual, todas as decisões foram tomadas após consenso do grupo.</a:t>
            </a:r>
            <a:endParaRPr sz="90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48"/>
          <p:cNvSpPr/>
          <p:nvPr/>
        </p:nvSpPr>
        <p:spPr>
          <a:xfrm>
            <a:off x="6172200" y="1200150"/>
            <a:ext cx="2640330" cy="322326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48"/>
          <p:cNvSpPr/>
          <p:nvPr/>
        </p:nvSpPr>
        <p:spPr>
          <a:xfrm>
            <a:off x="6172200" y="1200150"/>
            <a:ext cx="2640330" cy="37719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48"/>
          <p:cNvSpPr txBox="1"/>
          <p:nvPr/>
        </p:nvSpPr>
        <p:spPr>
          <a:xfrm>
            <a:off x="6172200" y="1200150"/>
            <a:ext cx="264033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P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Erros corrigidos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48"/>
          <p:cNvSpPr txBox="1"/>
          <p:nvPr/>
        </p:nvSpPr>
        <p:spPr>
          <a:xfrm>
            <a:off x="6343650" y="1783080"/>
            <a:ext cx="229743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Além de SATA/HBA e SAS/USB4: MTTDL deixou de significar genericamente “2ª falha”; RAID 5 deixou de ser recomendação universal; RAID-S/Matrix RAID foram refinados; declaração das IAs foi sincronizada.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48"/>
          <p:cNvSpPr txBox="1"/>
          <p:nvPr/>
        </p:nvSpPr>
        <p:spPr>
          <a:xfrm>
            <a:off x="342900" y="4896612"/>
            <a:ext cx="6172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700"/>
              <a:buFont typeface="Calibri"/>
              <a:buNone/>
            </a:pPr>
            <a:r>
              <a:rPr b="0" i="0" lang="pt-PT" sz="7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48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B"/>
        </a:solidFill>
      </p:bgPr>
    </p:bg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9"/>
          <p:cNvSpPr/>
          <p:nvPr/>
        </p:nvSpPr>
        <p:spPr>
          <a:xfrm>
            <a:off x="7680960" y="-891540"/>
            <a:ext cx="2331720" cy="2331720"/>
          </a:xfrm>
          <a:prstGeom prst="ellipse">
            <a:avLst/>
          </a:prstGeom>
          <a:solidFill>
            <a:srgbClr val="415A77">
              <a:alpha val="4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49"/>
          <p:cNvSpPr/>
          <p:nvPr/>
        </p:nvSpPr>
        <p:spPr>
          <a:xfrm>
            <a:off x="8435340" y="137160"/>
            <a:ext cx="1303020" cy="1303020"/>
          </a:xfrm>
          <a:prstGeom prst="ellipse">
            <a:avLst/>
          </a:prstGeom>
          <a:solidFill>
            <a:srgbClr val="E9C46A">
              <a:alpha val="3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49"/>
          <p:cNvSpPr txBox="1"/>
          <p:nvPr/>
        </p:nvSpPr>
        <p:spPr>
          <a:xfrm>
            <a:off x="480060" y="205740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pt-PT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Obrigado!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49"/>
          <p:cNvSpPr txBox="1"/>
          <p:nvPr/>
        </p:nvSpPr>
        <p:spPr>
          <a:xfrm>
            <a:off x="480060" y="2571750"/>
            <a:ext cx="5486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400"/>
              <a:buFont typeface="Calibri"/>
              <a:buNone/>
            </a:pPr>
            <a:r>
              <a:rPr b="0" i="1" lang="pt-PT" sz="14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Perguntas e debate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49"/>
          <p:cNvSpPr txBox="1"/>
          <p:nvPr/>
        </p:nvSpPr>
        <p:spPr>
          <a:xfrm>
            <a:off x="480060" y="46634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49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858" name="Google Shape;858;p49"/>
          <p:cNvSpPr txBox="1"/>
          <p:nvPr/>
        </p:nvSpPr>
        <p:spPr>
          <a:xfrm>
            <a:off x="5401275" y="3641719"/>
            <a:ext cx="3265425" cy="11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900"/>
              <a:buFont typeface="Calibri"/>
              <a:buNone/>
            </a:pPr>
            <a:r>
              <a:rPr b="0" i="0" lang="pt-PT" sz="9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Grupo 3:</a:t>
            </a:r>
            <a:endParaRPr b="0" i="0" sz="900" u="none" cap="none" strike="noStrike">
              <a:solidFill>
                <a:srgbClr val="778DA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900"/>
              <a:buFont typeface="Calibri"/>
              <a:buChar char="●"/>
            </a:pPr>
            <a:r>
              <a:rPr b="0" i="0" lang="pt-PT" sz="9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Bernardo Brandão Pozzato C. Costa - 123289593</a:t>
            </a:r>
            <a:endParaRPr b="0" i="0" sz="900" u="none" cap="none" strike="noStrike">
              <a:solidFill>
                <a:srgbClr val="778DA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900"/>
              <a:buFont typeface="Calibri"/>
              <a:buChar char="●"/>
            </a:pPr>
            <a:r>
              <a:rPr b="0" i="0" lang="pt-PT" sz="9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Enzo de Carvalho Sampaio - 123386206</a:t>
            </a:r>
            <a:endParaRPr b="0" i="0" sz="900" u="none" cap="none" strike="noStrike">
              <a:solidFill>
                <a:srgbClr val="778DA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900"/>
              <a:buFont typeface="Calibri"/>
              <a:buChar char="●"/>
            </a:pPr>
            <a:r>
              <a:rPr b="0" i="0" lang="pt-PT" sz="9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Gabriel Schmitz Corrêa Rizawinsk - 123225573</a:t>
            </a:r>
            <a:endParaRPr b="0" i="0" sz="900" u="none" cap="none" strike="noStrike">
              <a:solidFill>
                <a:srgbClr val="778DA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900"/>
              <a:buFont typeface="Calibri"/>
              <a:buChar char="●"/>
            </a:pPr>
            <a:r>
              <a:rPr b="0" i="0" lang="pt-PT" sz="9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Guilherme En Shih Hu - 123224674</a:t>
            </a:r>
            <a:endParaRPr b="0" i="0" sz="900" u="none" cap="none" strike="noStrike">
              <a:solidFill>
                <a:srgbClr val="778DA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900"/>
              <a:buFont typeface="Calibri"/>
              <a:buChar char="●"/>
            </a:pPr>
            <a:r>
              <a:rPr b="0" i="0" lang="pt-PT" sz="9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Raphael Henrique da Silva Pereira - 123420783</a:t>
            </a:r>
            <a:endParaRPr b="0" i="0" sz="900" u="none" cap="none" strike="noStrike">
              <a:solidFill>
                <a:srgbClr val="778DA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900"/>
              <a:buFont typeface="Calibri"/>
              <a:buChar char="●"/>
            </a:pPr>
            <a:r>
              <a:rPr b="0" i="0" lang="pt-PT" sz="9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Vivian Maria da Silva e Souza - 123205793</a:t>
            </a:r>
            <a:endParaRPr b="0" i="0" sz="1100" u="none" cap="none" strike="noStrike">
              <a:solidFill>
                <a:srgbClr val="C9D6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