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(US$)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0–50 TB</c:v>
                  </c:pt>
                  <c:pt idx="1">
                    <c:v>50–500 TB</c:v>
                  </c:pt>
                  <c:pt idx="2">
                    <c:v>&gt;500 TB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1150</c:v>
                </c:pt>
                <c:pt idx="1">
                  <c:v>9900</c:v>
                </c:pt>
                <c:pt idx="2">
                  <c:v>64764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4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US$/mês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S3 Standard</c:v>
                  </c:pt>
                  <c:pt idx="1">
                    <c:v>Standard-IA</c:v>
                  </c:pt>
                  <c:pt idx="2">
                    <c:v>Glacier Flexible</c:v>
                  </c:pt>
                  <c:pt idx="3">
                    <c:v>Glacier Deep Archive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75814</c:v>
                </c:pt>
                <c:pt idx="1">
                  <c:v>45875</c:v>
                </c:pt>
                <c:pt idx="2">
                  <c:v>13212</c:v>
                </c:pt>
                <c:pt idx="3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4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548640"/>
            <a:ext cx="2377440" cy="2377440"/>
          </a:xfrm>
          <a:prstGeom prst="ellipse">
            <a:avLst/>
          </a:prstGeom>
          <a:solidFill>
            <a:srgbClr val="2A3A73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1280160"/>
            <a:ext cx="1463040" cy="1463040"/>
          </a:xfrm>
          <a:prstGeom prst="ellipse">
            <a:avLst/>
          </a:prstGeom>
          <a:solidFill>
            <a:srgbClr val="2A3A73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1005840"/>
            <a:ext cx="1188720" cy="1188720"/>
          </a:xfrm>
          <a:prstGeom prst="ellipse">
            <a:avLst/>
          </a:prstGeom>
          <a:solidFill>
            <a:srgbClr val="2A3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— UFRJ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Computing &amp;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Storages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Amazon Web Services (AWS)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3 / Grupo 7 — substituir]  ·  [Nomes dos integrantes e DRE]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27048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e Cloud Storage: conceitos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17627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148840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serviço (IaaS, PaaS, SaaS, DBaaS, DWaaS)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770632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nuvem (pública, privada, híbrida)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41985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92424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fundamentais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041648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14216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AWS (computação, armazenamento, banco de dados)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36008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custo: base de 3,5 Petabytes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40080" y="528523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257800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e Post-Mortem (uso de IA)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Cloud Computing?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5669280" cy="4754880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(NIST)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que permite acesso de rede sob demanda a um conjunto compartilhado de recursos computacionais configuráveis (redes, servidores, armazenamento, aplicações), provisionados rapidamente e com esforço mínimo de gerenciamento.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11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2336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Subconjunto da nuvem voltado ao armazenamento remoto de dados, replicados entre discos/zonas e acessados via APIs, sem que o cliente precise saber em qual disco físico os dados residem.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características essenciais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92240" y="19659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96596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Autoatendimento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demanda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9659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Amplo acesso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92240" y="30175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30175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 recursos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compartilhado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189720" y="30175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89720" y="30175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92240" y="406908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92240" y="40690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mensurável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Serviço em Nuvem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11064240" cy="896112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109728" cy="89611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17320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417320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a Service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417320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virtuais, rede e disco. Cliente cuida de SO e aplicação.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1417320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6424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109728" cy="89611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386584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PaaS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386584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as a Service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386584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pronta para rodar aplicações (runtime, bibliotecas).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0" y="2386584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Elastic Beanstalk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355848"/>
            <a:ext cx="11064240" cy="896112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355848"/>
            <a:ext cx="109728" cy="896112"/>
          </a:xfrm>
          <a:prstGeom prst="rect">
            <a:avLst/>
          </a:prstGeom>
          <a:solidFill>
            <a:srgbClr val="3E7CB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55848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7C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355848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Service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355848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pronto para uso final, via navegador/app.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355848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Gmail, M365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325112"/>
            <a:ext cx="1106424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4325112"/>
            <a:ext cx="109728" cy="896112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325112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DBaaS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25112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as a Service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4325112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gerenciado: backup, patch, failover automáticos.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4325112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RDS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294376"/>
            <a:ext cx="11064240" cy="896112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5294376"/>
            <a:ext cx="109728" cy="89611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960" y="5294376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DWaaS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2103120" y="5294376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as a Service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5294376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colunar + processamento MPP para OLAP.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784080" y="5294376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Redshift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Nuvem: Implantação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55448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Pública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de terceiros, compartilhada (multi-tenant), acesso via Internet.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60520"/>
            <a:ext cx="3154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Baixo custo inicial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Elasticidade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Menor controle direto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</p:sp>
      <p:sp>
        <p:nvSpPr>
          <p:cNvPr id="10" name="Shape 8"/>
          <p:cNvSpPr/>
          <p:nvPr/>
        </p:nvSpPr>
        <p:spPr>
          <a:xfrm>
            <a:off x="4389120" y="155448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89120" y="155448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Privada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5146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dedicada a uma única organização, on-premises ou hospedada.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60520"/>
            <a:ext cx="3154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Maior controle/isolamento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Custo de capital mais alto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Menor elasticidade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0" y="155448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155448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Híbrida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25146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 de nuvem pública e privada, com orquestração entre ambientes.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4160520"/>
            <a:ext cx="3154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Flexibilidade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Dados sensíveis on-prem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Picos na nuvem pública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Características Fundamentais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Acessibilidade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via API, console e SDK de qualquer lugar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0712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11880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por SLA (ex.: 99,99% ≈ 52 min/ano indisponível)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3952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3952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de resposta; varia por classe de storage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4856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36024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336024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(scale up) e horizontal (scale out)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408736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50292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multi-zona; S3 Standard: 11 noves de durabilidade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10712" y="388620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408736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11880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61188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50292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Criptografia, IAM, VPC — responsabilidade compartilhada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72784" y="388620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73952" y="408736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7395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73952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6473952" y="50292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Pay-as-you-go, cobrança granular multi-dimensional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Web Services (AWS)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 · Armazenamento · Banco de Dados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Computação — Amazon EC2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EAF3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Compute Cloud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de IaaS que fornece máquinas virtuais (instâncias) sob demanda. O usuário escolhe tipo de instância, sistema operacional e armazenamento associado, podendo escalar horizontalmente com Auto Scaling e balancear carga com Elastic Load Balancing.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contratação: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343400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On-Demand — pagamento por hora/segundo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90872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Reserved Instances — desconto por 1–3 anos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038344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Spot Instances — até 90% de desconto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8581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Savings Plans — compromisso flexível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2129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 para Banco de Dados?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33172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EC2 é a base sobre a qual bancos de dados auto-gerenciados (não DBaaS) são instalados, quando se precisa de controle total sobre o SGBD, versão específica ou configurações avançadas que o RDS não oferece.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46520" y="3749040"/>
            <a:ext cx="4937760" cy="0"/>
          </a:xfrm>
          <a:prstGeom prst="line">
            <a:avLst/>
          </a:prstGeom>
          <a:noFill/>
          <a:ln w="12700">
            <a:solidFill>
              <a:srgbClr val="3A4A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776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EBS fornece o disco persistente (bloco) para essas instâncias armazenarem dados de forma durável e de baixa latência.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Armazenamento — S3, EBS e Glacier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3611880" cy="10972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S3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de objetos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Durabilidade de 11 noves. Organizado em buckets. Múltiplas classes (Standard → Glacier) equilibrando custo e latência.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554480"/>
            <a:ext cx="3611880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EBS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em blocos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"Disco virtual" anexado a instâncias EC2. Baixa latência e alto IOPS — ideal para bancos de dados.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15544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554480"/>
            <a:ext cx="3611880" cy="10972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Glacier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Arquivamento de baixo custo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7889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do S3 para dados frios (backup, compliance). Recuperação de minutos a até 48 horas.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 de Dados — RDS, Aurora, DynamoDB, Redshift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792224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922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459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64592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DBaaS relacional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459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MySQL, PostgreSQL, Oracle, SQL Server — backup e failover automáticos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90779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07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761488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Aurora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6148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de alto desempenho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76148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Compatível com MySQL/PostgreSQL; storage distribuído próprio da AWS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785616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877056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87705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chave-valor/documento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877056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 horizontal automática; latência de milissegundos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01184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5138928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51389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49926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Redshift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4992624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DWaaS (data warehouse)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499262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Colunar + MPP; ideal para OLAP; integra com S3 via Redshift Spectrum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Custo: Base de 3,5 Petabytes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 PB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3.584 TB  ≈  3.670.016 GB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(padrão binário: 1 PB = 1.024 TB)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3931920" cy="0"/>
          </a:xfrm>
          <a:prstGeom prst="line">
            <a:avLst/>
          </a:prstGeom>
          <a:noFill/>
          <a:ln w="19050">
            <a:solidFill>
              <a:srgbClr val="D6E2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206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do estudo: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57200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Região us-east-1 (N. Virgínia)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3776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Preços de lista, ago/2026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30352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Sem Reserved Capacity/Savings Plans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6692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Custo de armazenamento apenas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6002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 — S3 Standard (por faixa)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212080" y="2011680"/>
          <a:ext cx="63093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por Classe de Armazenamento (S3)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 estimado para 3,5 PB, por classe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8580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28800"/>
            <a:ext cx="3977640" cy="4206240"/>
          </a:xfrm>
          <a:prstGeom prst="roundRect">
            <a:avLst>
              <a:gd name="adj" fmla="val 1839"/>
            </a:avLst>
          </a:prstGeom>
          <a:solidFill>
            <a:srgbClr val="21295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rápida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423160"/>
            <a:ext cx="35661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Standard → Glacier Deep Archive representa economia de armazenamento superior a 95%.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Glacier Deep Archive leva 12–48h para recuperar dados — inviável para consultas ativas.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camadas combinadas (lifecycle policies), não uma classe única.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x Desvantagens (3,5 PB na AWS)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0876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EAF6E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Elasticidade sem CAPEX inicial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Durabilidade de 11 noves (S3 Standard)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Ecossistema integrado (analytics, ML)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976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Custo granular por camada (lifecycle)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834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Segurança e certificações nativas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2200" y="150876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FBEAE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Desvantagens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2402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Custo mensal recorrente e elevado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260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Egress custoso → vendor lock-in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6118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Exige monitoramento contínuo (FinOps)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2976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Latência em dados arquivados (Glacier)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9834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Questões de governança/soberania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40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88366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8288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nuvem materializa IaaS/PaaS/SaaS/DBaaS/DWaaS em serviços concretos (EC2, S3/EBS/Glacier, RDS/Aurora/DynamoDB/Redshift).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284378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7889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Elasticidade, durabilidade e integração são fortes vantagens técnicas da AWS.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380390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7490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 de Petabytes, o custo é recorrente e substancial — a arquitetura de armazenamento (camadas) é decisão de negócio, não só técnica.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" y="476402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7091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Profissionais de Banco de Dados precisam dominar tanto os serviços quanto seu modelo de precificação.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Uso de IA Generativa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utilizado: Claude (Anthropic)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65960"/>
            <a:ext cx="3611880" cy="914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prompts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32004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cronológico dos prompts-chave usados: envio do enunciado, definição do provedor (AWS), pesquisa de preços atualizados e geração do relatório/slides.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</p:sp>
      <p:sp>
        <p:nvSpPr>
          <p:cNvPr id="10" name="Shape 8"/>
          <p:cNvSpPr/>
          <p:nvPr/>
        </p:nvSpPr>
        <p:spPr>
          <a:xfrm>
            <a:off x="4389120" y="1965960"/>
            <a:ext cx="3611880" cy="914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194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2004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documentou o que fez, quais decisões tomou e por quê — detalhado na Seção 10.2 do PDF.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9659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0" y="1965960"/>
            <a:ext cx="3611880" cy="914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94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corrigidos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697480"/>
            <a:ext cx="32004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de S3 verificados via pesquisa web (não só memória do modelo); conversão PB→GB explicitada; valores marcados como preço de lista, a reconferir no AWS Pricing Calculator.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5120640"/>
            <a:ext cx="2011680" cy="2011680"/>
          </a:xfrm>
          <a:prstGeom prst="ellipse">
            <a:avLst/>
          </a:prstGeom>
          <a:solidFill>
            <a:srgbClr val="2A3A73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457200"/>
            <a:ext cx="2560320" cy="2560320"/>
          </a:xfrm>
          <a:prstGeom prst="ellipse">
            <a:avLst/>
          </a:prstGeom>
          <a:solidFill>
            <a:srgbClr val="2A3A7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57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e debate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3 / Grupo 7]  ·  Cloud Computing &amp; Cloud Storages — AWS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2026-08-28T22:46:04Z</dcterms:created>
  <dcterms:modified xsi:type="dcterms:W3CDTF">2026-08-28T22:46:04Z</dcterms:modified>
</cp:coreProperties>
</file>