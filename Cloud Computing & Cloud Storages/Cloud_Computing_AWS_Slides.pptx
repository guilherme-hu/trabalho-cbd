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21792"/>
            <a:ext cx="1078992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100" b="1">
                <a:solidFill>
                  <a:srgbClr val="EB6834"/>
                </a:solidFill>
                <a:latin typeface="Calibri"/>
              </a:defRPr>
            </a:pPr>
            <a:r>
              <a:t>CONSTRUÇÃO DE BANCO DE DADOS · UFRJ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97280"/>
            <a:ext cx="7132320" cy="13716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4100" b="1">
                <a:solidFill>
                  <a:srgbClr val="FFFFFF"/>
                </a:solidFill>
                <a:latin typeface="Cambria"/>
              </a:defRPr>
            </a:pPr>
            <a:r>
              <a:t>Cloud Computing</a:t>
            </a:r>
            <a:br/>
            <a:r>
              <a:t>e Cloud Storage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697480"/>
            <a:ext cx="7955279" cy="5486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600" b="0">
                <a:solidFill>
                  <a:srgbClr val="CBD2DC"/>
                </a:solidFill>
                <a:latin typeface="Calibri"/>
              </a:defRPr>
            </a:pPr>
            <a:r>
              <a:t>Estudo de caso AWS · arquitetura e custo para 3,5 PB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3401568"/>
          <a:ext cx="8138160" cy="2359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17920"/>
                <a:gridCol w="1920240"/>
              </a:tblGrid>
              <a:tr h="337021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Nome completo</a:t>
                      </a:r>
                    </a:p>
                  </a:txBody>
                  <a:tcPr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DRE</a:t>
                      </a:r>
                    </a:p>
                  </a:txBody>
                  <a:tcPr>
                    <a:solidFill>
                      <a:srgbClr val="232A35"/>
                    </a:solidFill>
                  </a:tcPr>
                </a:tc>
              </a:tr>
              <a:tr h="337021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Bernardo Brandão Pozzato Carvalho Costa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123289593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</a:tr>
              <a:tr h="337021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Enzo de Carvalho Sampaio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123386206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</a:tr>
              <a:tr h="337021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Gabriel Schmitz Corrêa Rizawinsk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123225573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</a:tr>
              <a:tr h="337021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Guilherme En Shih Hu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123224674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</a:tr>
              <a:tr h="337021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Raphael Henrique da Silva Pereira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123311073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</a:tr>
              <a:tr h="337026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Vivian Maria da Silva e Souza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123205793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006840" y="3657600"/>
            <a:ext cx="2423160" cy="9144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GRUPO 3</a:t>
            </a:r>
            <a:br/>
            <a:r>
              <a:t>Setembro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O que torna uma infraestrutura “nuvem”?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Cinco características do NIST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Cloud Computing e Cloud Storage — AWS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463040"/>
            <a:ext cx="1074420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14181F"/>
                </a:solidFill>
                <a:latin typeface="Calibri"/>
              </a:defRPr>
            </a:pPr>
            <a:r>
              <a:t>•  Autoatendimento sob demanda</a:t>
            </a:r>
          </a:p>
          <a:p>
            <a:pPr>
              <a:spcAft>
                <a:spcPts val="900"/>
              </a:spcAft>
              <a:defRPr sz="1800">
                <a:solidFill>
                  <a:srgbClr val="14181F"/>
                </a:solidFill>
                <a:latin typeface="Calibri"/>
              </a:defRPr>
            </a:pPr>
            <a:r>
              <a:t>•  Amplo acesso por rede</a:t>
            </a:r>
          </a:p>
          <a:p>
            <a:pPr>
              <a:spcAft>
                <a:spcPts val="900"/>
              </a:spcAft>
              <a:defRPr sz="1800">
                <a:solidFill>
                  <a:srgbClr val="14181F"/>
                </a:solidFill>
                <a:latin typeface="Calibri"/>
              </a:defRPr>
            </a:pPr>
            <a:r>
              <a:t>•  Pool de recursos compartilhado</a:t>
            </a:r>
          </a:p>
          <a:p>
            <a:pPr>
              <a:spcAft>
                <a:spcPts val="900"/>
              </a:spcAft>
              <a:defRPr sz="1800">
                <a:solidFill>
                  <a:srgbClr val="14181F"/>
                </a:solidFill>
                <a:latin typeface="Calibri"/>
              </a:defRPr>
            </a:pPr>
            <a:r>
              <a:t>•  Elasticidade rápida</a:t>
            </a:r>
          </a:p>
          <a:p>
            <a:pPr>
              <a:spcAft>
                <a:spcPts val="900"/>
              </a:spcAft>
              <a:defRPr sz="1800">
                <a:solidFill>
                  <a:srgbClr val="14181F"/>
                </a:solidFill>
                <a:latin typeface="Calibri"/>
              </a:defRPr>
            </a:pPr>
            <a:r>
              <a:t>•  Serviço mensurável (pay-as-you-go)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25780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1400" b="1">
                <a:solidFill>
                  <a:srgbClr val="EB6834"/>
                </a:solidFill>
                <a:latin typeface="Calibri"/>
              </a:defRPr>
            </a:pPr>
            <a:r>
              <a:t>Virtualização ajuda, mas não satisfaz sozinha a definição.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Cloud Storage tem três semânticas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Objeto, bloco e arquivo não são intercambiáveis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Cloud Computing e Cloud Storage — AWS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08760"/>
            <a:ext cx="3337560" cy="310896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Objeto — S3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47672"/>
            <a:ext cx="3008376" cy="258775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Chave + metadados + API. Data lake, conteúdo e backup.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08760"/>
            <a:ext cx="3337560" cy="310896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178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1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178B67"/>
                </a:solidFill>
                <a:latin typeface="Calibri"/>
              </a:defRPr>
            </a:pPr>
            <a:r>
              <a:t>Bloco — EBS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1" y="1947672"/>
            <a:ext cx="3008376" cy="258775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Volume para EC2; o host monta o sistema de arquivos.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508760"/>
            <a:ext cx="3337560" cy="310896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75904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EB6834"/>
                </a:solidFill>
                <a:latin typeface="Calibri"/>
              </a:defRPr>
            </a:pPr>
            <a:r>
              <a:t>Arquivo — EFS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5904" y="1947672"/>
            <a:ext cx="3008376" cy="258775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Diretórios NFS compartilháveis; modos e classes próprios.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98348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1500" b="1">
                <a:solidFill>
                  <a:srgbClr val="EB6834"/>
                </a:solidFill>
                <a:latin typeface="Calibri"/>
              </a:defRPr>
            </a:pPr>
            <a:r>
              <a:t>Glacier são classes frias do S3 — não um disco montável.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Modelos de serviço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A fronteira muda; a responsabilidade pelos dados permanece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Cloud Computing e Cloud Storage — AWS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389888"/>
          <a:ext cx="108813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2057400"/>
                <a:gridCol w="3474720"/>
                <a:gridCol w="402336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Modelo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Exemplo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Provedor opera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Cliente decide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IaaS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EC2 + EBS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infra/hipervisor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SO, SGBD, HA, backup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PaaS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Elastic Beanstalk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infra/plataforma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código, dados, configuração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SaaS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QuickSight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aplicação/pilha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conteúdo, usuários, acesso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DBaaS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RDS/Aurora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engine/tarefas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esquema, SQL, IAM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DWaaS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Redshift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MPP/infra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modelo, cargas, WLM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Pública, privada e híbrida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Implantação, não endereço IP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Cloud Computing e Cloud Storage — AWS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08760"/>
            <a:ext cx="3337560" cy="324612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Pública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47672"/>
            <a:ext cx="3008376" cy="27249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Provedor multi-tenant com isolamento; pode usar conexão privada.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08760"/>
            <a:ext cx="3337560" cy="324612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1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EB6834"/>
                </a:solidFill>
                <a:latin typeface="Calibri"/>
              </a:defRPr>
            </a:pPr>
            <a:r>
              <a:t>Privada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1" y="1947672"/>
            <a:ext cx="3008376" cy="27249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Dedicada à organização; controle e operação/capacidade próprios.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508760"/>
            <a:ext cx="3337560" cy="324612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178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75904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178B67"/>
                </a:solidFill>
                <a:latin typeface="Calibri"/>
              </a:defRPr>
            </a:pPr>
            <a:r>
              <a:t>Híbrida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5904" y="1947672"/>
            <a:ext cx="3008376" cy="27249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Integra rede, identidade, gestão e dados entre ambientes.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Sete critérios de avaliação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Cada porcentagem precisa de contexto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Cloud Computing e Cloud Storage — AWS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335024"/>
          <a:ext cx="1088136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882396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18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Critério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Pergunta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Acesso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Internet, VPN, Direct Connect ou endpoint?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Disponibilidade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qual SLA e desenho por zona/região?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Latência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distância + serviço + fila + aplicação?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Escala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limite por recurso e elasticidade?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Durabilidade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o que é preservado; quais ameaças ficam fora?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Segurança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quem configura IAM, KMS, rede e logs?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Custo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capacidade + operações + compute + egress + suporte?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Durabilidade ≠ disponibilidade ≠ 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S3 é projetado para 11 noves de durabilidade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Cloud Computing e Cloud Storage — AWS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08760"/>
            <a:ext cx="3337560" cy="310896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Durabilidade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47672"/>
            <a:ext cx="3008376" cy="258775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Probabilidade de preservar objetos; múltiplas zonas.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08760"/>
            <a:ext cx="3337560" cy="310896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1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EB6834"/>
                </a:solidFill>
                <a:latin typeface="Calibri"/>
              </a:defRPr>
            </a:pPr>
            <a:r>
              <a:t>Disponibilidade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1" y="1947672"/>
            <a:ext cx="3008376" cy="258775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Probabilidade de responder; SLA depende da classe.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508760"/>
            <a:ext cx="3337560" cy="310896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178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75904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178B67"/>
                </a:solidFill>
                <a:latin typeface="Calibri"/>
              </a:defRPr>
            </a:pPr>
            <a:r>
              <a:t>Recuperação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5904" y="1947672"/>
            <a:ext cx="3008376" cy="258775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Versionamento, Object Lock, cópia e teste de restore.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98348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1500" b="1">
                <a:solidFill>
                  <a:srgbClr val="EB6834"/>
                </a:solidFill>
                <a:latin typeface="Calibri"/>
              </a:defRPr>
            </a:pPr>
            <a:r>
              <a:t>11 noves não prometem zero downtime nem retorno a uma versão anterior.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AWS: computação e armazenamento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Escolha pela semântica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Cloud Computing e Cloud Storage — AWS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389888"/>
          <a:ext cx="108813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794760"/>
                <a:gridCol w="525780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Serviço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Função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Cuidado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EC2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máquina virtual/IaaS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cliente opera SO/SGBD/HA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S3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objeto/data lake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requests, classes, egress, formato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EBS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bloco para EC2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16 TiB por gp3; IOPS/throughput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EFS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arquivo NFS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modo/classe e acesso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Glacier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objeto frio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duração, metadados e restauração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AWS: bancos e data warehouse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Gerenciado não significa sem decisões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Cloud Computing e Cloud Storage — AWS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444752"/>
          <a:ext cx="108813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057400"/>
                <a:gridCol w="3200400"/>
                <a:gridCol w="370332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Serviço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Modelo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Adequação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Cuidado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RDS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DBaaS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relacional multi-engine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HA depende de Multi-AZ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Aurora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DBaaS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MySQL/PostgreSQL compatível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I/O, capacidade, limites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DynamoDB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NoSQL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chave–valor/documento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partição e consistência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Redshift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DWaaS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OLAP colunar/MPP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compute, RMS, WLM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425196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1500" b="1">
                <a:solidFill>
                  <a:srgbClr val="EB6834"/>
                </a:solidFill>
                <a:latin typeface="Calibri"/>
              </a:defRPr>
            </a:pPr>
            <a:r>
              <a:t>3,5 PB exigem arquitetura distribuída; não cabem em uma única instância ou volume.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3,5 PB: unidade e premissas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Preço sem região, data e workload é falsa precisão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Cloud Computing e Cloud Storage — AWS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481328"/>
            <a:ext cx="5257800" cy="201168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581912"/>
            <a:ext cx="492861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Conversão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20240"/>
            <a:ext cx="4928616" cy="149047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3,5 PB decimais = 3.500 TB = 3.500.000 GB. Não misturar PB com PiB/GiB.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81328"/>
            <a:ext cx="5257800" cy="201168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1" y="1581912"/>
            <a:ext cx="492861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Escopo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1" y="1920240"/>
            <a:ext cx="4928616" cy="149047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us-east-1 · 05/09/2026 · lista pública · sem impostos, suporte ou desconto.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40480"/>
            <a:ext cx="10863072" cy="12344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3941064"/>
            <a:ext cx="10533888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EB6834"/>
                </a:solidFill>
                <a:latin typeface="Calibri"/>
              </a:defRPr>
            </a:pPr>
            <a:r>
              <a:t>Variáveis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4279392"/>
            <a:ext cx="10533888" cy="71323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Crescimento, compressão, objetos, temperatura, consultas, região, RPO/RTO, retenção e egress.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Quanto custa armazenar 3,5 PB?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Capacidade mensal; serviços não equivalentes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Cloud Computing e Cloud Storage — AWS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353312"/>
          <a:ext cx="10881359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468880"/>
                <a:gridCol w="1874519"/>
                <a:gridCol w="406908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13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Classe/serviço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Preço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US$/mês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Condição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S3 Standard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faixas 0,023/0,022/0,021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74.050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frequente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Standard-IA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0,0125/GB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43.750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30 d; retrieval; 128 KB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Glacier Flexible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0,0036/GB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12.600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90 d; restauração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Deep Archive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0,00099/GB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3.465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180 d; 12–48 h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Redshift RMS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0,024/GB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84.000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compute separado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EBS gp3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0,08/GB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280.000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199+ volumes; IOPS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5413248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1220" b="1">
                <a:solidFill>
                  <a:srgbClr val="2A78D6"/>
                </a:solidFill>
                <a:latin typeface="Calibri"/>
              </a:defRPr>
            </a:pPr>
            <a:r>
              <a:t>S3 Standard = 50k×0,023 + 450k×0,022 + 3M×0,021 = US$ 74.050/mês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Processar pode custar mais que guardar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Athena a US$ 5/TB escaneado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Cloud Computing e Cloud Storage — AWS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08760"/>
            <a:ext cx="3337560" cy="30632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1 scan integral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47672"/>
            <a:ext cx="3008376" cy="254203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3.500 TB × US$ 5</a:t>
            </a:r>
            <a:br/>
            <a:r>
              <a:t>= US$ 17.500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08760"/>
            <a:ext cx="3337560" cy="30632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1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EB6834"/>
                </a:solidFill>
                <a:latin typeface="Calibri"/>
              </a:defRPr>
            </a:pPr>
            <a:r>
              <a:t>1 scan/dia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1" y="1947672"/>
            <a:ext cx="3008376" cy="254203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US$ 17.500 × 30</a:t>
            </a:r>
            <a:br/>
            <a:r>
              <a:t>= US$ 525.000/mês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508760"/>
            <a:ext cx="3337560" cy="30632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178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75904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178B67"/>
                </a:solidFill>
                <a:latin typeface="Calibri"/>
              </a:defRPr>
            </a:pPr>
            <a:r>
              <a:t>10% lido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5904" y="1947672"/>
            <a:ext cx="3008376" cy="254203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Parquet + partição</a:t>
            </a:r>
            <a:br/>
            <a:r>
              <a:t>= US$ 1.750/consulta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98348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1600" b="1">
                <a:solidFill>
                  <a:srgbClr val="2A78D6"/>
                </a:solidFill>
                <a:latin typeface="Calibri"/>
              </a:defRPr>
            </a:pPr>
            <a:r>
              <a:t>Formato físico, compressão e partição são decisões financeiras.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Mover 3,5 PB também custa tempo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Limite físico antes de overhead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Cloud Computing e Cloud Storage — AWS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0876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2600" b="1">
                <a:solidFill>
                  <a:srgbClr val="2A78D6"/>
                </a:solidFill>
                <a:latin typeface="Cambria"/>
              </a:defRPr>
            </a:pPr>
            <a:r>
              <a:t>t = volume × 8 / banda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25880" y="2423160"/>
            <a:ext cx="4389120" cy="1874519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90472" y="2523744"/>
            <a:ext cx="4059935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10 Gb/s contínuos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0472" y="2862072"/>
            <a:ext cx="4059935" cy="1353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≈ 32,4 dias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46520" y="2423160"/>
            <a:ext cx="4389120" cy="1874519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178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1112" y="2523744"/>
            <a:ext cx="4059935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178B67"/>
                </a:solidFill>
                <a:latin typeface="Calibri"/>
              </a:defRPr>
            </a:pPr>
            <a:r>
              <a:t>100 Gb/s contínuos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1112" y="2862072"/>
            <a:ext cx="4059935" cy="1353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≈ 3,24 dias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75488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1400" b="1">
                <a:solidFill>
                  <a:srgbClr val="EB6834"/>
                </a:solidFill>
                <a:latin typeface="Calibri"/>
              </a:defRPr>
            </a:pPr>
            <a:r>
              <a:t>Protocolo, criptografia, contenção e retransmissão aumentam o tempo.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Arquitetura recomendada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S3 durável; compute escolhido pela consulta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Cloud Computing e Cloud Storage — AWS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325880"/>
          <a:ext cx="1088136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4251960"/>
                <a:gridCol w="457200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13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Camada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Desenho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Motivo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Dados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S3 Parquet/ORC particionado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reduz scan; desacopla compute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Catálogo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Glue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esquema e partições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Ad hoc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Athena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serverless por bytes lidos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Lote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EMR/Spark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processamento distribuído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Recorrente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Redshift + Spectrum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MPP, cache, concorrência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Lifecycle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Standard → IA → Glacier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custo segue temperatura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Operacional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RDS/Aurora/DynamoDB separado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transações em subconjunto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Três cenários para os mesmos 3,5 PB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A pergunta de custo precisa de um SLO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Cloud Computing e Cloud Storage — AWS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08760"/>
            <a:ext cx="3337560" cy="333756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Arquivo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47672"/>
            <a:ext cx="3008376" cy="281635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Deep Archive + Object Lock + cópia; RTO 12–48 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08760"/>
            <a:ext cx="3337560" cy="333756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178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1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178B67"/>
                </a:solidFill>
                <a:latin typeface="Calibri"/>
              </a:defRPr>
            </a:pPr>
            <a:r>
              <a:t>Data lake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1" y="1947672"/>
            <a:ext cx="3008376" cy="281635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S3 Parquet + Glue + Athena/EMR; consultas seletivas.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508760"/>
            <a:ext cx="3337560" cy="333756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75904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EB6834"/>
                </a:solidFill>
                <a:latin typeface="Calibri"/>
              </a:defRPr>
            </a:pPr>
            <a:r>
              <a:t>Analytics recorrente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5904" y="1947672"/>
            <a:ext cx="3008376" cy="281635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S3 + Redshift; baixa latência e concorrência.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Conclusões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O dado cabe; a arquitetura precisa fazer sentido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Cloud Computing e Cloud Storage — AWS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389888"/>
            <a:ext cx="1074420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50">
                <a:solidFill>
                  <a:srgbClr val="14181F"/>
                </a:solidFill>
                <a:latin typeface="Calibri"/>
              </a:defRPr>
            </a:pPr>
            <a:r>
              <a:t>•  Cloud exige autoatendimento, pool, elasticidade e mensuração</a:t>
            </a:r>
          </a:p>
          <a:p>
            <a:pPr>
              <a:spcAft>
                <a:spcPts val="900"/>
              </a:spcAft>
              <a:defRPr sz="1450">
                <a:solidFill>
                  <a:srgbClr val="14181F"/>
                </a:solidFill>
                <a:latin typeface="Calibri"/>
              </a:defRPr>
            </a:pPr>
            <a:r>
              <a:t>•  Objeto, bloco e arquivo oferecem semânticas diferentes</a:t>
            </a:r>
          </a:p>
          <a:p>
            <a:pPr>
              <a:spcAft>
                <a:spcPts val="900"/>
              </a:spcAft>
              <a:defRPr sz="1450">
                <a:solidFill>
                  <a:srgbClr val="14181F"/>
                </a:solidFill>
                <a:latin typeface="Calibri"/>
              </a:defRPr>
            </a:pPr>
            <a:r>
              <a:t>•  S3 é base plausível para analytics; bancos operacionais recebem subconjuntos</a:t>
            </a:r>
          </a:p>
          <a:p>
            <a:pPr>
              <a:spcAft>
                <a:spcPts val="900"/>
              </a:spcAft>
              <a:defRPr sz="1450">
                <a:solidFill>
                  <a:srgbClr val="14181F"/>
                </a:solidFill>
                <a:latin typeface="Calibri"/>
              </a:defRPr>
            </a:pPr>
            <a:r>
              <a:t>•  Capacidade S3: US$ 3.465–74.050/mês nas premissas</a:t>
            </a:r>
          </a:p>
          <a:p>
            <a:pPr>
              <a:spcAft>
                <a:spcPts val="900"/>
              </a:spcAft>
              <a:defRPr sz="1450">
                <a:solidFill>
                  <a:srgbClr val="14181F"/>
                </a:solidFill>
                <a:latin typeface="Calibri"/>
              </a:defRPr>
            </a:pPr>
            <a:r>
              <a:t>•  Scan diário integral no Athena: US$ 525.000/mês</a:t>
            </a:r>
          </a:p>
          <a:p>
            <a:pPr>
              <a:spcAft>
                <a:spcPts val="900"/>
              </a:spcAft>
              <a:defRPr sz="1450">
                <a:solidFill>
                  <a:srgbClr val="14181F"/>
                </a:solidFill>
                <a:latin typeface="Calibri"/>
              </a:defRPr>
            </a:pPr>
            <a:r>
              <a:t>•  Decisão exige workload, RPO/RTO, segurança, recuperação, egress e TCO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Post-Mortem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IA como rascunho e objeto de auditoria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Cloud Computing e Cloud Storage — AWS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08760"/>
            <a:ext cx="3337560" cy="320040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Prompts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47672"/>
            <a:ext cx="3008376" cy="267919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Enunciado, AWS, custo e revisão final registrados.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08760"/>
            <a:ext cx="3337560" cy="320040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1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EB6834"/>
                </a:solidFill>
                <a:latin typeface="Calibri"/>
              </a:defRPr>
            </a:pPr>
            <a:r>
              <a:t>10 correções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1" y="1947672"/>
            <a:ext cx="3008376" cy="267919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Ordem, repetição, taxonomia, custo, limites e autoria.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508760"/>
            <a:ext cx="3337560" cy="320040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178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75904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178B67"/>
                </a:solidFill>
                <a:latin typeface="Calibri"/>
              </a:defRPr>
            </a:pPr>
            <a:r>
              <a:t>Consolidação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5904" y="1947672"/>
            <a:ext cx="3008376" cy="267919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Raphael coordenou a consolidação em 06/09; o Codex conferiu os artefatos e a divisão final foi registrada.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325880"/>
            <a:ext cx="10881360" cy="7315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mbria"/>
              </a:defRPr>
            </a:pPr>
            <a:r>
              <a:t>Perguntas e debate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468880"/>
            <a:ext cx="9875520" cy="13716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2000" b="0">
                <a:solidFill>
                  <a:srgbClr val="D6DCE5"/>
                </a:solidFill>
                <a:latin typeface="Calibri"/>
              </a:defRPr>
            </a:pPr>
            <a:r>
              <a:t>Que fração dos 3,5 PB precisa de milissegundos?</a:t>
            </a:r>
            <a:br/>
            <a:r>
              <a:t>Quando um warehouse fica mais barato que consultas serverless?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989320"/>
            <a:ext cx="1088136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1100" b="0">
                <a:solidFill>
                  <a:srgbClr val="EB6834"/>
                </a:solidFill>
                <a:latin typeface="Calibri"/>
              </a:defRPr>
            </a:pPr>
            <a:r>
              <a:t>Grupo 3 · Setembro de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 Computing e Cloud Storage — AWS</dc:title>
  <dc:subject/>
  <dc:creator>Grupo CBD — UFRJ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