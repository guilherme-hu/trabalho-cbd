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1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3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3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4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14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4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5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15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5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6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16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6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7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7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7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8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18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8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875520" y="548640"/>
            <a:ext cx="2377440" cy="2377440"/>
          </a:xfrm>
          <a:prstGeom prst="ellipse">
            <a:avLst/>
          </a:prstGeom>
          <a:solidFill>
            <a:srgbClr val="2A3A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0881360" y="1280160"/>
            <a:ext cx="1463040" cy="1463040"/>
          </a:xfrm>
          <a:prstGeom prst="ellipse">
            <a:avLst/>
          </a:prstGeom>
          <a:solidFill>
            <a:srgbClr val="2A3A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8778240" y="1005840"/>
            <a:ext cx="1188720" cy="1188720"/>
          </a:xfrm>
          <a:prstGeom prst="ellipse">
            <a:avLst/>
          </a:prstGeom>
          <a:solidFill>
            <a:srgbClr val="2A3A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400"/>
              <a:buFont typeface="Calibri"/>
              <a:buNone/>
            </a:pPr>
            <a:r>
              <a:rPr lang="en-US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CONSTRUÇÃO DE </a:t>
            </a:r>
            <a:r>
              <a:rPr b="0" i="0" lang="en-US" sz="14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BANCO DE DADOS — UFRJ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640080" y="2194560"/>
            <a:ext cx="9601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Cloud Computing &amp;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Cloud Storages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640080" y="411480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Estudo de Caso: Amazon Web Services (AWS)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640080" y="59436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6E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[Grupo 3 / Grupo 7 — substituir]  ·  [Nomes dos integrantes e DRE]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Agenda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1234440" y="1527048"/>
            <a:ext cx="9875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Cloud Computing e Cloud Storage: conceitos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40080" y="2176272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/>
        </p:nvSpPr>
        <p:spPr>
          <a:xfrm>
            <a:off x="640080" y="21762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1234440" y="2148840"/>
            <a:ext cx="9875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Modelos de serviço (IaaS, PaaS, SaaS, DBaaS, DWaaS)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40080" y="2798064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 txBox="1"/>
          <p:nvPr/>
        </p:nvSpPr>
        <p:spPr>
          <a:xfrm>
            <a:off x="640080" y="27980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1234440" y="2770632"/>
            <a:ext cx="9875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Tipos de nuvem (pública, privada, híbrida)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40080" y="3419856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 txBox="1"/>
          <p:nvPr/>
        </p:nvSpPr>
        <p:spPr>
          <a:xfrm>
            <a:off x="640080" y="3419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1234440" y="3392424"/>
            <a:ext cx="9875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Características fundamentais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40080" y="4041648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 txBox="1"/>
          <p:nvPr/>
        </p:nvSpPr>
        <p:spPr>
          <a:xfrm>
            <a:off x="640080" y="40416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1234440" y="4014216"/>
            <a:ext cx="9875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Estudo de caso: AWS (computação, armazenamento, banco de dados)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40080" y="4663440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 txBox="1"/>
          <p:nvPr/>
        </p:nvSpPr>
        <p:spPr>
          <a:xfrm>
            <a:off x="640080" y="46634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 txBox="1"/>
          <p:nvPr/>
        </p:nvSpPr>
        <p:spPr>
          <a:xfrm>
            <a:off x="1234440" y="4636008"/>
            <a:ext cx="9875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Estudo de custo: base de 3,5 Petabytes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40080" y="5285232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1234440" y="5257800"/>
            <a:ext cx="9875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Conclusão e Post-Mortem (uso de IA)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Storages — AWS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O que é Cloud Computing?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548640" y="1417320"/>
            <a:ext cx="5669280" cy="4754880"/>
          </a:xfrm>
          <a:prstGeom prst="rect">
            <a:avLst/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 txBox="1"/>
          <p:nvPr/>
        </p:nvSpPr>
        <p:spPr>
          <a:xfrm>
            <a:off x="777240" y="16002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Definição (NIST)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 txBox="1"/>
          <p:nvPr/>
        </p:nvSpPr>
        <p:spPr>
          <a:xfrm>
            <a:off x="777240" y="2011680"/>
            <a:ext cx="52120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Modelo que permite acesso de rede sob demanda a um conjunto compartilhado de recursos computacionais configuráveis (redes, servidores, armazenamento, aplicações), provisionados rapidamente e com esforço mínimo de gerenciamento.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777240" y="361188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Cloud Storage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777240" y="4023360"/>
            <a:ext cx="52120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Subconjunto da nuvem voltado ao armazenamento remoto de dados, replicados entre discos/zonas e acessados via APIs, sem que o cliente precise saber em qual disco físico os dados residem.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5 características essenciais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492240" y="1965960"/>
            <a:ext cx="2514600" cy="914400"/>
          </a:xfrm>
          <a:prstGeom prst="roundRect">
            <a:avLst>
              <a:gd fmla="val 8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 txBox="1"/>
          <p:nvPr/>
        </p:nvSpPr>
        <p:spPr>
          <a:xfrm>
            <a:off x="6492240" y="196596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Autoatendimento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sob demanda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9189720" y="1965960"/>
            <a:ext cx="2514600" cy="914400"/>
          </a:xfrm>
          <a:prstGeom prst="roundRect">
            <a:avLst>
              <a:gd fmla="val 8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 txBox="1"/>
          <p:nvPr/>
        </p:nvSpPr>
        <p:spPr>
          <a:xfrm>
            <a:off x="9189720" y="196596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Amplo acesso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via rede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492240" y="3017520"/>
            <a:ext cx="2514600" cy="914400"/>
          </a:xfrm>
          <a:prstGeom prst="roundRect">
            <a:avLst>
              <a:gd fmla="val 8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 txBox="1"/>
          <p:nvPr/>
        </p:nvSpPr>
        <p:spPr>
          <a:xfrm>
            <a:off x="6492240" y="301752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Pool de recursos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compartilhado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9189720" y="3017520"/>
            <a:ext cx="2514600" cy="914400"/>
          </a:xfrm>
          <a:prstGeom prst="roundRect">
            <a:avLst>
              <a:gd fmla="val 8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 txBox="1"/>
          <p:nvPr/>
        </p:nvSpPr>
        <p:spPr>
          <a:xfrm>
            <a:off x="9189720" y="301752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Elasticidade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rápida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492240" y="4069080"/>
            <a:ext cx="2514600" cy="914400"/>
          </a:xfrm>
          <a:prstGeom prst="roundRect">
            <a:avLst>
              <a:gd fmla="val 8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 txBox="1"/>
          <p:nvPr/>
        </p:nvSpPr>
        <p:spPr>
          <a:xfrm>
            <a:off x="6492240" y="406908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Serviço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mensurável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Storages — AWS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Modelos de Serviço em Nuvem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548640" y="1417320"/>
            <a:ext cx="11064240" cy="896112"/>
          </a:xfrm>
          <a:prstGeom prst="rect">
            <a:avLst/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548640" y="1417320"/>
            <a:ext cx="109728" cy="89611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 txBox="1"/>
          <p:nvPr/>
        </p:nvSpPr>
        <p:spPr>
          <a:xfrm>
            <a:off x="822960" y="1417320"/>
            <a:ext cx="11887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IaaS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 txBox="1"/>
          <p:nvPr/>
        </p:nvSpPr>
        <p:spPr>
          <a:xfrm>
            <a:off x="2103120" y="1417320"/>
            <a:ext cx="283464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Infrastructure as a Service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 txBox="1"/>
          <p:nvPr/>
        </p:nvSpPr>
        <p:spPr>
          <a:xfrm>
            <a:off x="5029200" y="1417320"/>
            <a:ext cx="466344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Máquinas virtuais, rede e disco. Cliente cuida de SO e aplicação.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9784080" y="1417320"/>
            <a:ext cx="173736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Amazon EC2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48640" y="2386584"/>
            <a:ext cx="1106424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548640" y="2386584"/>
            <a:ext cx="109728" cy="89611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 txBox="1"/>
          <p:nvPr/>
        </p:nvSpPr>
        <p:spPr>
          <a:xfrm>
            <a:off x="822960" y="2386584"/>
            <a:ext cx="11887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PaaS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2103120" y="2386584"/>
            <a:ext cx="283464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Platform as a Service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5029200" y="2386584"/>
            <a:ext cx="466344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Plataforma pronta para rodar aplicações (runtime, bibliotecas).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9784080" y="2386584"/>
            <a:ext cx="173736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AWS Elastic Beanstalk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548640" y="3355848"/>
            <a:ext cx="11064240" cy="896112"/>
          </a:xfrm>
          <a:prstGeom prst="rect">
            <a:avLst/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548640" y="3355848"/>
            <a:ext cx="109728" cy="896112"/>
          </a:xfrm>
          <a:prstGeom prst="rect">
            <a:avLst/>
          </a:prstGeom>
          <a:solidFill>
            <a:srgbClr val="3E7C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 txBox="1"/>
          <p:nvPr/>
        </p:nvSpPr>
        <p:spPr>
          <a:xfrm>
            <a:off x="822960" y="3355848"/>
            <a:ext cx="11887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7CB1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E7CB1"/>
                </a:solidFill>
                <a:latin typeface="Cambria"/>
                <a:ea typeface="Cambria"/>
                <a:cs typeface="Cambria"/>
                <a:sym typeface="Cambria"/>
              </a:rPr>
              <a:t>SaaS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2103120" y="3355848"/>
            <a:ext cx="283464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Software as a Service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5029200" y="3355848"/>
            <a:ext cx="466344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Software pronto para uso final, via navegador/app.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9784080" y="3355848"/>
            <a:ext cx="173736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Gmail, M365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48640" y="4325112"/>
            <a:ext cx="1106424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548640" y="4325112"/>
            <a:ext cx="109728" cy="89611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 txBox="1"/>
          <p:nvPr/>
        </p:nvSpPr>
        <p:spPr>
          <a:xfrm>
            <a:off x="822960" y="4325112"/>
            <a:ext cx="11887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DBaaS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 txBox="1"/>
          <p:nvPr/>
        </p:nvSpPr>
        <p:spPr>
          <a:xfrm>
            <a:off x="2103120" y="4325112"/>
            <a:ext cx="283464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Database as a Service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5029200" y="4325112"/>
            <a:ext cx="466344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Banco de dados gerenciado: backup, patch, failover automáticos.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 txBox="1"/>
          <p:nvPr/>
        </p:nvSpPr>
        <p:spPr>
          <a:xfrm>
            <a:off x="9784080" y="4325112"/>
            <a:ext cx="173736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Amazon RDS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548640" y="5294376"/>
            <a:ext cx="11064240" cy="896112"/>
          </a:xfrm>
          <a:prstGeom prst="rect">
            <a:avLst/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548640" y="5294376"/>
            <a:ext cx="109728" cy="89611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 txBox="1"/>
          <p:nvPr/>
        </p:nvSpPr>
        <p:spPr>
          <a:xfrm>
            <a:off x="822960" y="5294376"/>
            <a:ext cx="11887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9900"/>
                </a:solidFill>
                <a:latin typeface="Cambria"/>
                <a:ea typeface="Cambria"/>
                <a:cs typeface="Cambria"/>
                <a:sym typeface="Cambria"/>
              </a:rPr>
              <a:t>DWaaS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2103120" y="5294376"/>
            <a:ext cx="283464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Data Warehouse as a Service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5029200" y="5294376"/>
            <a:ext cx="466344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Armazenamento colunar + processamento MPP para OLAP.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/>
          <p:nvPr/>
        </p:nvSpPr>
        <p:spPr>
          <a:xfrm>
            <a:off x="9784080" y="5294376"/>
            <a:ext cx="173736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Amazon Redshift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Storages — AWS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Tipos de Nuvem: Implantação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548640" y="1554480"/>
            <a:ext cx="3611880" cy="4480560"/>
          </a:xfrm>
          <a:prstGeom prst="roundRect">
            <a:avLst>
              <a:gd fmla="val 2025" name="adj"/>
            </a:avLst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548640" y="1554480"/>
            <a:ext cx="3611880" cy="777240"/>
          </a:xfrm>
          <a:prstGeom prst="roundRect">
            <a:avLst>
              <a:gd fmla="val 9412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 txBox="1"/>
          <p:nvPr/>
        </p:nvSpPr>
        <p:spPr>
          <a:xfrm>
            <a:off x="548640" y="1554480"/>
            <a:ext cx="3611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Pública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777240" y="2514600"/>
            <a:ext cx="31546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Infraestrutura de terceiros, compartilhada (multi-tenant), acesso via Internet.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777240" y="4160520"/>
            <a:ext cx="315468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+ Baixo custo inicial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+ Elasticidade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– Menor controle direto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389120" y="1554480"/>
            <a:ext cx="3611880" cy="4480560"/>
          </a:xfrm>
          <a:prstGeom prst="roundRect">
            <a:avLst>
              <a:gd fmla="val 2025" name="adj"/>
            </a:avLst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4389120" y="1554480"/>
            <a:ext cx="3611880" cy="777240"/>
          </a:xfrm>
          <a:prstGeom prst="roundRect">
            <a:avLst>
              <a:gd fmla="val 9412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 txBox="1"/>
          <p:nvPr/>
        </p:nvSpPr>
        <p:spPr>
          <a:xfrm>
            <a:off x="4389120" y="1554480"/>
            <a:ext cx="3611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Privada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4617720" y="2514600"/>
            <a:ext cx="31546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Infraestrutura dedicada a uma única organização, on-premises ou hospedada.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4617720" y="4160520"/>
            <a:ext cx="315468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+ Maior controle/isolamento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– Custo de capital mais alto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– Menor elasticidade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8229600" y="1554480"/>
            <a:ext cx="3611880" cy="4480560"/>
          </a:xfrm>
          <a:prstGeom prst="roundRect">
            <a:avLst>
              <a:gd fmla="val 2025" name="adj"/>
            </a:avLst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8229600" y="1554480"/>
            <a:ext cx="3611880" cy="777240"/>
          </a:xfrm>
          <a:prstGeom prst="roundRect">
            <a:avLst>
              <a:gd fmla="val 9412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 txBox="1"/>
          <p:nvPr/>
        </p:nvSpPr>
        <p:spPr>
          <a:xfrm>
            <a:off x="8229600" y="1554480"/>
            <a:ext cx="3611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Híbrida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 txBox="1"/>
          <p:nvPr/>
        </p:nvSpPr>
        <p:spPr>
          <a:xfrm>
            <a:off x="8458200" y="2514600"/>
            <a:ext cx="31546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Combinação de nuvem pública e privada, com orquestração entre ambientes.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8458200" y="4160520"/>
            <a:ext cx="315468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+ Flexibilidade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+ Dados sensíveis on-prem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+ Picos na nuvem pública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Storages — AWS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Características Fundamentais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548640" y="1508760"/>
            <a:ext cx="2679192" cy="214884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2700">
            <a:solidFill>
              <a:srgbClr val="D6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749808" y="1709928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 txBox="1"/>
          <p:nvPr/>
        </p:nvSpPr>
        <p:spPr>
          <a:xfrm>
            <a:off x="749808" y="17099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749808" y="22860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Acessibilidade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749808" y="265176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Acesso via API, console e SDK de qualquer lugar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3410712" y="1508760"/>
            <a:ext cx="2679192" cy="214884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2700">
            <a:solidFill>
              <a:srgbClr val="D6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3611880" y="1709928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 txBox="1"/>
          <p:nvPr/>
        </p:nvSpPr>
        <p:spPr>
          <a:xfrm>
            <a:off x="3611880" y="17099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 txBox="1"/>
          <p:nvPr/>
        </p:nvSpPr>
        <p:spPr>
          <a:xfrm>
            <a:off x="3611880" y="22860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Disponibilidade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3611880" y="265176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Medida por SLA (ex.: 99,99% ≈ 52 min/ano indisponível)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6272784" y="1508760"/>
            <a:ext cx="2679192" cy="214884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2700">
            <a:solidFill>
              <a:srgbClr val="D6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6473952" y="1709928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 txBox="1"/>
          <p:nvPr/>
        </p:nvSpPr>
        <p:spPr>
          <a:xfrm>
            <a:off x="6473952" y="17099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6473952" y="22860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Latência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 txBox="1"/>
          <p:nvPr/>
        </p:nvSpPr>
        <p:spPr>
          <a:xfrm>
            <a:off x="6473952" y="265176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Tempo de resposta; varia por classe de storage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9134856" y="1508760"/>
            <a:ext cx="2679192" cy="214884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2700">
            <a:solidFill>
              <a:srgbClr val="D6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9336024" y="1709928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 txBox="1"/>
          <p:nvPr/>
        </p:nvSpPr>
        <p:spPr>
          <a:xfrm>
            <a:off x="9336024" y="17099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9336024" y="22860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Escalabilidade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9336024" y="265176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Vertical (scale up) e horizontal (scale out)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548640" y="3886200"/>
            <a:ext cx="2679192" cy="214884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2700">
            <a:solidFill>
              <a:srgbClr val="D6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749808" y="4087368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 txBox="1"/>
          <p:nvPr/>
        </p:nvSpPr>
        <p:spPr>
          <a:xfrm>
            <a:off x="749808" y="40873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749808" y="46634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Confiabilidade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749808" y="502920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Redundância multi-zona; S3 Standard: 11 noves de durabilidade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3410712" y="3886200"/>
            <a:ext cx="2679192" cy="214884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2700">
            <a:solidFill>
              <a:srgbClr val="D6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3611880" y="4087368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 txBox="1"/>
          <p:nvPr/>
        </p:nvSpPr>
        <p:spPr>
          <a:xfrm>
            <a:off x="3611880" y="40873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 txBox="1"/>
          <p:nvPr/>
        </p:nvSpPr>
        <p:spPr>
          <a:xfrm>
            <a:off x="3611880" y="46634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Segurança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 txBox="1"/>
          <p:nvPr/>
        </p:nvSpPr>
        <p:spPr>
          <a:xfrm>
            <a:off x="3611880" y="502920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Criptografia, IAM, VPC — responsabilidade compartilhada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6272784" y="3886200"/>
            <a:ext cx="2679192" cy="214884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2700">
            <a:solidFill>
              <a:srgbClr val="D6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6473952" y="4087368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 txBox="1"/>
          <p:nvPr/>
        </p:nvSpPr>
        <p:spPr>
          <a:xfrm>
            <a:off x="6473952" y="40873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6473952" y="46634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Custo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6473952" y="502920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Pay-as-you-go, cobrança granular multi-dimensional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Storages — AWS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0" y="2834640"/>
            <a:ext cx="12188952" cy="1188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 txBox="1"/>
          <p:nvPr/>
        </p:nvSpPr>
        <p:spPr>
          <a:xfrm>
            <a:off x="640080" y="21488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6E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Estudo de Caso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 txBox="1"/>
          <p:nvPr/>
        </p:nvSpPr>
        <p:spPr>
          <a:xfrm>
            <a:off x="640080" y="288036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Amazon Web Services (AWS)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 txBox="1"/>
          <p:nvPr/>
        </p:nvSpPr>
        <p:spPr>
          <a:xfrm>
            <a:off x="640080" y="429768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Computação · Armazenamento · Banco de Dados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Computação — Amazon EC2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548640" y="1554480"/>
            <a:ext cx="5303520" cy="4480560"/>
          </a:xfrm>
          <a:prstGeom prst="roundRect">
            <a:avLst>
              <a:gd fmla="val 1633" name="adj"/>
            </a:avLst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 txBox="1"/>
          <p:nvPr/>
        </p:nvSpPr>
        <p:spPr>
          <a:xfrm>
            <a:off x="822960" y="17830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Elastic Compute Cloud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 txBox="1"/>
          <p:nvPr/>
        </p:nvSpPr>
        <p:spPr>
          <a:xfrm>
            <a:off x="822960" y="2194560"/>
            <a:ext cx="47548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Serviço de IaaS que fornece máquinas virtuais (</a:t>
            </a:r>
            <a:r>
              <a:rPr b="1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instâncias</a:t>
            </a: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) sob demanda, em </a:t>
            </a:r>
            <a:r>
              <a:rPr b="1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ti</a:t>
            </a:r>
            <a:r>
              <a:rPr b="1" lang="en-US" sz="13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pos</a:t>
            </a:r>
            <a:r>
              <a:rPr lang="en-US" sz="13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otimizad</a:t>
            </a:r>
            <a:r>
              <a:rPr lang="en-US" sz="13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 para computação, memória ou armazenamento. Escala horizontalmente com </a:t>
            </a:r>
            <a:r>
              <a:rPr b="1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Auto Scaling</a:t>
            </a: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distribuindo carga via</a:t>
            </a:r>
            <a:r>
              <a:rPr b="1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Elastic Load Balancing</a:t>
            </a: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quando surgem picos.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 txBox="1"/>
          <p:nvPr/>
        </p:nvSpPr>
        <p:spPr>
          <a:xfrm>
            <a:off x="822960" y="3977640"/>
            <a:ext cx="475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Modelos de contratação: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 txBox="1"/>
          <p:nvPr/>
        </p:nvSpPr>
        <p:spPr>
          <a:xfrm>
            <a:off x="822960" y="4343400"/>
            <a:ext cx="4755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On-Demand — pagamento por hora/segundo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 txBox="1"/>
          <p:nvPr/>
        </p:nvSpPr>
        <p:spPr>
          <a:xfrm>
            <a:off x="822960" y="4690872"/>
            <a:ext cx="4755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Savings Plans — compromisso flexível, por 1-3 anos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 txBox="1"/>
          <p:nvPr/>
        </p:nvSpPr>
        <p:spPr>
          <a:xfrm>
            <a:off x="822960" y="5038344"/>
            <a:ext cx="4755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Spot Instances — até 90% de desconto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 txBox="1"/>
          <p:nvPr/>
        </p:nvSpPr>
        <p:spPr>
          <a:xfrm>
            <a:off x="822960" y="5385816"/>
            <a:ext cx="4755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Reserved Instances — compromisso fixo, por 1–3 anos</a:t>
            </a:r>
            <a:endParaRPr sz="125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6172200" y="1554480"/>
            <a:ext cx="5440680" cy="4480560"/>
          </a:xfrm>
          <a:prstGeom prst="roundRect">
            <a:avLst>
              <a:gd fmla="val 1633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 txBox="1"/>
          <p:nvPr/>
        </p:nvSpPr>
        <p:spPr>
          <a:xfrm>
            <a:off x="6446520" y="182880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Por que importa para Banco de Dados?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6446520" y="233172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alibri"/>
                <a:ea typeface="Calibri"/>
                <a:cs typeface="Calibri"/>
                <a:sym typeface="Calibri"/>
              </a:rPr>
              <a:t>O EC2 é a base sobre a qual bancos de dados auto-gerenciados (não DBaaS) são instalados, quando se precisa de controle total sobre o SGBD, versão específica ou configurações avançadas que o RDS não oferece.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10"/>
          <p:cNvCxnSpPr/>
          <p:nvPr/>
        </p:nvCxnSpPr>
        <p:spPr>
          <a:xfrm>
            <a:off x="6446520" y="3749040"/>
            <a:ext cx="4937760" cy="0"/>
          </a:xfrm>
          <a:prstGeom prst="straightConnector1">
            <a:avLst/>
          </a:prstGeom>
          <a:noFill/>
          <a:ln cap="flat" cmpd="sng" w="12700">
            <a:solidFill>
              <a:srgbClr val="3A4A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10"/>
          <p:cNvSpPr txBox="1"/>
          <p:nvPr/>
        </p:nvSpPr>
        <p:spPr>
          <a:xfrm>
            <a:off x="6446520" y="3977640"/>
            <a:ext cx="49377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alibri"/>
                <a:ea typeface="Calibri"/>
                <a:cs typeface="Calibri"/>
                <a:sym typeface="Calibri"/>
              </a:rPr>
              <a:t>Para persistir dados de forma durável, essas instâncias dependem quase sempre do EBS — armazenamento em bloco, explorado a seguir.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Storages — AWS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Armazenamento em Bloco — Amazon EBS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548640" y="1554480"/>
            <a:ext cx="5303520" cy="4480560"/>
          </a:xfrm>
          <a:prstGeom prst="roundRect">
            <a:avLst>
              <a:gd fmla="val 1633" name="adj"/>
            </a:avLst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"/>
          <p:cNvSpPr txBox="1"/>
          <p:nvPr/>
        </p:nvSpPr>
        <p:spPr>
          <a:xfrm>
            <a:off x="822960" y="17830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O que é o EBS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822960" y="2194560"/>
            <a:ext cx="47548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Funciona como um disco rígido virtual, anexado pela rede a uma única instância EC2. O sistema operacional cria nele seu próprio sistema de arquivos — por isso é a escolha natural para instalar um SGBD tradicional.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 txBox="1"/>
          <p:nvPr/>
        </p:nvSpPr>
        <p:spPr>
          <a:xfrm>
            <a:off x="822960" y="39776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Desempenho e elasticidade: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 txBox="1"/>
          <p:nvPr/>
        </p:nvSpPr>
        <p:spPr>
          <a:xfrm>
            <a:off x="822960" y="4343400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Alto IOPS e baixa latência — ideal para páginas de dados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 txBox="1"/>
          <p:nvPr/>
        </p:nvSpPr>
        <p:spPr>
          <a:xfrm>
            <a:off x="822960" y="4690872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Elastic Volumes: redimensiona sem desligar a instância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 txBox="1"/>
          <p:nvPr/>
        </p:nvSpPr>
        <p:spPr>
          <a:xfrm>
            <a:off x="822960" y="5038344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Elasticidade vertical — diferente da horizontal do EC2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 txBox="1"/>
          <p:nvPr/>
        </p:nvSpPr>
        <p:spPr>
          <a:xfrm>
            <a:off x="822960" y="5385816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Snapshots incrementais no S3 para backup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6172200" y="1554480"/>
            <a:ext cx="5440680" cy="4480560"/>
          </a:xfrm>
          <a:prstGeom prst="roundRect">
            <a:avLst>
              <a:gd fmla="val 1633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 txBox="1"/>
          <p:nvPr/>
        </p:nvSpPr>
        <p:spPr>
          <a:xfrm>
            <a:off x="6446520" y="182880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Por que não usar o disco da instância?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 txBox="1"/>
          <p:nvPr/>
        </p:nvSpPr>
        <p:spPr>
          <a:xfrm>
            <a:off x="6446520" y="233172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alibri"/>
                <a:ea typeface="Calibri"/>
                <a:cs typeface="Calibri"/>
                <a:sym typeface="Calibri"/>
              </a:rPr>
              <a:t>O armazenamento nativo da instância (Instance Store) é efêmero: os dados somem se a instância for encerrada ou falhar. Para persistência real, o EC2 depende quase que exclusivamente do EBS.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" name="Google Shape;236;p11"/>
          <p:cNvCxnSpPr/>
          <p:nvPr/>
        </p:nvCxnSpPr>
        <p:spPr>
          <a:xfrm>
            <a:off x="6446520" y="3749040"/>
            <a:ext cx="4937760" cy="0"/>
          </a:xfrm>
          <a:prstGeom prst="straightConnector1">
            <a:avLst/>
          </a:prstGeom>
          <a:noFill/>
          <a:ln cap="flat" cmpd="sng" w="12700">
            <a:solidFill>
              <a:srgbClr val="3A4A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11"/>
          <p:cNvSpPr txBox="1"/>
          <p:nvPr/>
        </p:nvSpPr>
        <p:spPr>
          <a:xfrm>
            <a:off x="6446520" y="3977640"/>
            <a:ext cx="49377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alibri"/>
                <a:ea typeface="Calibri"/>
                <a:cs typeface="Calibri"/>
                <a:sym typeface="Calibri"/>
              </a:rPr>
              <a:t>O EBS é a peça que falta entre computação pura (EC2) e um SGBD funcional — mas ainda é o disco de uma única instância, não um repositório compartilhado. Isso nos leva ao armazenamento de objetos: o S3.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Storages — AWS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Amazon S3 — Objetos e Arquivamento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548640" y="1554480"/>
            <a:ext cx="5303520" cy="4480560"/>
          </a:xfrm>
          <a:prstGeom prst="roundRect">
            <a:avLst>
              <a:gd fmla="val 1633" name="adj"/>
            </a:avLst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"/>
          <p:cNvSpPr txBox="1"/>
          <p:nvPr/>
        </p:nvSpPr>
        <p:spPr>
          <a:xfrm>
            <a:off x="822960" y="17830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O modelo de objetos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 txBox="1"/>
          <p:nvPr/>
        </p:nvSpPr>
        <p:spPr>
          <a:xfrm>
            <a:off x="822960" y="2194560"/>
            <a:ext cx="47548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Cada arquivo é um objeto — dado, metadados e uma chave — dentro de um bucket, acessado via API HTTP/SDK. Não é um disco que se monta no servidor, como o EBS visto na seção anterior.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 txBox="1"/>
          <p:nvPr/>
        </p:nvSpPr>
        <p:spPr>
          <a:xfrm>
            <a:off x="822960" y="39776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Consistência e durabilidade: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 txBox="1"/>
          <p:nvPr/>
        </p:nvSpPr>
        <p:spPr>
          <a:xfrm>
            <a:off x="822960" y="4343400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Leitura fortemente consistente após PUT/DELETE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 txBox="1"/>
          <p:nvPr/>
        </p:nvSpPr>
        <p:spPr>
          <a:xfrm>
            <a:off x="822960" y="4690872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Réplica automática em 3+ Zonas de Disponibilidade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 txBox="1"/>
          <p:nvPr/>
        </p:nvSpPr>
        <p:spPr>
          <a:xfrm>
            <a:off x="822960" y="5038344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11 noves de durabilidade (99,999999999%)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 txBox="1"/>
          <p:nvPr/>
        </p:nvSpPr>
        <p:spPr>
          <a:xfrm>
            <a:off x="822960" y="5385816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Objeto trocado por inteiro — não editado por página, como no EBS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6172200" y="1554480"/>
            <a:ext cx="5440680" cy="4480560"/>
          </a:xfrm>
          <a:prstGeom prst="roundRect">
            <a:avLst>
              <a:gd fmla="val 1633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"/>
          <p:cNvSpPr txBox="1"/>
          <p:nvPr/>
        </p:nvSpPr>
        <p:spPr>
          <a:xfrm>
            <a:off x="6446520" y="182880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Classes de armazenamento (dentro do S3)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 txBox="1"/>
          <p:nvPr/>
        </p:nvSpPr>
        <p:spPr>
          <a:xfrm>
            <a:off x="6446520" y="233172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alibri"/>
                <a:ea typeface="Calibri"/>
                <a:cs typeface="Calibri"/>
                <a:sym typeface="Calibri"/>
              </a:rPr>
              <a:t>Standard — multi-AZ, dados quentes, sem taxa de leitura. One Zone / Express One Zone — 1 AZ, custo menor ou latência mínima. Standard-IA / One Zone-</a:t>
            </a:r>
            <a:r>
              <a:rPr lang="en-US" sz="1300">
                <a:solidFill>
                  <a:srgbClr val="E8EEF5"/>
                </a:solidFill>
                <a:latin typeface="Calibri"/>
                <a:ea typeface="Calibri"/>
                <a:cs typeface="Calibri"/>
                <a:sym typeface="Calibri"/>
              </a:rPr>
              <a:t>IA</a:t>
            </a:r>
            <a:r>
              <a:rPr b="0" i="0" lang="en-US" sz="1300" u="none" cap="none" strike="noStrike">
                <a:solidFill>
                  <a:srgbClr val="E8EEF5"/>
                </a:solidFill>
                <a:latin typeface="Calibri"/>
                <a:ea typeface="Calibri"/>
                <a:cs typeface="Calibri"/>
                <a:sym typeface="Calibri"/>
              </a:rPr>
              <a:t> — acesso raro, com taxa de recuperação.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12"/>
          <p:cNvCxnSpPr/>
          <p:nvPr/>
        </p:nvCxnSpPr>
        <p:spPr>
          <a:xfrm>
            <a:off x="6446520" y="3749040"/>
            <a:ext cx="4937760" cy="0"/>
          </a:xfrm>
          <a:prstGeom prst="straightConnector1">
            <a:avLst/>
          </a:prstGeom>
          <a:noFill/>
          <a:ln cap="flat" cmpd="sng" w="12700">
            <a:solidFill>
              <a:srgbClr val="3A4A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" name="Google Shape;258;p12"/>
          <p:cNvSpPr txBox="1"/>
          <p:nvPr/>
        </p:nvSpPr>
        <p:spPr>
          <a:xfrm>
            <a:off x="6446520" y="3977640"/>
            <a:ext cx="49377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alibri"/>
                <a:ea typeface="Calibri"/>
                <a:cs typeface="Calibri"/>
                <a:sym typeface="Calibri"/>
              </a:rPr>
              <a:t>Glacier não é um serviço à parte — são classes do próprio S3 para arquivamento: Instant Retrieval (ms), Flexible Retrieval (minutos a horas) e Deep Archive (12–48h, menor custo).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Storages — AWS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Banco de Dados Relacional — RDS e Aurora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548640" y="1554480"/>
            <a:ext cx="11064240" cy="2048256"/>
          </a:xfrm>
          <a:prstGeom prst="rect">
            <a:avLst/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731520" y="2235708"/>
            <a:ext cx="685800" cy="6858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"/>
          <p:cNvSpPr txBox="1"/>
          <p:nvPr/>
        </p:nvSpPr>
        <p:spPr>
          <a:xfrm>
            <a:off x="731520" y="2235708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 txBox="1"/>
          <p:nvPr/>
        </p:nvSpPr>
        <p:spPr>
          <a:xfrm>
            <a:off x="1508760" y="1714480"/>
            <a:ext cx="2103120" cy="172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RDS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 txBox="1"/>
          <p:nvPr/>
        </p:nvSpPr>
        <p:spPr>
          <a:xfrm>
            <a:off x="3657600" y="1714480"/>
            <a:ext cx="2651760" cy="172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DBaaS relacional gerenciado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 txBox="1"/>
          <p:nvPr/>
        </p:nvSpPr>
        <p:spPr>
          <a:xfrm>
            <a:off x="6400800" y="1714480"/>
            <a:ext cx="5029200" cy="172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MySQL, PostgreSQL, MariaDB, Oracle e SQL Server. A AWS automatiza backup, patch, replicação e failover — o cliente projeta o schema, os índices e ajusta as consultas.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548640" y="3877056"/>
            <a:ext cx="11064240" cy="2048256"/>
          </a:xfrm>
          <a:prstGeom prst="rect">
            <a:avLst/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731520" y="4558284"/>
            <a:ext cx="685800" cy="6858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"/>
          <p:cNvSpPr txBox="1"/>
          <p:nvPr/>
        </p:nvSpPr>
        <p:spPr>
          <a:xfrm>
            <a:off x="731520" y="4558284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 txBox="1"/>
          <p:nvPr/>
        </p:nvSpPr>
        <p:spPr>
          <a:xfrm>
            <a:off x="1508760" y="4037056"/>
            <a:ext cx="2103120" cy="172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Aurora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 txBox="1"/>
          <p:nvPr/>
        </p:nvSpPr>
        <p:spPr>
          <a:xfrm>
            <a:off x="3657600" y="4037056"/>
            <a:ext cx="2651760" cy="172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Relacional de alto desempenho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 txBox="1"/>
          <p:nvPr/>
        </p:nvSpPr>
        <p:spPr>
          <a:xfrm>
            <a:off x="6400800" y="4037056"/>
            <a:ext cx="5029200" cy="172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Compatível com MySQL/PostgreSQL, mas com engine e armazenamento distribuído próprios da AWS — maior desempenho e disponibilidade que o RDS convencional.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Storages — AWS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NoSQL e Data Warehouse — DynamoDB e Redshift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4"/>
          <p:cNvSpPr/>
          <p:nvPr/>
        </p:nvSpPr>
        <p:spPr>
          <a:xfrm>
            <a:off x="548640" y="1554480"/>
            <a:ext cx="11064240" cy="2048256"/>
          </a:xfrm>
          <a:prstGeom prst="rect">
            <a:avLst/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4"/>
          <p:cNvSpPr/>
          <p:nvPr/>
        </p:nvSpPr>
        <p:spPr>
          <a:xfrm>
            <a:off x="731520" y="2235708"/>
            <a:ext cx="685800" cy="68580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4"/>
          <p:cNvSpPr txBox="1"/>
          <p:nvPr/>
        </p:nvSpPr>
        <p:spPr>
          <a:xfrm>
            <a:off x="731520" y="2235708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 txBox="1"/>
          <p:nvPr/>
        </p:nvSpPr>
        <p:spPr>
          <a:xfrm>
            <a:off x="1508760" y="1714480"/>
            <a:ext cx="2103120" cy="172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DynamoDB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 txBox="1"/>
          <p:nvPr/>
        </p:nvSpPr>
        <p:spPr>
          <a:xfrm>
            <a:off x="3657600" y="1714480"/>
            <a:ext cx="2651760" cy="172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NoSQL chave-valor / documento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 txBox="1"/>
          <p:nvPr/>
        </p:nvSpPr>
        <p:spPr>
          <a:xfrm>
            <a:off x="6400800" y="1714480"/>
            <a:ext cx="5029200" cy="172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Escalabilidade horizontal automática e latência de milissegundos, sem servidor para gerenciar — ideal para e-commerce, jogos e IoT, mas exige modelar o acesso antes do schema.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548640" y="3877056"/>
            <a:ext cx="11064240" cy="2048256"/>
          </a:xfrm>
          <a:prstGeom prst="rect">
            <a:avLst/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4"/>
          <p:cNvSpPr/>
          <p:nvPr/>
        </p:nvSpPr>
        <p:spPr>
          <a:xfrm>
            <a:off x="731520" y="4558284"/>
            <a:ext cx="685800" cy="6858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4"/>
          <p:cNvSpPr txBox="1"/>
          <p:nvPr/>
        </p:nvSpPr>
        <p:spPr>
          <a:xfrm>
            <a:off x="731520" y="4558284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 txBox="1"/>
          <p:nvPr/>
        </p:nvSpPr>
        <p:spPr>
          <a:xfrm>
            <a:off x="1508760" y="4037056"/>
            <a:ext cx="2103120" cy="172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Redshift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 txBox="1"/>
          <p:nvPr/>
        </p:nvSpPr>
        <p:spPr>
          <a:xfrm>
            <a:off x="3657600" y="4037056"/>
            <a:ext cx="2651760" cy="172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DWaaS — data warehouse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 txBox="1"/>
          <p:nvPr/>
        </p:nvSpPr>
        <p:spPr>
          <a:xfrm>
            <a:off x="6400800" y="4037056"/>
            <a:ext cx="5029200" cy="172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Armazenamento colunar e processamento massivamente paralelo (MPP) para consultas OLAP. Integra-se ao data lake via Redshift Spectrum, consultando dados direto no S3.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Storages — AWS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5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Estudo de Custo: Base de 3,5 Petabytes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5"/>
          <p:cNvSpPr txBox="1"/>
          <p:nvPr/>
        </p:nvSpPr>
        <p:spPr>
          <a:xfrm>
            <a:off x="640080" y="1737360"/>
            <a:ext cx="42062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6400"/>
              <a:buFont typeface="Cambria"/>
              <a:buNone/>
            </a:pPr>
            <a:r>
              <a:rPr b="1" i="0" lang="en-US" sz="64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3,5 PB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5"/>
          <p:cNvSpPr txBox="1"/>
          <p:nvPr/>
        </p:nvSpPr>
        <p:spPr>
          <a:xfrm>
            <a:off x="685800" y="2880360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≈ 3.584 TB  ≈  3.670.016 GB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(padrão binário: 1 PB = 1.024 TB)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" name="Google Shape;311;p15"/>
          <p:cNvCxnSpPr/>
          <p:nvPr/>
        </p:nvCxnSpPr>
        <p:spPr>
          <a:xfrm>
            <a:off x="640080" y="4023360"/>
            <a:ext cx="3931920" cy="0"/>
          </a:xfrm>
          <a:prstGeom prst="straightConnector1">
            <a:avLst/>
          </a:prstGeom>
          <a:noFill/>
          <a:ln cap="flat" cmpd="sng" w="19050">
            <a:solidFill>
              <a:srgbClr val="D6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p15"/>
          <p:cNvSpPr txBox="1"/>
          <p:nvPr/>
        </p:nvSpPr>
        <p:spPr>
          <a:xfrm>
            <a:off x="640080" y="42062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Premissas do estudo: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5"/>
          <p:cNvSpPr txBox="1"/>
          <p:nvPr/>
        </p:nvSpPr>
        <p:spPr>
          <a:xfrm>
            <a:off x="640080" y="4572000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Região us-east-1 (N. Virgínia)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5"/>
          <p:cNvSpPr txBox="1"/>
          <p:nvPr/>
        </p:nvSpPr>
        <p:spPr>
          <a:xfrm>
            <a:off x="640080" y="4937760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Preços de lista, ago/2026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5"/>
          <p:cNvSpPr txBox="1"/>
          <p:nvPr/>
        </p:nvSpPr>
        <p:spPr>
          <a:xfrm>
            <a:off x="640080" y="5303520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Sem Reserved Capacity/Savings Plans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 txBox="1"/>
          <p:nvPr/>
        </p:nvSpPr>
        <p:spPr>
          <a:xfrm>
            <a:off x="640080" y="5669280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Custo de armazenamento apenas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 txBox="1"/>
          <p:nvPr/>
        </p:nvSpPr>
        <p:spPr>
          <a:xfrm>
            <a:off x="5212080" y="1600200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Custo mensal — S3 Standard (por faixa)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9821" y="1814456"/>
            <a:ext cx="630936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Storages — AWS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6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Custo por Classe de Armazenamento (S3)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6"/>
          <p:cNvSpPr txBox="1"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Custo mensal estimado para 3,5 PB, por classe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828800"/>
            <a:ext cx="6858000" cy="420624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6"/>
          <p:cNvSpPr/>
          <p:nvPr/>
        </p:nvSpPr>
        <p:spPr>
          <a:xfrm>
            <a:off x="7635240" y="1828800"/>
            <a:ext cx="3977640" cy="4206240"/>
          </a:xfrm>
          <a:prstGeom prst="roundRect">
            <a:avLst>
              <a:gd fmla="val 1839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6"/>
          <p:cNvSpPr txBox="1"/>
          <p:nvPr/>
        </p:nvSpPr>
        <p:spPr>
          <a:xfrm>
            <a:off x="7863840" y="20116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Leitura rápida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6"/>
          <p:cNvSpPr txBox="1"/>
          <p:nvPr/>
        </p:nvSpPr>
        <p:spPr>
          <a:xfrm>
            <a:off x="7863840" y="2423160"/>
            <a:ext cx="356616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alibri"/>
                <a:ea typeface="Calibri"/>
                <a:cs typeface="Calibri"/>
                <a:sym typeface="Calibri"/>
              </a:rPr>
              <a:t>S3 Standard → Glacier Deep Archive representa economia de armazenamento superior a 95%.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alibri"/>
                <a:ea typeface="Calibri"/>
                <a:cs typeface="Calibri"/>
                <a:sym typeface="Calibri"/>
              </a:rPr>
              <a:t>Mas Glacier Deep Archive leva 12–48h para recuperar dados — inviável para consultas ativas.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alibri"/>
                <a:ea typeface="Calibri"/>
                <a:cs typeface="Calibri"/>
                <a:sym typeface="Calibri"/>
              </a:rPr>
              <a:t>Na prática: camadas combinadas (lifecycle policies), não uma classe única.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Storages — AWS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7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Vantagens x Desvantagens (3,5 PB na AWS)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7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7"/>
          <p:cNvSpPr/>
          <p:nvPr/>
        </p:nvSpPr>
        <p:spPr>
          <a:xfrm>
            <a:off x="548640" y="1508760"/>
            <a:ext cx="5440680" cy="4526280"/>
          </a:xfrm>
          <a:prstGeom prst="roundRect">
            <a:avLst>
              <a:gd fmla="val 1616" name="adj"/>
            </a:avLst>
          </a:prstGeom>
          <a:solidFill>
            <a:srgbClr val="EAF6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7"/>
          <p:cNvSpPr txBox="1"/>
          <p:nvPr/>
        </p:nvSpPr>
        <p:spPr>
          <a:xfrm>
            <a:off x="822960" y="169164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A46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Vantagens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 txBox="1"/>
          <p:nvPr/>
        </p:nvSpPr>
        <p:spPr>
          <a:xfrm>
            <a:off x="822960" y="224028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A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E4A2E"/>
                </a:solidFill>
                <a:latin typeface="Calibri"/>
                <a:ea typeface="Calibri"/>
                <a:cs typeface="Calibri"/>
                <a:sym typeface="Calibri"/>
              </a:rPr>
              <a:t>+  Elasticidade sem CAPEX inicial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7"/>
          <p:cNvSpPr txBox="1"/>
          <p:nvPr/>
        </p:nvSpPr>
        <p:spPr>
          <a:xfrm>
            <a:off x="822960" y="292608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A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E4A2E"/>
                </a:solidFill>
                <a:latin typeface="Calibri"/>
                <a:ea typeface="Calibri"/>
                <a:cs typeface="Calibri"/>
                <a:sym typeface="Calibri"/>
              </a:rPr>
              <a:t>+  Durabilidade de 11 noves (S3 Standard)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7"/>
          <p:cNvSpPr txBox="1"/>
          <p:nvPr/>
        </p:nvSpPr>
        <p:spPr>
          <a:xfrm>
            <a:off x="822960" y="361188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A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E4A2E"/>
                </a:solidFill>
                <a:latin typeface="Calibri"/>
                <a:ea typeface="Calibri"/>
                <a:cs typeface="Calibri"/>
                <a:sym typeface="Calibri"/>
              </a:rPr>
              <a:t>+  Ecossistema integrado (analytics, ML)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7"/>
          <p:cNvSpPr txBox="1"/>
          <p:nvPr/>
        </p:nvSpPr>
        <p:spPr>
          <a:xfrm>
            <a:off x="822960" y="429768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A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E4A2E"/>
                </a:solidFill>
                <a:latin typeface="Calibri"/>
                <a:ea typeface="Calibri"/>
                <a:cs typeface="Calibri"/>
                <a:sym typeface="Calibri"/>
              </a:rPr>
              <a:t>+  Custo granular por camada (lifecycle)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7"/>
          <p:cNvSpPr txBox="1"/>
          <p:nvPr/>
        </p:nvSpPr>
        <p:spPr>
          <a:xfrm>
            <a:off x="822960" y="498348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A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E4A2E"/>
                </a:solidFill>
                <a:latin typeface="Calibri"/>
                <a:ea typeface="Calibri"/>
                <a:cs typeface="Calibri"/>
                <a:sym typeface="Calibri"/>
              </a:rPr>
              <a:t>+  Segurança e certificações nativas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7"/>
          <p:cNvSpPr/>
          <p:nvPr/>
        </p:nvSpPr>
        <p:spPr>
          <a:xfrm>
            <a:off x="6172200" y="1508760"/>
            <a:ext cx="5440680" cy="4526280"/>
          </a:xfrm>
          <a:prstGeom prst="roundRect">
            <a:avLst>
              <a:gd fmla="val 1616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7"/>
          <p:cNvSpPr txBox="1"/>
          <p:nvPr/>
        </p:nvSpPr>
        <p:spPr>
          <a:xfrm>
            <a:off x="6446520" y="169164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22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B0322C"/>
                </a:solidFill>
                <a:latin typeface="Calibri"/>
                <a:ea typeface="Calibri"/>
                <a:cs typeface="Calibri"/>
                <a:sym typeface="Calibri"/>
              </a:rPr>
              <a:t>Desvantagens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7"/>
          <p:cNvSpPr txBox="1"/>
          <p:nvPr/>
        </p:nvSpPr>
        <p:spPr>
          <a:xfrm>
            <a:off x="6446520" y="224028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1F1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1F1B"/>
                </a:solidFill>
                <a:latin typeface="Calibri"/>
                <a:ea typeface="Calibri"/>
                <a:cs typeface="Calibri"/>
                <a:sym typeface="Calibri"/>
              </a:rPr>
              <a:t>–  Custo mensal recorrente e elevado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 txBox="1"/>
          <p:nvPr/>
        </p:nvSpPr>
        <p:spPr>
          <a:xfrm>
            <a:off x="6446520" y="292608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1F1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1F1B"/>
                </a:solidFill>
                <a:latin typeface="Calibri"/>
                <a:ea typeface="Calibri"/>
                <a:cs typeface="Calibri"/>
                <a:sym typeface="Calibri"/>
              </a:rPr>
              <a:t>–  Egress custoso → vendor lock-in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7"/>
          <p:cNvSpPr txBox="1"/>
          <p:nvPr/>
        </p:nvSpPr>
        <p:spPr>
          <a:xfrm>
            <a:off x="6446520" y="361188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1F1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1F1B"/>
                </a:solidFill>
                <a:latin typeface="Calibri"/>
                <a:ea typeface="Calibri"/>
                <a:cs typeface="Calibri"/>
                <a:sym typeface="Calibri"/>
              </a:rPr>
              <a:t>–  Exige monitoramento contínuo (FinOps)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7"/>
          <p:cNvSpPr txBox="1"/>
          <p:nvPr/>
        </p:nvSpPr>
        <p:spPr>
          <a:xfrm>
            <a:off x="6446520" y="429768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1F1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1F1B"/>
                </a:solidFill>
                <a:latin typeface="Calibri"/>
                <a:ea typeface="Calibri"/>
                <a:cs typeface="Calibri"/>
                <a:sym typeface="Calibri"/>
              </a:rPr>
              <a:t>–  Latência em dados arquivados (Glacier)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 txBox="1"/>
          <p:nvPr/>
        </p:nvSpPr>
        <p:spPr>
          <a:xfrm>
            <a:off x="6446520" y="498348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1F1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1F1B"/>
                </a:solidFill>
                <a:latin typeface="Calibri"/>
                <a:ea typeface="Calibri"/>
                <a:cs typeface="Calibri"/>
                <a:sym typeface="Calibri"/>
              </a:rPr>
              <a:t>–  Questões de governança/soberania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Storages — AWS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8"/>
          <p:cNvSpPr txBox="1"/>
          <p:nvPr/>
        </p:nvSpPr>
        <p:spPr>
          <a:xfrm>
            <a:off x="640080" y="64008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Conclusão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658368" y="1371600"/>
            <a:ext cx="100584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8"/>
          <p:cNvSpPr/>
          <p:nvPr/>
        </p:nvSpPr>
        <p:spPr>
          <a:xfrm>
            <a:off x="658368" y="1883664"/>
            <a:ext cx="128016" cy="128016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8"/>
          <p:cNvSpPr txBox="1"/>
          <p:nvPr/>
        </p:nvSpPr>
        <p:spPr>
          <a:xfrm>
            <a:off x="960120" y="1828800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8EEF5"/>
                </a:solidFill>
                <a:latin typeface="Calibri"/>
                <a:ea typeface="Calibri"/>
                <a:cs typeface="Calibri"/>
                <a:sym typeface="Calibri"/>
              </a:rPr>
              <a:t>A nuvem materializa IaaS/PaaS/SaaS/DBaaS/DWaaS em serviços concretos (EC2, S3/EBS/Glacier, RDS/Aurora/DynamoDB/Redshift).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8"/>
          <p:cNvSpPr/>
          <p:nvPr/>
        </p:nvSpPr>
        <p:spPr>
          <a:xfrm>
            <a:off x="658368" y="2843784"/>
            <a:ext cx="128016" cy="128016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8"/>
          <p:cNvSpPr txBox="1"/>
          <p:nvPr/>
        </p:nvSpPr>
        <p:spPr>
          <a:xfrm>
            <a:off x="960120" y="2788920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8EEF5"/>
                </a:solidFill>
                <a:latin typeface="Calibri"/>
                <a:ea typeface="Calibri"/>
                <a:cs typeface="Calibri"/>
                <a:sym typeface="Calibri"/>
              </a:rPr>
              <a:t>Elasticidade, durabilidade e integração são fortes vantagens técnicas da AWS.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658368" y="3803904"/>
            <a:ext cx="128016" cy="128016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8"/>
          <p:cNvSpPr txBox="1"/>
          <p:nvPr/>
        </p:nvSpPr>
        <p:spPr>
          <a:xfrm>
            <a:off x="960120" y="3749040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8EEF5"/>
                </a:solidFill>
                <a:latin typeface="Calibri"/>
                <a:ea typeface="Calibri"/>
                <a:cs typeface="Calibri"/>
                <a:sym typeface="Calibri"/>
              </a:rPr>
              <a:t>Em escala de Petabytes, o custo é recorrente e substancial — a arquitetura de armazenamento (camadas) é decisão de negócio, não só técnica.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/>
          <p:nvPr/>
        </p:nvSpPr>
        <p:spPr>
          <a:xfrm>
            <a:off x="658368" y="4764024"/>
            <a:ext cx="128016" cy="128016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8"/>
          <p:cNvSpPr txBox="1"/>
          <p:nvPr/>
        </p:nvSpPr>
        <p:spPr>
          <a:xfrm>
            <a:off x="960120" y="4709160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8EEF5"/>
                </a:solidFill>
                <a:latin typeface="Calibri"/>
                <a:ea typeface="Calibri"/>
                <a:cs typeface="Calibri"/>
                <a:sym typeface="Calibri"/>
              </a:rPr>
              <a:t>Profissionais de Banco de Dados precisam dominar tanto os serviços quanto seu modelo de precificação.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9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Post-Mortem — Uso de IA Generativa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9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9"/>
          <p:cNvSpPr txBox="1"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Assistente utilizado: Claude (Anthropic)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>
            <a:off x="548640" y="1965960"/>
            <a:ext cx="3611880" cy="3931920"/>
          </a:xfrm>
          <a:prstGeom prst="roundRect">
            <a:avLst>
              <a:gd fmla="val 2025" name="adj"/>
            </a:avLst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9"/>
          <p:cNvSpPr/>
          <p:nvPr/>
        </p:nvSpPr>
        <p:spPr>
          <a:xfrm>
            <a:off x="548640" y="1965960"/>
            <a:ext cx="3611880" cy="914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9"/>
          <p:cNvSpPr txBox="1"/>
          <p:nvPr/>
        </p:nvSpPr>
        <p:spPr>
          <a:xfrm>
            <a:off x="777240" y="21945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Log de prompts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9"/>
          <p:cNvSpPr txBox="1"/>
          <p:nvPr/>
        </p:nvSpPr>
        <p:spPr>
          <a:xfrm>
            <a:off x="777240" y="2697480"/>
            <a:ext cx="32004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Registro cronológico dos prompts-chave usados: envio do enunciado, definição do provedor (AWS), pesquisa de preços atualizados e geração do relatório/slides.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9"/>
          <p:cNvSpPr/>
          <p:nvPr/>
        </p:nvSpPr>
        <p:spPr>
          <a:xfrm>
            <a:off x="4389120" y="1965960"/>
            <a:ext cx="3611880" cy="3931920"/>
          </a:xfrm>
          <a:prstGeom prst="roundRect">
            <a:avLst>
              <a:gd fmla="val 2025" name="adj"/>
            </a:avLst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9"/>
          <p:cNvSpPr/>
          <p:nvPr/>
        </p:nvSpPr>
        <p:spPr>
          <a:xfrm>
            <a:off x="4389120" y="1965960"/>
            <a:ext cx="3611880" cy="914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9"/>
          <p:cNvSpPr txBox="1"/>
          <p:nvPr/>
        </p:nvSpPr>
        <p:spPr>
          <a:xfrm>
            <a:off x="4617720" y="21945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Autoria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9"/>
          <p:cNvSpPr txBox="1"/>
          <p:nvPr/>
        </p:nvSpPr>
        <p:spPr>
          <a:xfrm>
            <a:off x="4617720" y="2697480"/>
            <a:ext cx="32004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Cada integrante documentou o que fez, quais decisões tomou e por quê — detalhado na Seção 10.2 do PDF.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9"/>
          <p:cNvSpPr/>
          <p:nvPr/>
        </p:nvSpPr>
        <p:spPr>
          <a:xfrm>
            <a:off x="8229600" y="1965960"/>
            <a:ext cx="3611880" cy="3931920"/>
          </a:xfrm>
          <a:prstGeom prst="roundRect">
            <a:avLst>
              <a:gd fmla="val 2025" name="adj"/>
            </a:avLst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9"/>
          <p:cNvSpPr/>
          <p:nvPr/>
        </p:nvSpPr>
        <p:spPr>
          <a:xfrm>
            <a:off x="8229600" y="1965960"/>
            <a:ext cx="361188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9"/>
          <p:cNvSpPr txBox="1"/>
          <p:nvPr/>
        </p:nvSpPr>
        <p:spPr>
          <a:xfrm>
            <a:off x="8458200" y="21945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Erros corrigidos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9"/>
          <p:cNvSpPr txBox="1"/>
          <p:nvPr/>
        </p:nvSpPr>
        <p:spPr>
          <a:xfrm>
            <a:off x="8458200" y="2697480"/>
            <a:ext cx="32004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Preços de S3 verificados via pesquisa web (não só memória do modelo); conversão PB→GB explicitada; valores marcados como preço de lista, a reconferir no AWS Pricing Calculator.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Storages — AWS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0"/>
          <p:cNvSpPr/>
          <p:nvPr/>
        </p:nvSpPr>
        <p:spPr>
          <a:xfrm>
            <a:off x="914400" y="5120640"/>
            <a:ext cx="2011680" cy="2011680"/>
          </a:xfrm>
          <a:prstGeom prst="ellipse">
            <a:avLst/>
          </a:prstGeom>
          <a:solidFill>
            <a:srgbClr val="2A3A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0"/>
          <p:cNvSpPr/>
          <p:nvPr/>
        </p:nvSpPr>
        <p:spPr>
          <a:xfrm>
            <a:off x="9601200" y="457200"/>
            <a:ext cx="2560320" cy="2560320"/>
          </a:xfrm>
          <a:prstGeom prst="ellipse">
            <a:avLst/>
          </a:prstGeom>
          <a:solidFill>
            <a:srgbClr val="2A3A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0"/>
          <p:cNvSpPr txBox="1"/>
          <p:nvPr/>
        </p:nvSpPr>
        <p:spPr>
          <a:xfrm>
            <a:off x="640080" y="2743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Obrigado!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0"/>
          <p:cNvSpPr txBox="1"/>
          <p:nvPr/>
        </p:nvSpPr>
        <p:spPr>
          <a:xfrm>
            <a:off x="640080" y="365760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Perguntas e debate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0"/>
          <p:cNvSpPr txBox="1"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[Grupo 3 / Grupo 7]  ·  Cloud Computing &amp; Cloud Storages — AWS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